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Masters/notesMaster10.xml" ContentType="application/vnd.openxmlformats-officedocument.presentationml.notesMaster+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10"/>
  </p:normalViewPr>
  <p:slideViewPr>
    <p:cSldViewPr snapToGrid="0" snapToObjects="1">
      <p:cViewPr varScale="1">
        <p:scale>
          <a:sx n="210" d="100"/>
          <a:sy n="210" d="100"/>
        </p:scale>
        <p:origin x="35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9918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notesStyle" Target="../notesMasters/notesMaster10.xm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je vais vous presenter notre projet EHPAD Monitor : detection et prediction de malaise en EHPAD. Le projet simule un etablissement avec 25 residents equipes de capteurs, pour detecter en temps reel les chutes, malaises et anomalies. Notre systeme va plus loin que la simple detection : il cherche a anticiper une degradation, prioriser les interventions et fournir une interface exploitable par les soignants.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En EHPAD, le probleme principal est que les soignants doivent surveiller beaucoup de residents en meme temps. Un malaise peut passer inapercu plusieurs minutes. Notre reponse est un systeme de surveillance intelligent base sur trois briques : IoT pour capter, temps reel pour transmettre, IA/ML pour prioriser et predire.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chaine technique est : simulateur EHPAD, MQTT, backend FastAPI, Redis et InfluxDB, dashboard, soignant et famille. Le pipeline A2A enchaine 7 agents specialises : contexte profil, hemodynamique, antecedents CAT, comportement 30-60min, prediction ML, historique 30j, synthese finale. KB clinique : 15 scenarios HAS/RCP.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Python FastAPI pour le backend, Mosquitto MQTT pour le flux IoT, Redis pour les etats live, InfluxDB pour l'historique, Docker Compose pour lancer toute la stack, scikit-learn pour la prediction ML, Ollama LLM local pour les syntheses cliniques.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simulateur represente 25 residents avec des profils differents. Chaque resident peut generer frequence cardiaque, SpO2, pression arterielle, temperature, mouvement, chute, activite, presence ou absence. On ajoute aussi des capteurs ambiants. Une inactivite seule ne suffit pas : c'est la combinaison de signaux qui compte.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MQTT est adapte aux architectures IoT : leger, publication/abonnement, messages frequents. Le calcul du sujet : 20 residents x 6 constantes x 1 mesure/seconde = 120 messages/seconde. Notre projet teste cette cible avec un benchmark reel donne sur la slide suivante.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LLM Router decide quelle tache appeler. Llama 3.2 3B pour les resumes rapides en 2s, Qwen 2.5 7B pour les hypotheses cliniques JSON en 8s, Meditron 7B pour le rapport complet en 45s. Ce routage permet d'optimiser vitesse et qualite selon le contexte.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systeme d'alertes est gradue en 5 niveaux. Niveau 1 information, niveau 2 attention, niveau 3 alerte avec SpO2 basse ou risque ML eleve, niveau 4 urgence avec chute ou constantes critiques, niveau 5 danger vital avec alerte grave non acquittee. Le systeme gere aussi l'escalade automatique.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la demo : lancer la stack Docker, ouvrir le dashboard, montrer les 25 residents, declencher un scenario hypoxie ou chute, montrer l'alerte qui apparait, puis l'escalade ou l'acquittement, puis la prediction et la transmission. L'objectif est de prouver que la chaine complete fonctionne.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projet integre pipeline A2A complet avec KB HAS/RCP, LLM routes par tache, historique 30j avec tendances, espace famille RGPD, securite multicouche MQTT TLS ACL, et rapports DailyReportService avec export quotidien par resident.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Les limites honnetes : pas de vrais capteurs IoT, pas de donnees cliniques reelles, securite partielle SHA-256 a migrer vers bcrypt, stack mono-machine sans Kubernetes, modeles ML non certifies dispositif medical, dashboard web-only sans app mobile native.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aller en production : donnees reelles, validation clinique, cybersecurite renforcee TLS partout, authentification e-CPS, supervision Prometheus Grafana, scaling horizontal du backend, conformite reglementaire complete MDR EU 2017/745.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Court terme 0-3 mois : bcrypt mots de passe, MQTT TLS en prod, APIRouter decoupage main.py, tests CI/CD. Moyen terme 3-12 mois : capteurs BLE Zigbee reels, fine-tuning LLM. Long terme 12 mois+ : certification CE FDA, integration DMP HL7 FHIR, Kubernetes haute disponibilite.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Notre solution ne remplace pas la decision humaine. Elle vise a aider les soignants a voir plus tot, prioriser mieux et intervenir plus vite. Ce projet est un prototype avance de vigilance EHPAD qui demontre une chaine technique complete, temps reel et explicable.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3.png"/><Relationship Id="rId4" Type="http://schemas.openxmlformats.org/officeDocument/2006/relationships/image" Target="../media/image9.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657600"/>
            <a:ext cx="9144000" cy="822960"/>
          </a:xfrm>
          <a:prstGeom prst="rect">
            <a:avLst/>
          </a:prstGeom>
        </p:spPr>
      </p:pic>
      <p:pic>
        <p:nvPicPr>
          <p:cNvPr id="3" name="Image 1" descr="preencoded.png"/>
          <p:cNvPicPr>
            <a:picLocks noChangeAspect="1"/>
          </p:cNvPicPr>
          <p:nvPr/>
        </p:nvPicPr>
        <p:blipFill>
          <a:blip r:embed="rId4"/>
          <a:stretch>
            <a:fillRect/>
          </a:stretch>
        </p:blipFill>
        <p:spPr>
          <a:xfrm>
            <a:off x="0" y="4114800"/>
            <a:ext cx="9144000" cy="640080"/>
          </a:xfrm>
          <a:prstGeom prst="rect">
            <a:avLst/>
          </a:prstGeom>
        </p:spPr>
      </p:pic>
      <p:sp>
        <p:nvSpPr>
          <p:cNvPr id="4" name="Shape 0"/>
          <p:cNvSpPr/>
          <p:nvPr/>
        </p:nvSpPr>
        <p:spPr>
          <a:xfrm>
            <a:off x="365760" y="256032"/>
            <a:ext cx="2011680" cy="256032"/>
          </a:xfrm>
          <a:prstGeom prst="rect">
            <a:avLst/>
          </a:prstGeom>
          <a:solidFill>
            <a:srgbClr val="028090"/>
          </a:solidFill>
          <a:ln w="12700">
            <a:solidFill>
              <a:srgbClr val="028090"/>
            </a:solidFill>
            <a:prstDash val="solid"/>
          </a:ln>
        </p:spPr>
        <p:txBody>
          <a:bodyPr/>
          <a:lstStyle/>
          <a:p>
            <a:endParaRPr lang="fr-FR"/>
          </a:p>
        </p:txBody>
      </p:sp>
      <p:sp>
        <p:nvSpPr>
          <p:cNvPr id="5" name="Text 1"/>
          <p:cNvSpPr/>
          <p:nvPr/>
        </p:nvSpPr>
        <p:spPr>
          <a:xfrm>
            <a:off x="365760" y="256032"/>
            <a:ext cx="201168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MBA1 · EPITECH · AVRIL 2026</a:t>
            </a:r>
            <a:endParaRPr lang="en-US" sz="900" dirty="0"/>
          </a:p>
        </p:txBody>
      </p:sp>
      <p:sp>
        <p:nvSpPr>
          <p:cNvPr id="6" name="Text 2"/>
          <p:cNvSpPr/>
          <p:nvPr/>
        </p:nvSpPr>
        <p:spPr>
          <a:xfrm>
            <a:off x="548640" y="777240"/>
            <a:ext cx="8046720" cy="82296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EHPAD Monitor</a:t>
            </a:r>
            <a:endParaRPr lang="en-US" sz="4400" dirty="0"/>
          </a:p>
        </p:txBody>
      </p:sp>
      <p:sp>
        <p:nvSpPr>
          <p:cNvPr id="7" name="Text 3"/>
          <p:cNvSpPr/>
          <p:nvPr/>
        </p:nvSpPr>
        <p:spPr>
          <a:xfrm>
            <a:off x="548640" y="1554480"/>
            <a:ext cx="8046720" cy="502920"/>
          </a:xfrm>
          <a:prstGeom prst="rect">
            <a:avLst/>
          </a:prstGeom>
          <a:noFill/>
          <a:ln/>
        </p:spPr>
        <p:txBody>
          <a:bodyPr wrap="square" rtlCol="0" anchor="ctr"/>
          <a:lstStyle/>
          <a:p>
            <a:pPr marL="0" indent="0" algn="ctr">
              <a:buNone/>
            </a:pPr>
            <a:r>
              <a:rPr lang="en-US" sz="2200" i="1" dirty="0">
                <a:solidFill>
                  <a:srgbClr val="00A896"/>
                </a:solidFill>
                <a:latin typeface="Calibri" pitchFamily="34" charset="0"/>
                <a:ea typeface="Calibri" pitchFamily="34" charset="-122"/>
                <a:cs typeface="Calibri" pitchFamily="34" charset="-120"/>
              </a:rPr>
              <a:t>Solution IA &amp; IoT de Surveillance Médicale</a:t>
            </a:r>
            <a:endParaRPr lang="en-US" sz="2200" dirty="0"/>
          </a:p>
        </p:txBody>
      </p:sp>
      <p:sp>
        <p:nvSpPr>
          <p:cNvPr id="8" name="Text 4"/>
          <p:cNvSpPr/>
          <p:nvPr/>
        </p:nvSpPr>
        <p:spPr>
          <a:xfrm>
            <a:off x="1097280" y="2194560"/>
            <a:ext cx="6949440" cy="320040"/>
          </a:xfrm>
          <a:prstGeom prst="rect">
            <a:avLst/>
          </a:prstGeom>
          <a:noFill/>
          <a:ln/>
        </p:spPr>
        <p:txBody>
          <a:bodyPr wrap="square" rtlCol="0" anchor="ctr"/>
          <a:lstStyle/>
          <a:p>
            <a:pPr marL="0" indent="0" algn="ctr">
              <a:buNone/>
            </a:pPr>
            <a:r>
              <a:rPr lang="en-US" sz="1300" dirty="0">
                <a:solidFill>
                  <a:srgbClr val="A8CADC"/>
                </a:solidFill>
                <a:latin typeface="Calibri" pitchFamily="34" charset="0"/>
                <a:ea typeface="Calibri" pitchFamily="34" charset="-122"/>
                <a:cs typeface="Calibri" pitchFamily="34" charset="-120"/>
              </a:rPr>
              <a:t>Surveillance temps réel · 25 résidents · ML 30-60 min · LLM local optionnel · Pipeline IoT bout-en-bout</a:t>
            </a:r>
            <a:endParaRPr lang="en-US" sz="1300" dirty="0"/>
          </a:p>
        </p:txBody>
      </p:sp>
      <p:sp>
        <p:nvSpPr>
          <p:cNvPr id="9" name="Shape 5"/>
          <p:cNvSpPr/>
          <p:nvPr/>
        </p:nvSpPr>
        <p:spPr>
          <a:xfrm>
            <a:off x="1371600" y="2743200"/>
            <a:ext cx="1828800" cy="777240"/>
          </a:xfrm>
          <a:prstGeom prst="rect">
            <a:avLst/>
          </a:prstGeom>
          <a:solidFill>
            <a:srgbClr val="FFFFFF">
              <a:alpha val="12000"/>
            </a:srgbClr>
          </a:solidFill>
          <a:ln w="12700">
            <a:solidFill>
              <a:srgbClr val="028090"/>
            </a:solidFill>
            <a:prstDash val="solid"/>
          </a:ln>
        </p:spPr>
        <p:txBody>
          <a:bodyPr/>
          <a:lstStyle/>
          <a:p>
            <a:endParaRPr lang="fr-FR"/>
          </a:p>
        </p:txBody>
      </p:sp>
      <p:sp>
        <p:nvSpPr>
          <p:cNvPr id="10" name="Text 6"/>
          <p:cNvSpPr/>
          <p:nvPr/>
        </p:nvSpPr>
        <p:spPr>
          <a:xfrm>
            <a:off x="1371600" y="2761488"/>
            <a:ext cx="1828800" cy="402336"/>
          </a:xfrm>
          <a:prstGeom prst="rect">
            <a:avLst/>
          </a:prstGeom>
          <a:noFill/>
          <a:ln/>
        </p:spPr>
        <p:txBody>
          <a:bodyPr wrap="square" lIns="0" tIns="0" rIns="0" bIns="0" rtlCol="0" anchor="ctr"/>
          <a:lstStyle/>
          <a:p>
            <a:pPr marL="0" indent="0" algn="ctr">
              <a:buNone/>
            </a:pPr>
            <a:r>
              <a:rPr lang="en-US" sz="2800" b="1" dirty="0">
                <a:solidFill>
                  <a:srgbClr val="00A896"/>
                </a:solidFill>
                <a:latin typeface="Calibri" pitchFamily="34" charset="0"/>
                <a:ea typeface="Calibri" pitchFamily="34" charset="-122"/>
                <a:cs typeface="Calibri" pitchFamily="34" charset="-120"/>
              </a:rPr>
              <a:t>25</a:t>
            </a:r>
            <a:endParaRPr lang="en-US" sz="2800" dirty="0"/>
          </a:p>
        </p:txBody>
      </p:sp>
      <p:sp>
        <p:nvSpPr>
          <p:cNvPr id="11" name="Text 7"/>
          <p:cNvSpPr/>
          <p:nvPr/>
        </p:nvSpPr>
        <p:spPr>
          <a:xfrm>
            <a:off x="1371600" y="3163824"/>
            <a:ext cx="1828800" cy="329184"/>
          </a:xfrm>
          <a:prstGeom prst="rect">
            <a:avLst/>
          </a:prstGeom>
          <a:noFill/>
          <a:ln/>
        </p:spPr>
        <p:txBody>
          <a:bodyPr wrap="square" lIns="0" tIns="0" rIns="0" bIns="0" rtlCol="0" anchor="ctr"/>
          <a:lstStyle/>
          <a:p>
            <a:pPr marL="0" indent="0" algn="ctr">
              <a:buNone/>
            </a:pPr>
            <a:r>
              <a:rPr lang="en-US" sz="900" dirty="0">
                <a:solidFill>
                  <a:srgbClr val="A8CADC"/>
                </a:solidFill>
                <a:latin typeface="Calibri" pitchFamily="34" charset="0"/>
                <a:ea typeface="Calibri" pitchFamily="34" charset="-122"/>
                <a:cs typeface="Calibri" pitchFamily="34" charset="-120"/>
              </a:rPr>
              <a:t>Résidents</a:t>
            </a:r>
            <a:endParaRPr lang="en-US" sz="900" dirty="0"/>
          </a:p>
          <a:p>
            <a:pPr marL="0" indent="0" algn="ctr">
              <a:buNone/>
            </a:pPr>
            <a:r>
              <a:rPr lang="en-US" sz="900" dirty="0">
                <a:solidFill>
                  <a:srgbClr val="A8CADC"/>
                </a:solidFill>
                <a:latin typeface="Calibri" pitchFamily="34" charset="0"/>
                <a:ea typeface="Calibri" pitchFamily="34" charset="-122"/>
                <a:cs typeface="Calibri" pitchFamily="34" charset="-120"/>
              </a:rPr>
              <a:t>monitorés</a:t>
            </a:r>
            <a:endParaRPr lang="en-US" sz="900" dirty="0"/>
          </a:p>
        </p:txBody>
      </p:sp>
      <p:sp>
        <p:nvSpPr>
          <p:cNvPr id="12" name="Shape 8"/>
          <p:cNvSpPr/>
          <p:nvPr/>
        </p:nvSpPr>
        <p:spPr>
          <a:xfrm>
            <a:off x="3657600" y="2743200"/>
            <a:ext cx="1828800" cy="777240"/>
          </a:xfrm>
          <a:prstGeom prst="rect">
            <a:avLst/>
          </a:prstGeom>
          <a:solidFill>
            <a:srgbClr val="FFFFFF">
              <a:alpha val="12000"/>
            </a:srgbClr>
          </a:solidFill>
          <a:ln w="12700">
            <a:solidFill>
              <a:srgbClr val="028090"/>
            </a:solidFill>
            <a:prstDash val="solid"/>
          </a:ln>
        </p:spPr>
        <p:txBody>
          <a:bodyPr/>
          <a:lstStyle/>
          <a:p>
            <a:endParaRPr lang="fr-FR"/>
          </a:p>
        </p:txBody>
      </p:sp>
      <p:sp>
        <p:nvSpPr>
          <p:cNvPr id="13" name="Text 9"/>
          <p:cNvSpPr/>
          <p:nvPr/>
        </p:nvSpPr>
        <p:spPr>
          <a:xfrm>
            <a:off x="3657600" y="2761488"/>
            <a:ext cx="1828800" cy="402336"/>
          </a:xfrm>
          <a:prstGeom prst="rect">
            <a:avLst/>
          </a:prstGeom>
          <a:noFill/>
          <a:ln/>
        </p:spPr>
        <p:txBody>
          <a:bodyPr wrap="square" lIns="0" tIns="0" rIns="0" bIns="0" rtlCol="0" anchor="ctr"/>
          <a:lstStyle/>
          <a:p>
            <a:pPr marL="0" indent="0" algn="ctr">
              <a:buNone/>
            </a:pPr>
            <a:r>
              <a:rPr lang="en-US" sz="2800" b="1" dirty="0">
                <a:solidFill>
                  <a:srgbClr val="00A896"/>
                </a:solidFill>
                <a:latin typeface="Calibri" pitchFamily="34" charset="0"/>
                <a:ea typeface="Calibri" pitchFamily="34" charset="-122"/>
                <a:cs typeface="Calibri" pitchFamily="34" charset="-120"/>
              </a:rPr>
              <a:t>7</a:t>
            </a:r>
            <a:endParaRPr lang="en-US" sz="2800" dirty="0"/>
          </a:p>
        </p:txBody>
      </p:sp>
      <p:sp>
        <p:nvSpPr>
          <p:cNvPr id="14" name="Text 10"/>
          <p:cNvSpPr/>
          <p:nvPr/>
        </p:nvSpPr>
        <p:spPr>
          <a:xfrm>
            <a:off x="3657600" y="3163824"/>
            <a:ext cx="1828800" cy="329184"/>
          </a:xfrm>
          <a:prstGeom prst="rect">
            <a:avLst/>
          </a:prstGeom>
          <a:noFill/>
          <a:ln/>
        </p:spPr>
        <p:txBody>
          <a:bodyPr wrap="square" lIns="0" tIns="0" rIns="0" bIns="0" rtlCol="0" anchor="ctr"/>
          <a:lstStyle/>
          <a:p>
            <a:pPr marL="0" indent="0" algn="ctr">
              <a:buNone/>
            </a:pPr>
            <a:r>
              <a:rPr lang="en-US" sz="900" dirty="0">
                <a:solidFill>
                  <a:srgbClr val="A8CADC"/>
                </a:solidFill>
                <a:latin typeface="Calibri" pitchFamily="34" charset="0"/>
                <a:ea typeface="Calibri" pitchFamily="34" charset="-122"/>
                <a:cs typeface="Calibri" pitchFamily="34" charset="-120"/>
              </a:rPr>
              <a:t>Agents A2A</a:t>
            </a:r>
            <a:endParaRPr lang="en-US" sz="900" dirty="0"/>
          </a:p>
          <a:p>
            <a:pPr marL="0" indent="0" algn="ctr">
              <a:buNone/>
            </a:pPr>
            <a:r>
              <a:rPr lang="en-US" sz="900" dirty="0">
                <a:solidFill>
                  <a:srgbClr val="A8CADC"/>
                </a:solidFill>
                <a:latin typeface="Calibri" pitchFamily="34" charset="0"/>
                <a:ea typeface="Calibri" pitchFamily="34" charset="-122"/>
                <a:cs typeface="Calibri" pitchFamily="34" charset="-120"/>
              </a:rPr>
              <a:t>spécialisés</a:t>
            </a:r>
            <a:endParaRPr lang="en-US" sz="900" dirty="0"/>
          </a:p>
        </p:txBody>
      </p:sp>
      <p:sp>
        <p:nvSpPr>
          <p:cNvPr id="15" name="Shape 11"/>
          <p:cNvSpPr/>
          <p:nvPr/>
        </p:nvSpPr>
        <p:spPr>
          <a:xfrm>
            <a:off x="5943600" y="2743200"/>
            <a:ext cx="1828800" cy="777240"/>
          </a:xfrm>
          <a:prstGeom prst="rect">
            <a:avLst/>
          </a:prstGeom>
          <a:solidFill>
            <a:srgbClr val="FFFFFF">
              <a:alpha val="12000"/>
            </a:srgbClr>
          </a:solidFill>
          <a:ln w="12700">
            <a:solidFill>
              <a:srgbClr val="028090"/>
            </a:solidFill>
            <a:prstDash val="solid"/>
          </a:ln>
        </p:spPr>
        <p:txBody>
          <a:bodyPr/>
          <a:lstStyle/>
          <a:p>
            <a:endParaRPr lang="fr-FR"/>
          </a:p>
        </p:txBody>
      </p:sp>
      <p:sp>
        <p:nvSpPr>
          <p:cNvPr id="16" name="Text 12"/>
          <p:cNvSpPr/>
          <p:nvPr/>
        </p:nvSpPr>
        <p:spPr>
          <a:xfrm>
            <a:off x="5943600" y="2761488"/>
            <a:ext cx="1828800" cy="402336"/>
          </a:xfrm>
          <a:prstGeom prst="rect">
            <a:avLst/>
          </a:prstGeom>
          <a:noFill/>
          <a:ln/>
        </p:spPr>
        <p:txBody>
          <a:bodyPr wrap="square" lIns="0" tIns="0" rIns="0" bIns="0" rtlCol="0" anchor="ctr"/>
          <a:lstStyle/>
          <a:p>
            <a:pPr marL="0" indent="0" algn="ctr">
              <a:buNone/>
            </a:pPr>
            <a:r>
              <a:rPr lang="en-US" sz="2800" b="1" dirty="0">
                <a:solidFill>
                  <a:srgbClr val="00A896"/>
                </a:solidFill>
                <a:latin typeface="Calibri" pitchFamily="34" charset="0"/>
                <a:ea typeface="Calibri" pitchFamily="34" charset="-122"/>
                <a:cs typeface="Calibri" pitchFamily="34" charset="-120"/>
              </a:rPr>
              <a:t>3</a:t>
            </a:r>
            <a:endParaRPr lang="en-US" sz="2800" dirty="0"/>
          </a:p>
        </p:txBody>
      </p:sp>
      <p:sp>
        <p:nvSpPr>
          <p:cNvPr id="17" name="Text 13"/>
          <p:cNvSpPr/>
          <p:nvPr/>
        </p:nvSpPr>
        <p:spPr>
          <a:xfrm>
            <a:off x="5943600" y="3163824"/>
            <a:ext cx="1828800" cy="329184"/>
          </a:xfrm>
          <a:prstGeom prst="rect">
            <a:avLst/>
          </a:prstGeom>
          <a:noFill/>
          <a:ln/>
        </p:spPr>
        <p:txBody>
          <a:bodyPr wrap="square" lIns="0" tIns="0" rIns="0" bIns="0" rtlCol="0" anchor="ctr"/>
          <a:lstStyle/>
          <a:p>
            <a:pPr marL="0" indent="0" algn="ctr">
              <a:buNone/>
            </a:pPr>
            <a:r>
              <a:rPr lang="en-US" sz="900" dirty="0">
                <a:solidFill>
                  <a:srgbClr val="A8CADC"/>
                </a:solidFill>
                <a:latin typeface="Calibri" pitchFamily="34" charset="0"/>
                <a:ea typeface="Calibri" pitchFamily="34" charset="-122"/>
                <a:cs typeface="Calibri" pitchFamily="34" charset="-120"/>
              </a:rPr>
              <a:t>LLM local</a:t>
            </a:r>
            <a:endParaRPr lang="en-US" sz="900" dirty="0"/>
          </a:p>
          <a:p>
            <a:pPr marL="0" indent="0" algn="ctr">
              <a:buNone/>
            </a:pPr>
            <a:r>
              <a:rPr lang="en-US" sz="900" dirty="0">
                <a:solidFill>
                  <a:srgbClr val="A8CADC"/>
                </a:solidFill>
                <a:latin typeface="Calibri" pitchFamily="34" charset="0"/>
                <a:ea typeface="Calibri" pitchFamily="34" charset="-122"/>
                <a:cs typeface="Calibri" pitchFamily="34" charset="-120"/>
              </a:rPr>
              <a:t>optionnel</a:t>
            </a:r>
            <a:endParaRPr lang="en-US" sz="900" dirty="0"/>
          </a:p>
        </p:txBody>
      </p:sp>
      <p:sp>
        <p:nvSpPr>
          <p:cNvPr id="18" name="Shape 14"/>
          <p:cNvSpPr/>
          <p:nvPr/>
        </p:nvSpPr>
        <p:spPr>
          <a:xfrm>
            <a:off x="6217920" y="4754880"/>
            <a:ext cx="2651760" cy="228600"/>
          </a:xfrm>
          <a:prstGeom prst="rect">
            <a:avLst/>
          </a:prstGeom>
          <a:solidFill>
            <a:srgbClr val="1B3A5C"/>
          </a:solidFill>
          <a:ln w="6350">
            <a:solidFill>
              <a:srgbClr val="028090"/>
            </a:solidFill>
            <a:prstDash val="solid"/>
          </a:ln>
        </p:spPr>
        <p:txBody>
          <a:bodyPr/>
          <a:lstStyle/>
          <a:p>
            <a:endParaRPr lang="fr-FR"/>
          </a:p>
        </p:txBody>
      </p:sp>
      <p:sp>
        <p:nvSpPr>
          <p:cNvPr id="19" name="Text 15"/>
          <p:cNvSpPr/>
          <p:nvPr/>
        </p:nvSpPr>
        <p:spPr>
          <a:xfrm>
            <a:off x="6217920" y="4754880"/>
            <a:ext cx="2651760" cy="22860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Le Bret Yves · Le Mignon Aude · Addichane Sofia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Contexte &amp; Problématique</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201168" y="594360"/>
            <a:ext cx="2834640" cy="434340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6"/>
          <p:cNvSpPr/>
          <p:nvPr/>
        </p:nvSpPr>
        <p:spPr>
          <a:xfrm>
            <a:off x="201168" y="594360"/>
            <a:ext cx="64008" cy="4343400"/>
          </a:xfrm>
          <a:prstGeom prst="rect">
            <a:avLst/>
          </a:prstGeom>
          <a:solidFill>
            <a:srgbClr val="E07B39"/>
          </a:solidFill>
          <a:ln w="12700">
            <a:solidFill>
              <a:srgbClr val="E07B39"/>
            </a:solidFill>
            <a:prstDash val="solid"/>
          </a:ln>
        </p:spPr>
        <p:txBody>
          <a:bodyPr/>
          <a:lstStyle/>
          <a:p>
            <a:endParaRPr lang="fr-FR"/>
          </a:p>
        </p:txBody>
      </p:sp>
      <p:sp>
        <p:nvSpPr>
          <p:cNvPr id="10" name="Shape 7"/>
          <p:cNvSpPr/>
          <p:nvPr/>
        </p:nvSpPr>
        <p:spPr>
          <a:xfrm>
            <a:off x="365760" y="749808"/>
            <a:ext cx="1097280" cy="201168"/>
          </a:xfrm>
          <a:prstGeom prst="rect">
            <a:avLst/>
          </a:prstGeom>
          <a:solidFill>
            <a:srgbClr val="E07B39"/>
          </a:solidFill>
          <a:ln w="12700">
            <a:solidFill>
              <a:srgbClr val="E07B39"/>
            </a:solidFill>
            <a:prstDash val="solid"/>
          </a:ln>
        </p:spPr>
        <p:txBody>
          <a:bodyPr/>
          <a:lstStyle/>
          <a:p>
            <a:endParaRPr lang="fr-FR"/>
          </a:p>
        </p:txBody>
      </p:sp>
      <p:sp>
        <p:nvSpPr>
          <p:cNvPr id="11" name="Text 8"/>
          <p:cNvSpPr/>
          <p:nvPr/>
        </p:nvSpPr>
        <p:spPr>
          <a:xfrm>
            <a:off x="365760" y="749808"/>
            <a:ext cx="10972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OBSERVATION</a:t>
            </a:r>
            <a:endParaRPr lang="en-US" sz="750" dirty="0"/>
          </a:p>
        </p:txBody>
      </p:sp>
      <p:pic>
        <p:nvPicPr>
          <p:cNvPr id="12" name="Image 1" descr="preencoded.png"/>
          <p:cNvPicPr>
            <a:picLocks noChangeAspect="1"/>
          </p:cNvPicPr>
          <p:nvPr/>
        </p:nvPicPr>
        <p:blipFill>
          <a:blip r:embed="rId4"/>
          <a:stretch>
            <a:fillRect/>
          </a:stretch>
        </p:blipFill>
        <p:spPr>
          <a:xfrm>
            <a:off x="384048" y="1078992"/>
            <a:ext cx="475488" cy="475488"/>
          </a:xfrm>
          <a:prstGeom prst="rect">
            <a:avLst/>
          </a:prstGeom>
        </p:spPr>
      </p:pic>
      <p:sp>
        <p:nvSpPr>
          <p:cNvPr id="13" name="Text 9"/>
          <p:cNvSpPr/>
          <p:nvPr/>
        </p:nvSpPr>
        <p:spPr>
          <a:xfrm>
            <a:off x="347472" y="1664208"/>
            <a:ext cx="2560320" cy="402336"/>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Sortie précoce &amp; EHPAD</a:t>
            </a:r>
            <a:endParaRPr lang="en-US" sz="1300" dirty="0"/>
          </a:p>
        </p:txBody>
      </p:sp>
      <p:sp>
        <p:nvSpPr>
          <p:cNvPr id="14" name="Text 10"/>
          <p:cNvSpPr/>
          <p:nvPr/>
        </p:nvSpPr>
        <p:spPr>
          <a:xfrm>
            <a:off x="347472" y="2176272"/>
            <a:ext cx="2560320" cy="16916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Les résidents EHPAD cumulent fragilité, polypathologies et risque de décompensation silencieuse. Les soignants ne peuvent pas surveiller 25 résidents en continu.</a:t>
            </a:r>
            <a:endParaRPr lang="en-US" sz="1100" dirty="0"/>
          </a:p>
        </p:txBody>
      </p:sp>
      <p:pic>
        <p:nvPicPr>
          <p:cNvPr id="15" name="Image 2" descr="preencoded.png"/>
          <p:cNvPicPr>
            <a:picLocks noChangeAspect="1"/>
          </p:cNvPicPr>
          <p:nvPr/>
        </p:nvPicPr>
        <p:blipFill>
          <a:blip r:embed="rId3">
            <a:alphaModFix amt="60000"/>
          </a:blip>
          <a:stretch>
            <a:fillRect/>
          </a:stretch>
        </p:blipFill>
        <p:spPr>
          <a:xfrm>
            <a:off x="292608" y="4626864"/>
            <a:ext cx="2560320" cy="228600"/>
          </a:xfrm>
          <a:prstGeom prst="rect">
            <a:avLst/>
          </a:prstGeom>
        </p:spPr>
      </p:pic>
      <p:sp>
        <p:nvSpPr>
          <p:cNvPr id="16" name="Shape 11"/>
          <p:cNvSpPr/>
          <p:nvPr/>
        </p:nvSpPr>
        <p:spPr>
          <a:xfrm>
            <a:off x="3154680" y="594360"/>
            <a:ext cx="2834640" cy="434340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7" name="Shape 12"/>
          <p:cNvSpPr/>
          <p:nvPr/>
        </p:nvSpPr>
        <p:spPr>
          <a:xfrm>
            <a:off x="3154680" y="594360"/>
            <a:ext cx="64008" cy="4343400"/>
          </a:xfrm>
          <a:prstGeom prst="rect">
            <a:avLst/>
          </a:prstGeom>
          <a:solidFill>
            <a:srgbClr val="E24B4A"/>
          </a:solidFill>
          <a:ln w="12700">
            <a:solidFill>
              <a:srgbClr val="E24B4A"/>
            </a:solidFill>
            <a:prstDash val="solid"/>
          </a:ln>
        </p:spPr>
        <p:txBody>
          <a:bodyPr/>
          <a:lstStyle/>
          <a:p>
            <a:endParaRPr lang="fr-FR"/>
          </a:p>
        </p:txBody>
      </p:sp>
      <p:sp>
        <p:nvSpPr>
          <p:cNvPr id="18" name="Shape 13"/>
          <p:cNvSpPr/>
          <p:nvPr/>
        </p:nvSpPr>
        <p:spPr>
          <a:xfrm>
            <a:off x="3319272" y="749808"/>
            <a:ext cx="1097280" cy="201168"/>
          </a:xfrm>
          <a:prstGeom prst="rect">
            <a:avLst/>
          </a:prstGeom>
          <a:solidFill>
            <a:srgbClr val="E24B4A"/>
          </a:solidFill>
          <a:ln w="12700">
            <a:solidFill>
              <a:srgbClr val="E24B4A"/>
            </a:solidFill>
            <a:prstDash val="solid"/>
          </a:ln>
        </p:spPr>
        <p:txBody>
          <a:bodyPr/>
          <a:lstStyle/>
          <a:p>
            <a:endParaRPr lang="fr-FR"/>
          </a:p>
        </p:txBody>
      </p:sp>
      <p:sp>
        <p:nvSpPr>
          <p:cNvPr id="19" name="Text 14"/>
          <p:cNvSpPr/>
          <p:nvPr/>
        </p:nvSpPr>
        <p:spPr>
          <a:xfrm>
            <a:off x="3319272" y="749808"/>
            <a:ext cx="10972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PROBLÈME</a:t>
            </a:r>
            <a:endParaRPr lang="en-US" sz="750" dirty="0"/>
          </a:p>
        </p:txBody>
      </p:sp>
      <p:pic>
        <p:nvPicPr>
          <p:cNvPr id="20" name="Image 3" descr="preencoded.png"/>
          <p:cNvPicPr>
            <a:picLocks noChangeAspect="1"/>
          </p:cNvPicPr>
          <p:nvPr/>
        </p:nvPicPr>
        <p:blipFill>
          <a:blip r:embed="rId5"/>
          <a:stretch>
            <a:fillRect/>
          </a:stretch>
        </p:blipFill>
        <p:spPr>
          <a:xfrm>
            <a:off x="3337560" y="1078992"/>
            <a:ext cx="475488" cy="475488"/>
          </a:xfrm>
          <a:prstGeom prst="rect">
            <a:avLst/>
          </a:prstGeom>
        </p:spPr>
      </p:pic>
      <p:sp>
        <p:nvSpPr>
          <p:cNvPr id="21" name="Text 15"/>
          <p:cNvSpPr/>
          <p:nvPr/>
        </p:nvSpPr>
        <p:spPr>
          <a:xfrm>
            <a:off x="3300984" y="1664208"/>
            <a:ext cx="2560320" cy="402336"/>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Surveillance manuelle insuffisante</a:t>
            </a:r>
            <a:endParaRPr lang="en-US" sz="1300" dirty="0"/>
          </a:p>
        </p:txBody>
      </p:sp>
      <p:sp>
        <p:nvSpPr>
          <p:cNvPr id="22" name="Text 16"/>
          <p:cNvSpPr/>
          <p:nvPr/>
        </p:nvSpPr>
        <p:spPr>
          <a:xfrm>
            <a:off x="3300984" y="2176272"/>
            <a:ext cx="2560320" cy="16916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Les constantes ne sont prises que 1 à 3 fois par jour. Les dégradations lentes (SpO2, FC) passent inaperçues. Délai de réaction critique en cas de malaise.</a:t>
            </a:r>
            <a:endParaRPr lang="en-US" sz="1100" dirty="0"/>
          </a:p>
        </p:txBody>
      </p:sp>
      <p:pic>
        <p:nvPicPr>
          <p:cNvPr id="23" name="Image 4" descr="preencoded.png"/>
          <p:cNvPicPr>
            <a:picLocks noChangeAspect="1"/>
          </p:cNvPicPr>
          <p:nvPr/>
        </p:nvPicPr>
        <p:blipFill>
          <a:blip r:embed="rId3">
            <a:alphaModFix amt="60000"/>
          </a:blip>
          <a:stretch>
            <a:fillRect/>
          </a:stretch>
        </p:blipFill>
        <p:spPr>
          <a:xfrm>
            <a:off x="3246120" y="4626864"/>
            <a:ext cx="2560320" cy="228600"/>
          </a:xfrm>
          <a:prstGeom prst="rect">
            <a:avLst/>
          </a:prstGeom>
        </p:spPr>
      </p:pic>
      <p:sp>
        <p:nvSpPr>
          <p:cNvPr id="24" name="Shape 17"/>
          <p:cNvSpPr/>
          <p:nvPr/>
        </p:nvSpPr>
        <p:spPr>
          <a:xfrm>
            <a:off x="6108192" y="594360"/>
            <a:ext cx="2834640" cy="434340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5" name="Shape 18"/>
          <p:cNvSpPr/>
          <p:nvPr/>
        </p:nvSpPr>
        <p:spPr>
          <a:xfrm>
            <a:off x="6108192" y="594360"/>
            <a:ext cx="64008" cy="4343400"/>
          </a:xfrm>
          <a:prstGeom prst="rect">
            <a:avLst/>
          </a:prstGeom>
          <a:solidFill>
            <a:srgbClr val="028090"/>
          </a:solidFill>
          <a:ln w="12700">
            <a:solidFill>
              <a:srgbClr val="028090"/>
            </a:solidFill>
            <a:prstDash val="solid"/>
          </a:ln>
        </p:spPr>
        <p:txBody>
          <a:bodyPr/>
          <a:lstStyle/>
          <a:p>
            <a:endParaRPr lang="fr-FR"/>
          </a:p>
        </p:txBody>
      </p:sp>
      <p:sp>
        <p:nvSpPr>
          <p:cNvPr id="26" name="Shape 19"/>
          <p:cNvSpPr/>
          <p:nvPr/>
        </p:nvSpPr>
        <p:spPr>
          <a:xfrm>
            <a:off x="6272784" y="749808"/>
            <a:ext cx="1097280" cy="201168"/>
          </a:xfrm>
          <a:prstGeom prst="rect">
            <a:avLst/>
          </a:prstGeom>
          <a:solidFill>
            <a:srgbClr val="028090"/>
          </a:solidFill>
          <a:ln w="12700">
            <a:solidFill>
              <a:srgbClr val="028090"/>
            </a:solidFill>
            <a:prstDash val="solid"/>
          </a:ln>
        </p:spPr>
        <p:txBody>
          <a:bodyPr/>
          <a:lstStyle/>
          <a:p>
            <a:endParaRPr lang="fr-FR"/>
          </a:p>
        </p:txBody>
      </p:sp>
      <p:sp>
        <p:nvSpPr>
          <p:cNvPr id="27" name="Text 20"/>
          <p:cNvSpPr/>
          <p:nvPr/>
        </p:nvSpPr>
        <p:spPr>
          <a:xfrm>
            <a:off x="6272784" y="749808"/>
            <a:ext cx="109728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SOLUTION</a:t>
            </a:r>
            <a:endParaRPr lang="en-US" sz="750" dirty="0"/>
          </a:p>
        </p:txBody>
      </p:sp>
      <p:pic>
        <p:nvPicPr>
          <p:cNvPr id="28" name="Image 5" descr="preencoded.png"/>
          <p:cNvPicPr>
            <a:picLocks noChangeAspect="1"/>
          </p:cNvPicPr>
          <p:nvPr/>
        </p:nvPicPr>
        <p:blipFill>
          <a:blip r:embed="rId6"/>
          <a:stretch>
            <a:fillRect/>
          </a:stretch>
        </p:blipFill>
        <p:spPr>
          <a:xfrm>
            <a:off x="6291072" y="1078992"/>
            <a:ext cx="475488" cy="475488"/>
          </a:xfrm>
          <a:prstGeom prst="rect">
            <a:avLst/>
          </a:prstGeom>
        </p:spPr>
      </p:pic>
      <p:sp>
        <p:nvSpPr>
          <p:cNvPr id="29" name="Text 21"/>
          <p:cNvSpPr/>
          <p:nvPr/>
        </p:nvSpPr>
        <p:spPr>
          <a:xfrm>
            <a:off x="6254496" y="1664208"/>
            <a:ext cx="2560320" cy="402336"/>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Réponse IoT &amp; IA multi-agents</a:t>
            </a:r>
            <a:endParaRPr lang="en-US" sz="1300" dirty="0"/>
          </a:p>
        </p:txBody>
      </p:sp>
      <p:sp>
        <p:nvSpPr>
          <p:cNvPr id="30" name="Text 22"/>
          <p:cNvSpPr/>
          <p:nvPr/>
        </p:nvSpPr>
        <p:spPr>
          <a:xfrm>
            <a:off x="6254496" y="2176272"/>
            <a:ext cx="2560320" cy="16916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Pipeline MQTT → FastAPI → 7 agents A2A → LLM optionnel. Alertes 5 niveaux NEWS2, prédiction 30-60 min, rapport LLM quotidien, espace famille RGPD.</a:t>
            </a:r>
            <a:endParaRPr lang="en-US" sz="1100" dirty="0"/>
          </a:p>
        </p:txBody>
      </p:sp>
      <p:pic>
        <p:nvPicPr>
          <p:cNvPr id="31" name="Image 6" descr="preencoded.png"/>
          <p:cNvPicPr>
            <a:picLocks noChangeAspect="1"/>
          </p:cNvPicPr>
          <p:nvPr/>
        </p:nvPicPr>
        <p:blipFill>
          <a:blip r:embed="rId3">
            <a:alphaModFix amt="60000"/>
          </a:blip>
          <a:stretch>
            <a:fillRect/>
          </a:stretch>
        </p:blipFill>
        <p:spPr>
          <a:xfrm>
            <a:off x="6199632" y="4626864"/>
            <a:ext cx="2560320" cy="228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Architecture Fonctionnelle</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137160" y="640080"/>
            <a:ext cx="1719072" cy="1207008"/>
          </a:xfrm>
          <a:prstGeom prst="rect">
            <a:avLst/>
          </a:prstGeom>
          <a:solidFill>
            <a:srgbClr val="1B3A5C"/>
          </a:solidFill>
          <a:ln w="12700">
            <a:solidFill>
              <a:srgbClr val="1B3A5C"/>
            </a:solidFill>
            <a:prstDash val="solid"/>
          </a:ln>
          <a:effectLst>
            <a:outerShdw blurRad="101600" dist="25400" dir="8100000" algn="bl" rotWithShape="0">
              <a:srgbClr val="000000">
                <a:alpha val="10000"/>
              </a:srgbClr>
            </a:outerShdw>
          </a:effectLst>
        </p:spPr>
        <p:txBody>
          <a:bodyPr/>
          <a:lstStyle/>
          <a:p>
            <a:endParaRPr lang="fr-FR"/>
          </a:p>
        </p:txBody>
      </p:sp>
      <p:pic>
        <p:nvPicPr>
          <p:cNvPr id="9" name="Image 1" descr="preencoded.png"/>
          <p:cNvPicPr>
            <a:picLocks noChangeAspect="1"/>
          </p:cNvPicPr>
          <p:nvPr/>
        </p:nvPicPr>
        <p:blipFill>
          <a:blip r:embed="rId4"/>
          <a:stretch>
            <a:fillRect/>
          </a:stretch>
        </p:blipFill>
        <p:spPr>
          <a:xfrm>
            <a:off x="758952" y="676656"/>
            <a:ext cx="420624" cy="420624"/>
          </a:xfrm>
          <a:prstGeom prst="rect">
            <a:avLst/>
          </a:prstGeom>
        </p:spPr>
      </p:pic>
      <p:sp>
        <p:nvSpPr>
          <p:cNvPr id="10" name="Text 6"/>
          <p:cNvSpPr/>
          <p:nvPr/>
        </p:nvSpPr>
        <p:spPr>
          <a:xfrm>
            <a:off x="137160" y="1115568"/>
            <a:ext cx="1719072"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Simulateur</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25 résidents</a:t>
            </a:r>
            <a:endParaRPr lang="en-US" sz="1000" dirty="0"/>
          </a:p>
        </p:txBody>
      </p:sp>
      <p:sp>
        <p:nvSpPr>
          <p:cNvPr id="11" name="Text 7"/>
          <p:cNvSpPr/>
          <p:nvPr/>
        </p:nvSpPr>
        <p:spPr>
          <a:xfrm>
            <a:off x="137160" y="1517904"/>
            <a:ext cx="1719072" cy="256032"/>
          </a:xfrm>
          <a:prstGeom prst="rect">
            <a:avLst/>
          </a:prstGeom>
          <a:noFill/>
          <a:ln/>
        </p:spPr>
        <p:txBody>
          <a:bodyPr wrap="square" lIns="0" tIns="0" rIns="0" bIns="0" rtlCol="0" anchor="ctr"/>
          <a:lstStyle/>
          <a:p>
            <a:pPr marL="0" indent="0" algn="ctr">
              <a:buNone/>
            </a:pPr>
            <a:r>
              <a:rPr lang="en-US" sz="800" dirty="0">
                <a:solidFill>
                  <a:srgbClr val="CDEAF5"/>
                </a:solidFill>
                <a:latin typeface="Calibri" pitchFamily="34" charset="0"/>
                <a:ea typeface="Calibri" pitchFamily="34" charset="-122"/>
                <a:cs typeface="Calibri" pitchFamily="34" charset="-120"/>
              </a:rPr>
              <a:t>Python · paho-mqtt</a:t>
            </a:r>
            <a:endParaRPr lang="en-US" sz="800" dirty="0"/>
          </a:p>
        </p:txBody>
      </p:sp>
      <p:sp>
        <p:nvSpPr>
          <p:cNvPr id="12" name="Shape 8"/>
          <p:cNvSpPr/>
          <p:nvPr/>
        </p:nvSpPr>
        <p:spPr>
          <a:xfrm>
            <a:off x="1993392" y="640080"/>
            <a:ext cx="1719072" cy="1207008"/>
          </a:xfrm>
          <a:prstGeom prst="rect">
            <a:avLst/>
          </a:prstGeom>
          <a:solidFill>
            <a:srgbClr val="028090"/>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fr-FR"/>
          </a:p>
        </p:txBody>
      </p:sp>
      <p:pic>
        <p:nvPicPr>
          <p:cNvPr id="13" name="Image 2" descr="preencoded.png"/>
          <p:cNvPicPr>
            <a:picLocks noChangeAspect="1"/>
          </p:cNvPicPr>
          <p:nvPr/>
        </p:nvPicPr>
        <p:blipFill>
          <a:blip r:embed="rId5"/>
          <a:stretch>
            <a:fillRect/>
          </a:stretch>
        </p:blipFill>
        <p:spPr>
          <a:xfrm>
            <a:off x="2615184" y="676656"/>
            <a:ext cx="420624" cy="420624"/>
          </a:xfrm>
          <a:prstGeom prst="rect">
            <a:avLst/>
          </a:prstGeom>
        </p:spPr>
      </p:pic>
      <p:sp>
        <p:nvSpPr>
          <p:cNvPr id="14" name="Text 9"/>
          <p:cNvSpPr/>
          <p:nvPr/>
        </p:nvSpPr>
        <p:spPr>
          <a:xfrm>
            <a:off x="1993392" y="1115568"/>
            <a:ext cx="1719072"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Mosquitto</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Broker MQTT</a:t>
            </a:r>
            <a:endParaRPr lang="en-US" sz="1000" dirty="0"/>
          </a:p>
        </p:txBody>
      </p:sp>
      <p:sp>
        <p:nvSpPr>
          <p:cNvPr id="15" name="Text 10"/>
          <p:cNvSpPr/>
          <p:nvPr/>
        </p:nvSpPr>
        <p:spPr>
          <a:xfrm>
            <a:off x="1993392" y="1517904"/>
            <a:ext cx="1719072" cy="256032"/>
          </a:xfrm>
          <a:prstGeom prst="rect">
            <a:avLst/>
          </a:prstGeom>
          <a:noFill/>
          <a:ln/>
        </p:spPr>
        <p:txBody>
          <a:bodyPr wrap="square" lIns="0" tIns="0" rIns="0" bIns="0" rtlCol="0" anchor="ctr"/>
          <a:lstStyle/>
          <a:p>
            <a:pPr marL="0" indent="0" algn="ctr">
              <a:buNone/>
            </a:pPr>
            <a:r>
              <a:rPr lang="en-US" sz="800" dirty="0">
                <a:solidFill>
                  <a:srgbClr val="CDEAF5"/>
                </a:solidFill>
                <a:latin typeface="Calibri" pitchFamily="34" charset="0"/>
                <a:ea typeface="Calibri" pitchFamily="34" charset="-122"/>
                <a:cs typeface="Calibri" pitchFamily="34" charset="-120"/>
              </a:rPr>
              <a:t>Auth + ACL</a:t>
            </a:r>
            <a:endParaRPr lang="en-US" sz="800" dirty="0"/>
          </a:p>
        </p:txBody>
      </p:sp>
      <p:sp>
        <p:nvSpPr>
          <p:cNvPr id="16" name="Shape 11"/>
          <p:cNvSpPr/>
          <p:nvPr/>
        </p:nvSpPr>
        <p:spPr>
          <a:xfrm>
            <a:off x="3849624" y="640080"/>
            <a:ext cx="1719072" cy="1207008"/>
          </a:xfrm>
          <a:prstGeom prst="rect">
            <a:avLst/>
          </a:prstGeom>
          <a:solidFill>
            <a:srgbClr val="E07B39"/>
          </a:solidFill>
          <a:ln w="12700">
            <a:solidFill>
              <a:srgbClr val="E07B39"/>
            </a:solidFill>
            <a:prstDash val="solid"/>
          </a:ln>
          <a:effectLst>
            <a:outerShdw blurRad="101600" dist="25400" dir="8100000" algn="bl" rotWithShape="0">
              <a:srgbClr val="000000">
                <a:alpha val="10000"/>
              </a:srgbClr>
            </a:outerShdw>
          </a:effectLst>
        </p:spPr>
        <p:txBody>
          <a:bodyPr/>
          <a:lstStyle/>
          <a:p>
            <a:endParaRPr lang="fr-FR"/>
          </a:p>
        </p:txBody>
      </p:sp>
      <p:pic>
        <p:nvPicPr>
          <p:cNvPr id="17" name="Image 3" descr="preencoded.png"/>
          <p:cNvPicPr>
            <a:picLocks noChangeAspect="1"/>
          </p:cNvPicPr>
          <p:nvPr/>
        </p:nvPicPr>
        <p:blipFill>
          <a:blip r:embed="rId6"/>
          <a:stretch>
            <a:fillRect/>
          </a:stretch>
        </p:blipFill>
        <p:spPr>
          <a:xfrm>
            <a:off x="4471416" y="676656"/>
            <a:ext cx="420624" cy="420624"/>
          </a:xfrm>
          <a:prstGeom prst="rect">
            <a:avLst/>
          </a:prstGeom>
        </p:spPr>
      </p:pic>
      <p:sp>
        <p:nvSpPr>
          <p:cNvPr id="18" name="Text 12"/>
          <p:cNvSpPr/>
          <p:nvPr/>
        </p:nvSpPr>
        <p:spPr>
          <a:xfrm>
            <a:off x="3849624" y="1115568"/>
            <a:ext cx="1719072"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Backend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FastAPI</a:t>
            </a:r>
            <a:endParaRPr lang="en-US" sz="1000" dirty="0"/>
          </a:p>
        </p:txBody>
      </p:sp>
      <p:sp>
        <p:nvSpPr>
          <p:cNvPr id="19" name="Text 13"/>
          <p:cNvSpPr/>
          <p:nvPr/>
        </p:nvSpPr>
        <p:spPr>
          <a:xfrm>
            <a:off x="3849624" y="1517904"/>
            <a:ext cx="1719072" cy="256032"/>
          </a:xfrm>
          <a:prstGeom prst="rect">
            <a:avLst/>
          </a:prstGeom>
          <a:noFill/>
          <a:ln/>
        </p:spPr>
        <p:txBody>
          <a:bodyPr wrap="square" lIns="0" tIns="0" rIns="0" bIns="0" rtlCol="0" anchor="ctr"/>
          <a:lstStyle/>
          <a:p>
            <a:pPr marL="0" indent="0" algn="ctr">
              <a:buNone/>
            </a:pPr>
            <a:r>
              <a:rPr lang="en-US" sz="800" dirty="0">
                <a:solidFill>
                  <a:srgbClr val="CDEAF5"/>
                </a:solidFill>
                <a:latin typeface="Calibri" pitchFamily="34" charset="0"/>
                <a:ea typeface="Calibri" pitchFamily="34" charset="-122"/>
                <a:cs typeface="Calibri" pitchFamily="34" charset="-120"/>
              </a:rPr>
              <a:t>7 agents A2A · ML · LLM</a:t>
            </a:r>
            <a:endParaRPr lang="en-US" sz="800" dirty="0"/>
          </a:p>
        </p:txBody>
      </p:sp>
      <p:sp>
        <p:nvSpPr>
          <p:cNvPr id="20" name="Shape 14"/>
          <p:cNvSpPr/>
          <p:nvPr/>
        </p:nvSpPr>
        <p:spPr>
          <a:xfrm>
            <a:off x="5705856" y="640080"/>
            <a:ext cx="1719072" cy="1207008"/>
          </a:xfrm>
          <a:prstGeom prst="rect">
            <a:avLst/>
          </a:prstGeom>
          <a:solidFill>
            <a:srgbClr val="6B48A8"/>
          </a:solidFill>
          <a:ln w="12700">
            <a:solidFill>
              <a:srgbClr val="6B48A8"/>
            </a:solidFill>
            <a:prstDash val="solid"/>
          </a:ln>
          <a:effectLst>
            <a:outerShdw blurRad="101600" dist="25400" dir="8100000" algn="bl" rotWithShape="0">
              <a:srgbClr val="000000">
                <a:alpha val="10000"/>
              </a:srgbClr>
            </a:outerShdw>
          </a:effectLst>
        </p:spPr>
        <p:txBody>
          <a:bodyPr/>
          <a:lstStyle/>
          <a:p>
            <a:endParaRPr lang="fr-FR"/>
          </a:p>
        </p:txBody>
      </p:sp>
      <p:pic>
        <p:nvPicPr>
          <p:cNvPr id="21" name="Image 4" descr="preencoded.png"/>
          <p:cNvPicPr>
            <a:picLocks noChangeAspect="1"/>
          </p:cNvPicPr>
          <p:nvPr/>
        </p:nvPicPr>
        <p:blipFill>
          <a:blip r:embed="rId7"/>
          <a:stretch>
            <a:fillRect/>
          </a:stretch>
        </p:blipFill>
        <p:spPr>
          <a:xfrm>
            <a:off x="6327648" y="676656"/>
            <a:ext cx="420624" cy="420624"/>
          </a:xfrm>
          <a:prstGeom prst="rect">
            <a:avLst/>
          </a:prstGeom>
        </p:spPr>
      </p:pic>
      <p:sp>
        <p:nvSpPr>
          <p:cNvPr id="22" name="Text 15"/>
          <p:cNvSpPr/>
          <p:nvPr/>
        </p:nvSpPr>
        <p:spPr>
          <a:xfrm>
            <a:off x="5705856" y="1115568"/>
            <a:ext cx="1719072"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Dashboard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HTML/JS</a:t>
            </a:r>
            <a:endParaRPr lang="en-US" sz="1000" dirty="0"/>
          </a:p>
        </p:txBody>
      </p:sp>
      <p:sp>
        <p:nvSpPr>
          <p:cNvPr id="23" name="Text 16"/>
          <p:cNvSpPr/>
          <p:nvPr/>
        </p:nvSpPr>
        <p:spPr>
          <a:xfrm>
            <a:off x="5705856" y="1517904"/>
            <a:ext cx="1719072" cy="256032"/>
          </a:xfrm>
          <a:prstGeom prst="rect">
            <a:avLst/>
          </a:prstGeom>
          <a:noFill/>
          <a:ln/>
        </p:spPr>
        <p:txBody>
          <a:bodyPr wrap="square" lIns="0" tIns="0" rIns="0" bIns="0" rtlCol="0" anchor="ctr"/>
          <a:lstStyle/>
          <a:p>
            <a:pPr marL="0" indent="0" algn="ctr">
              <a:buNone/>
            </a:pPr>
            <a:r>
              <a:rPr lang="en-US" sz="800" dirty="0">
                <a:solidFill>
                  <a:srgbClr val="CDEAF5"/>
                </a:solidFill>
                <a:latin typeface="Calibri" pitchFamily="34" charset="0"/>
                <a:ea typeface="Calibri" pitchFamily="34" charset="-122"/>
                <a:cs typeface="Calibri" pitchFamily="34" charset="-120"/>
              </a:rPr>
              <a:t>WebSocket temps réel</a:t>
            </a:r>
            <a:endParaRPr lang="en-US" sz="800" dirty="0"/>
          </a:p>
        </p:txBody>
      </p:sp>
      <p:sp>
        <p:nvSpPr>
          <p:cNvPr id="24" name="Shape 17"/>
          <p:cNvSpPr/>
          <p:nvPr/>
        </p:nvSpPr>
        <p:spPr>
          <a:xfrm>
            <a:off x="7562088" y="640080"/>
            <a:ext cx="1719072" cy="1207008"/>
          </a:xfrm>
          <a:prstGeom prst="rect">
            <a:avLst/>
          </a:prstGeom>
          <a:solidFill>
            <a:srgbClr val="1D9E75"/>
          </a:solidFill>
          <a:ln w="12700">
            <a:solidFill>
              <a:srgbClr val="1D9E75"/>
            </a:solidFill>
            <a:prstDash val="solid"/>
          </a:ln>
          <a:effectLst>
            <a:outerShdw blurRad="101600" dist="25400" dir="8100000" algn="bl" rotWithShape="0">
              <a:srgbClr val="000000">
                <a:alpha val="10000"/>
              </a:srgbClr>
            </a:outerShdw>
          </a:effectLst>
        </p:spPr>
        <p:txBody>
          <a:bodyPr/>
          <a:lstStyle/>
          <a:p>
            <a:endParaRPr lang="fr-FR"/>
          </a:p>
        </p:txBody>
      </p:sp>
      <p:pic>
        <p:nvPicPr>
          <p:cNvPr id="25" name="Image 5" descr="preencoded.png"/>
          <p:cNvPicPr>
            <a:picLocks noChangeAspect="1"/>
          </p:cNvPicPr>
          <p:nvPr/>
        </p:nvPicPr>
        <p:blipFill>
          <a:blip r:embed="rId8"/>
          <a:stretch>
            <a:fillRect/>
          </a:stretch>
        </p:blipFill>
        <p:spPr>
          <a:xfrm>
            <a:off x="8183880" y="676656"/>
            <a:ext cx="420624" cy="420624"/>
          </a:xfrm>
          <a:prstGeom prst="rect">
            <a:avLst/>
          </a:prstGeom>
        </p:spPr>
      </p:pic>
      <p:sp>
        <p:nvSpPr>
          <p:cNvPr id="26" name="Text 18"/>
          <p:cNvSpPr/>
          <p:nvPr/>
        </p:nvSpPr>
        <p:spPr>
          <a:xfrm>
            <a:off x="7562088" y="1115568"/>
            <a:ext cx="1719072"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Famille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Portail</a:t>
            </a:r>
            <a:endParaRPr lang="en-US" sz="1000" dirty="0"/>
          </a:p>
        </p:txBody>
      </p:sp>
      <p:sp>
        <p:nvSpPr>
          <p:cNvPr id="27" name="Text 19"/>
          <p:cNvSpPr/>
          <p:nvPr/>
        </p:nvSpPr>
        <p:spPr>
          <a:xfrm>
            <a:off x="7562088" y="1517904"/>
            <a:ext cx="1719072" cy="256032"/>
          </a:xfrm>
          <a:prstGeom prst="rect">
            <a:avLst/>
          </a:prstGeom>
          <a:noFill/>
          <a:ln/>
        </p:spPr>
        <p:txBody>
          <a:bodyPr wrap="square" lIns="0" tIns="0" rIns="0" bIns="0" rtlCol="0" anchor="ctr"/>
          <a:lstStyle/>
          <a:p>
            <a:pPr marL="0" indent="0" algn="ctr">
              <a:buNone/>
            </a:pPr>
            <a:r>
              <a:rPr lang="en-US" sz="800" dirty="0">
                <a:solidFill>
                  <a:srgbClr val="CDEAF5"/>
                </a:solidFill>
                <a:latin typeface="Calibri" pitchFamily="34" charset="0"/>
                <a:ea typeface="Calibri" pitchFamily="34" charset="-122"/>
                <a:cs typeface="Calibri" pitchFamily="34" charset="-120"/>
              </a:rPr>
              <a:t>RGPD · Bris de glace</a:t>
            </a:r>
            <a:endParaRPr lang="en-US" sz="800" dirty="0"/>
          </a:p>
        </p:txBody>
      </p:sp>
      <p:sp>
        <p:nvSpPr>
          <p:cNvPr id="28" name="Shape 20"/>
          <p:cNvSpPr/>
          <p:nvPr/>
        </p:nvSpPr>
        <p:spPr>
          <a:xfrm>
            <a:off x="1883664" y="1225296"/>
            <a:ext cx="109728" cy="0"/>
          </a:xfrm>
          <a:prstGeom prst="line">
            <a:avLst/>
          </a:prstGeom>
          <a:noFill/>
          <a:ln w="19050">
            <a:solidFill>
              <a:srgbClr val="64748B"/>
            </a:solidFill>
            <a:prstDash val="solid"/>
          </a:ln>
        </p:spPr>
        <p:txBody>
          <a:bodyPr/>
          <a:lstStyle/>
          <a:p>
            <a:endParaRPr lang="fr-FR"/>
          </a:p>
        </p:txBody>
      </p:sp>
      <p:sp>
        <p:nvSpPr>
          <p:cNvPr id="29" name="Text 21"/>
          <p:cNvSpPr/>
          <p:nvPr/>
        </p:nvSpPr>
        <p:spPr>
          <a:xfrm>
            <a:off x="1865376" y="1133856"/>
            <a:ext cx="228600" cy="201168"/>
          </a:xfrm>
          <a:prstGeom prst="rect">
            <a:avLst/>
          </a:prstGeom>
          <a:noFill/>
          <a:ln/>
        </p:spPr>
        <p:txBody>
          <a:bodyPr wrap="square" lIns="0" tIns="0" rIns="0" bIns="0" rtlCol="0" anchor="ctr"/>
          <a:lstStyle/>
          <a:p>
            <a:pPr marL="0" indent="0" algn="ctr">
              <a:buNone/>
            </a:pPr>
            <a:r>
              <a:rPr lang="en-US" sz="1100" dirty="0">
                <a:solidFill>
                  <a:srgbClr val="64748B"/>
                </a:solidFill>
              </a:rPr>
              <a:t>→</a:t>
            </a:r>
            <a:endParaRPr lang="en-US" sz="1100" dirty="0"/>
          </a:p>
        </p:txBody>
      </p:sp>
      <p:sp>
        <p:nvSpPr>
          <p:cNvPr id="30" name="Text 22"/>
          <p:cNvSpPr/>
          <p:nvPr/>
        </p:nvSpPr>
        <p:spPr>
          <a:xfrm>
            <a:off x="1655064" y="1353312"/>
            <a:ext cx="640080" cy="164592"/>
          </a:xfrm>
          <a:prstGeom prst="rect">
            <a:avLst/>
          </a:prstGeom>
          <a:noFill/>
          <a:ln/>
        </p:spPr>
        <p:txBody>
          <a:bodyPr wrap="square" lIns="0" tIns="0" rIns="0" bIns="0" rtlCol="0" anchor="ctr"/>
          <a:lstStyle/>
          <a:p>
            <a:pPr marL="0" indent="0" algn="ctr">
              <a:buNone/>
            </a:pPr>
            <a:r>
              <a:rPr lang="en-US" sz="700" dirty="0">
                <a:solidFill>
                  <a:srgbClr val="64748B"/>
                </a:solidFill>
                <a:latin typeface="Calibri" pitchFamily="34" charset="0"/>
                <a:ea typeface="Calibri" pitchFamily="34" charset="-122"/>
                <a:cs typeface="Calibri" pitchFamily="34" charset="-120"/>
              </a:rPr>
              <a:t>MQTT QoS1/2</a:t>
            </a:r>
            <a:endParaRPr lang="en-US" sz="700" dirty="0"/>
          </a:p>
        </p:txBody>
      </p:sp>
      <p:sp>
        <p:nvSpPr>
          <p:cNvPr id="31" name="Shape 23"/>
          <p:cNvSpPr/>
          <p:nvPr/>
        </p:nvSpPr>
        <p:spPr>
          <a:xfrm>
            <a:off x="3739896" y="1225296"/>
            <a:ext cx="109728" cy="0"/>
          </a:xfrm>
          <a:prstGeom prst="line">
            <a:avLst/>
          </a:prstGeom>
          <a:noFill/>
          <a:ln w="19050">
            <a:solidFill>
              <a:srgbClr val="64748B"/>
            </a:solidFill>
            <a:prstDash val="solid"/>
          </a:ln>
        </p:spPr>
        <p:txBody>
          <a:bodyPr/>
          <a:lstStyle/>
          <a:p>
            <a:endParaRPr lang="fr-FR"/>
          </a:p>
        </p:txBody>
      </p:sp>
      <p:sp>
        <p:nvSpPr>
          <p:cNvPr id="32" name="Text 24"/>
          <p:cNvSpPr/>
          <p:nvPr/>
        </p:nvSpPr>
        <p:spPr>
          <a:xfrm>
            <a:off x="3721608" y="1133856"/>
            <a:ext cx="228600" cy="201168"/>
          </a:xfrm>
          <a:prstGeom prst="rect">
            <a:avLst/>
          </a:prstGeom>
          <a:noFill/>
          <a:ln/>
        </p:spPr>
        <p:txBody>
          <a:bodyPr wrap="square" lIns="0" tIns="0" rIns="0" bIns="0" rtlCol="0" anchor="ctr"/>
          <a:lstStyle/>
          <a:p>
            <a:pPr marL="0" indent="0" algn="ctr">
              <a:buNone/>
            </a:pPr>
            <a:r>
              <a:rPr lang="en-US" sz="1100" dirty="0">
                <a:solidFill>
                  <a:srgbClr val="64748B"/>
                </a:solidFill>
              </a:rPr>
              <a:t>→</a:t>
            </a:r>
            <a:endParaRPr lang="en-US" sz="1100" dirty="0"/>
          </a:p>
        </p:txBody>
      </p:sp>
      <p:sp>
        <p:nvSpPr>
          <p:cNvPr id="33" name="Text 25"/>
          <p:cNvSpPr/>
          <p:nvPr/>
        </p:nvSpPr>
        <p:spPr>
          <a:xfrm>
            <a:off x="3511296" y="1353312"/>
            <a:ext cx="640080" cy="164592"/>
          </a:xfrm>
          <a:prstGeom prst="rect">
            <a:avLst/>
          </a:prstGeom>
          <a:noFill/>
          <a:ln/>
        </p:spPr>
        <p:txBody>
          <a:bodyPr wrap="square" lIns="0" tIns="0" rIns="0" bIns="0" rtlCol="0" anchor="ctr"/>
          <a:lstStyle/>
          <a:p>
            <a:pPr marL="0" indent="0" algn="ctr">
              <a:buNone/>
            </a:pPr>
            <a:r>
              <a:rPr lang="en-US" sz="700" dirty="0">
                <a:solidFill>
                  <a:srgbClr val="64748B"/>
                </a:solidFill>
                <a:latin typeface="Calibri" pitchFamily="34" charset="0"/>
                <a:ea typeface="Calibri" pitchFamily="34" charset="-122"/>
                <a:cs typeface="Calibri" pitchFamily="34" charset="-120"/>
              </a:rPr>
              <a:t>HTTP/WS</a:t>
            </a:r>
            <a:endParaRPr lang="en-US" sz="700" dirty="0"/>
          </a:p>
        </p:txBody>
      </p:sp>
      <p:sp>
        <p:nvSpPr>
          <p:cNvPr id="34" name="Shape 26"/>
          <p:cNvSpPr/>
          <p:nvPr/>
        </p:nvSpPr>
        <p:spPr>
          <a:xfrm>
            <a:off x="5596128" y="1225296"/>
            <a:ext cx="109728" cy="0"/>
          </a:xfrm>
          <a:prstGeom prst="line">
            <a:avLst/>
          </a:prstGeom>
          <a:noFill/>
          <a:ln w="19050">
            <a:solidFill>
              <a:srgbClr val="64748B"/>
            </a:solidFill>
            <a:prstDash val="solid"/>
          </a:ln>
        </p:spPr>
        <p:txBody>
          <a:bodyPr/>
          <a:lstStyle/>
          <a:p>
            <a:endParaRPr lang="fr-FR"/>
          </a:p>
        </p:txBody>
      </p:sp>
      <p:sp>
        <p:nvSpPr>
          <p:cNvPr id="35" name="Text 27"/>
          <p:cNvSpPr/>
          <p:nvPr/>
        </p:nvSpPr>
        <p:spPr>
          <a:xfrm>
            <a:off x="5577840" y="1133856"/>
            <a:ext cx="228600" cy="201168"/>
          </a:xfrm>
          <a:prstGeom prst="rect">
            <a:avLst/>
          </a:prstGeom>
          <a:noFill/>
          <a:ln/>
        </p:spPr>
        <p:txBody>
          <a:bodyPr wrap="square" lIns="0" tIns="0" rIns="0" bIns="0" rtlCol="0" anchor="ctr"/>
          <a:lstStyle/>
          <a:p>
            <a:pPr marL="0" indent="0" algn="ctr">
              <a:buNone/>
            </a:pPr>
            <a:r>
              <a:rPr lang="en-US" sz="1100" dirty="0">
                <a:solidFill>
                  <a:srgbClr val="64748B"/>
                </a:solidFill>
              </a:rPr>
              <a:t>→</a:t>
            </a:r>
            <a:endParaRPr lang="en-US" sz="1100" dirty="0"/>
          </a:p>
        </p:txBody>
      </p:sp>
      <p:sp>
        <p:nvSpPr>
          <p:cNvPr id="36" name="Text 28"/>
          <p:cNvSpPr/>
          <p:nvPr/>
        </p:nvSpPr>
        <p:spPr>
          <a:xfrm>
            <a:off x="5367528" y="1353312"/>
            <a:ext cx="640080" cy="164592"/>
          </a:xfrm>
          <a:prstGeom prst="rect">
            <a:avLst/>
          </a:prstGeom>
          <a:noFill/>
          <a:ln/>
        </p:spPr>
        <p:txBody>
          <a:bodyPr wrap="square" lIns="0" tIns="0" rIns="0" bIns="0" rtlCol="0" anchor="ctr"/>
          <a:lstStyle/>
          <a:p>
            <a:pPr marL="0" indent="0" algn="ctr">
              <a:buNone/>
            </a:pPr>
            <a:r>
              <a:rPr lang="en-US" sz="700" dirty="0">
                <a:solidFill>
                  <a:srgbClr val="64748B"/>
                </a:solidFill>
                <a:latin typeface="Calibri" pitchFamily="34" charset="0"/>
                <a:ea typeface="Calibri" pitchFamily="34" charset="-122"/>
                <a:cs typeface="Calibri" pitchFamily="34" charset="-120"/>
              </a:rPr>
              <a:t>REST/WS</a:t>
            </a:r>
            <a:endParaRPr lang="en-US" sz="700" dirty="0"/>
          </a:p>
        </p:txBody>
      </p:sp>
      <p:sp>
        <p:nvSpPr>
          <p:cNvPr id="37" name="Shape 29"/>
          <p:cNvSpPr/>
          <p:nvPr/>
        </p:nvSpPr>
        <p:spPr>
          <a:xfrm>
            <a:off x="7452360" y="1225296"/>
            <a:ext cx="109728" cy="0"/>
          </a:xfrm>
          <a:prstGeom prst="line">
            <a:avLst/>
          </a:prstGeom>
          <a:noFill/>
          <a:ln w="19050">
            <a:solidFill>
              <a:srgbClr val="64748B"/>
            </a:solidFill>
            <a:prstDash val="solid"/>
          </a:ln>
        </p:spPr>
        <p:txBody>
          <a:bodyPr/>
          <a:lstStyle/>
          <a:p>
            <a:endParaRPr lang="fr-FR"/>
          </a:p>
        </p:txBody>
      </p:sp>
      <p:sp>
        <p:nvSpPr>
          <p:cNvPr id="38" name="Text 30"/>
          <p:cNvSpPr/>
          <p:nvPr/>
        </p:nvSpPr>
        <p:spPr>
          <a:xfrm>
            <a:off x="7434072" y="1133856"/>
            <a:ext cx="228600" cy="201168"/>
          </a:xfrm>
          <a:prstGeom prst="rect">
            <a:avLst/>
          </a:prstGeom>
          <a:noFill/>
          <a:ln/>
        </p:spPr>
        <p:txBody>
          <a:bodyPr wrap="square" lIns="0" tIns="0" rIns="0" bIns="0" rtlCol="0" anchor="ctr"/>
          <a:lstStyle/>
          <a:p>
            <a:pPr marL="0" indent="0" algn="ctr">
              <a:buNone/>
            </a:pPr>
            <a:r>
              <a:rPr lang="en-US" sz="1100" dirty="0">
                <a:solidFill>
                  <a:srgbClr val="64748B"/>
                </a:solidFill>
              </a:rPr>
              <a:t>→</a:t>
            </a:r>
            <a:endParaRPr lang="en-US" sz="1100" dirty="0"/>
          </a:p>
        </p:txBody>
      </p:sp>
      <p:sp>
        <p:nvSpPr>
          <p:cNvPr id="39" name="Text 31"/>
          <p:cNvSpPr/>
          <p:nvPr/>
        </p:nvSpPr>
        <p:spPr>
          <a:xfrm>
            <a:off x="7223760" y="1353312"/>
            <a:ext cx="640080" cy="164592"/>
          </a:xfrm>
          <a:prstGeom prst="rect">
            <a:avLst/>
          </a:prstGeom>
          <a:noFill/>
          <a:ln/>
        </p:spPr>
        <p:txBody>
          <a:bodyPr wrap="square" lIns="0" tIns="0" rIns="0" bIns="0" rtlCol="0" anchor="ctr"/>
          <a:lstStyle/>
          <a:p>
            <a:pPr marL="0" indent="0" algn="ctr">
              <a:buNone/>
            </a:pPr>
            <a:r>
              <a:rPr lang="en-US" sz="700" dirty="0">
                <a:solidFill>
                  <a:srgbClr val="64748B"/>
                </a:solidFill>
                <a:latin typeface="Calibri" pitchFamily="34" charset="0"/>
                <a:ea typeface="Calibri" pitchFamily="34" charset="-122"/>
                <a:cs typeface="Calibri" pitchFamily="34" charset="-120"/>
              </a:rPr>
              <a:t>Token</a:t>
            </a:r>
            <a:endParaRPr lang="en-US" sz="700" dirty="0"/>
          </a:p>
        </p:txBody>
      </p:sp>
      <p:sp>
        <p:nvSpPr>
          <p:cNvPr id="40" name="Shape 32"/>
          <p:cNvSpPr/>
          <p:nvPr/>
        </p:nvSpPr>
        <p:spPr>
          <a:xfrm>
            <a:off x="1005840" y="2304288"/>
            <a:ext cx="1572768" cy="777240"/>
          </a:xfrm>
          <a:prstGeom prst="rect">
            <a:avLst/>
          </a:prstGeom>
          <a:solidFill>
            <a:srgbClr val="FFFFFF"/>
          </a:solidFill>
          <a:ln w="15240">
            <a:solidFill>
              <a:srgbClr val="E24B4A"/>
            </a:solidFill>
            <a:prstDash val="solid"/>
          </a:ln>
          <a:effectLst>
            <a:outerShdw blurRad="101600" dist="25400" dir="8100000" algn="bl" rotWithShape="0">
              <a:srgbClr val="000000">
                <a:alpha val="10000"/>
              </a:srgbClr>
            </a:outerShdw>
          </a:effectLst>
        </p:spPr>
        <p:txBody>
          <a:bodyPr/>
          <a:lstStyle/>
          <a:p>
            <a:endParaRPr lang="fr-FR"/>
          </a:p>
        </p:txBody>
      </p:sp>
      <p:sp>
        <p:nvSpPr>
          <p:cNvPr id="41" name="Shape 33"/>
          <p:cNvSpPr/>
          <p:nvPr/>
        </p:nvSpPr>
        <p:spPr>
          <a:xfrm>
            <a:off x="1005840" y="2304288"/>
            <a:ext cx="1572768" cy="237744"/>
          </a:xfrm>
          <a:prstGeom prst="rect">
            <a:avLst/>
          </a:prstGeom>
          <a:solidFill>
            <a:srgbClr val="E24B4A"/>
          </a:solidFill>
          <a:ln w="12700">
            <a:solidFill>
              <a:srgbClr val="E24B4A"/>
            </a:solidFill>
            <a:prstDash val="solid"/>
          </a:ln>
        </p:spPr>
        <p:txBody>
          <a:bodyPr/>
          <a:lstStyle/>
          <a:p>
            <a:endParaRPr lang="fr-FR"/>
          </a:p>
        </p:txBody>
      </p:sp>
      <p:sp>
        <p:nvSpPr>
          <p:cNvPr id="42" name="Text 34"/>
          <p:cNvSpPr/>
          <p:nvPr/>
        </p:nvSpPr>
        <p:spPr>
          <a:xfrm>
            <a:off x="1005840" y="2304288"/>
            <a:ext cx="1572768"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Redis</a:t>
            </a:r>
            <a:endParaRPr lang="en-US" sz="950" dirty="0"/>
          </a:p>
        </p:txBody>
      </p:sp>
      <p:sp>
        <p:nvSpPr>
          <p:cNvPr id="43" name="Text 35"/>
          <p:cNvSpPr/>
          <p:nvPr/>
        </p:nvSpPr>
        <p:spPr>
          <a:xfrm>
            <a:off x="1005840" y="2560320"/>
            <a:ext cx="1572768" cy="493776"/>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État courant TTL</a:t>
            </a:r>
            <a:endParaRPr lang="en-US" sz="850" dirty="0"/>
          </a:p>
        </p:txBody>
      </p:sp>
      <p:sp>
        <p:nvSpPr>
          <p:cNvPr id="44" name="Shape 36"/>
          <p:cNvSpPr/>
          <p:nvPr/>
        </p:nvSpPr>
        <p:spPr>
          <a:xfrm>
            <a:off x="2834640" y="2304288"/>
            <a:ext cx="1572768" cy="777240"/>
          </a:xfrm>
          <a:prstGeom prst="rect">
            <a:avLst/>
          </a:prstGeom>
          <a:solidFill>
            <a:srgbClr val="FFFFFF"/>
          </a:solidFill>
          <a:ln w="15240">
            <a:solidFill>
              <a:srgbClr val="028090"/>
            </a:solidFill>
            <a:prstDash val="solid"/>
          </a:ln>
          <a:effectLst>
            <a:outerShdw blurRad="101600" dist="25400" dir="8100000" algn="bl" rotWithShape="0">
              <a:srgbClr val="000000">
                <a:alpha val="10000"/>
              </a:srgbClr>
            </a:outerShdw>
          </a:effectLst>
        </p:spPr>
        <p:txBody>
          <a:bodyPr/>
          <a:lstStyle/>
          <a:p>
            <a:endParaRPr lang="fr-FR"/>
          </a:p>
        </p:txBody>
      </p:sp>
      <p:sp>
        <p:nvSpPr>
          <p:cNvPr id="45" name="Shape 37"/>
          <p:cNvSpPr/>
          <p:nvPr/>
        </p:nvSpPr>
        <p:spPr>
          <a:xfrm>
            <a:off x="2834640" y="2304288"/>
            <a:ext cx="1572768" cy="237744"/>
          </a:xfrm>
          <a:prstGeom prst="rect">
            <a:avLst/>
          </a:prstGeom>
          <a:solidFill>
            <a:srgbClr val="028090"/>
          </a:solidFill>
          <a:ln w="12700">
            <a:solidFill>
              <a:srgbClr val="028090"/>
            </a:solidFill>
            <a:prstDash val="solid"/>
          </a:ln>
        </p:spPr>
        <p:txBody>
          <a:bodyPr/>
          <a:lstStyle/>
          <a:p>
            <a:endParaRPr lang="fr-FR"/>
          </a:p>
        </p:txBody>
      </p:sp>
      <p:sp>
        <p:nvSpPr>
          <p:cNvPr id="46" name="Text 38"/>
          <p:cNvSpPr/>
          <p:nvPr/>
        </p:nvSpPr>
        <p:spPr>
          <a:xfrm>
            <a:off x="2834640" y="2304288"/>
            <a:ext cx="1572768"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InfluxDB</a:t>
            </a:r>
            <a:endParaRPr lang="en-US" sz="950" dirty="0"/>
          </a:p>
        </p:txBody>
      </p:sp>
      <p:sp>
        <p:nvSpPr>
          <p:cNvPr id="47" name="Text 39"/>
          <p:cNvSpPr/>
          <p:nvPr/>
        </p:nvSpPr>
        <p:spPr>
          <a:xfrm>
            <a:off x="2834640" y="2560320"/>
            <a:ext cx="1572768" cy="493776"/>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Séries temporelles</a:t>
            </a:r>
            <a:endParaRPr lang="en-US" sz="850" dirty="0"/>
          </a:p>
        </p:txBody>
      </p:sp>
      <p:sp>
        <p:nvSpPr>
          <p:cNvPr id="48" name="Shape 40"/>
          <p:cNvSpPr/>
          <p:nvPr/>
        </p:nvSpPr>
        <p:spPr>
          <a:xfrm>
            <a:off x="4663440" y="2304288"/>
            <a:ext cx="1572768" cy="777240"/>
          </a:xfrm>
          <a:prstGeom prst="rect">
            <a:avLst/>
          </a:prstGeom>
          <a:solidFill>
            <a:srgbClr val="FFFFFF"/>
          </a:solidFill>
          <a:ln w="15240">
            <a:solidFill>
              <a:srgbClr val="6B48A8"/>
            </a:solidFill>
            <a:prstDash val="solid"/>
          </a:ln>
          <a:effectLst>
            <a:outerShdw blurRad="101600" dist="25400" dir="8100000" algn="bl" rotWithShape="0">
              <a:srgbClr val="000000">
                <a:alpha val="10000"/>
              </a:srgbClr>
            </a:outerShdw>
          </a:effectLst>
        </p:spPr>
        <p:txBody>
          <a:bodyPr/>
          <a:lstStyle/>
          <a:p>
            <a:endParaRPr lang="fr-FR"/>
          </a:p>
        </p:txBody>
      </p:sp>
      <p:sp>
        <p:nvSpPr>
          <p:cNvPr id="49" name="Shape 41"/>
          <p:cNvSpPr/>
          <p:nvPr/>
        </p:nvSpPr>
        <p:spPr>
          <a:xfrm>
            <a:off x="4663440" y="2304288"/>
            <a:ext cx="1572768" cy="237744"/>
          </a:xfrm>
          <a:prstGeom prst="rect">
            <a:avLst/>
          </a:prstGeom>
          <a:solidFill>
            <a:srgbClr val="6B48A8"/>
          </a:solidFill>
          <a:ln w="12700">
            <a:solidFill>
              <a:srgbClr val="6B48A8"/>
            </a:solidFill>
            <a:prstDash val="solid"/>
          </a:ln>
        </p:spPr>
        <p:txBody>
          <a:bodyPr/>
          <a:lstStyle/>
          <a:p>
            <a:endParaRPr lang="fr-FR"/>
          </a:p>
        </p:txBody>
      </p:sp>
      <p:sp>
        <p:nvSpPr>
          <p:cNvPr id="50" name="Text 42"/>
          <p:cNvSpPr/>
          <p:nvPr/>
        </p:nvSpPr>
        <p:spPr>
          <a:xfrm>
            <a:off x="4663440" y="2304288"/>
            <a:ext cx="1572768"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Ollama</a:t>
            </a:r>
            <a:endParaRPr lang="en-US" sz="950" dirty="0"/>
          </a:p>
        </p:txBody>
      </p:sp>
      <p:sp>
        <p:nvSpPr>
          <p:cNvPr id="51" name="Text 43"/>
          <p:cNvSpPr/>
          <p:nvPr/>
        </p:nvSpPr>
        <p:spPr>
          <a:xfrm>
            <a:off x="4663440" y="2560320"/>
            <a:ext cx="1572768" cy="493776"/>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Optionnel</a:t>
            </a:r>
            <a:endParaRPr lang="en-US" sz="850" dirty="0"/>
          </a:p>
        </p:txBody>
      </p:sp>
      <p:sp>
        <p:nvSpPr>
          <p:cNvPr id="52" name="Shape 44"/>
          <p:cNvSpPr/>
          <p:nvPr/>
        </p:nvSpPr>
        <p:spPr>
          <a:xfrm>
            <a:off x="6492240" y="2304288"/>
            <a:ext cx="1572768" cy="777240"/>
          </a:xfrm>
          <a:prstGeom prst="rect">
            <a:avLst/>
          </a:prstGeom>
          <a:solidFill>
            <a:srgbClr val="FFFFFF"/>
          </a:solidFill>
          <a:ln w="15240">
            <a:solidFill>
              <a:srgbClr val="E07B39"/>
            </a:solidFill>
            <a:prstDash val="solid"/>
          </a:ln>
          <a:effectLst>
            <a:outerShdw blurRad="101600" dist="25400" dir="8100000" algn="bl" rotWithShape="0">
              <a:srgbClr val="000000">
                <a:alpha val="10000"/>
              </a:srgbClr>
            </a:outerShdw>
          </a:effectLst>
        </p:spPr>
        <p:txBody>
          <a:bodyPr/>
          <a:lstStyle/>
          <a:p>
            <a:endParaRPr lang="fr-FR"/>
          </a:p>
        </p:txBody>
      </p:sp>
      <p:sp>
        <p:nvSpPr>
          <p:cNvPr id="53" name="Shape 45"/>
          <p:cNvSpPr/>
          <p:nvPr/>
        </p:nvSpPr>
        <p:spPr>
          <a:xfrm>
            <a:off x="6492240" y="2304288"/>
            <a:ext cx="1572768" cy="237744"/>
          </a:xfrm>
          <a:prstGeom prst="rect">
            <a:avLst/>
          </a:prstGeom>
          <a:solidFill>
            <a:srgbClr val="E07B39"/>
          </a:solidFill>
          <a:ln w="12700">
            <a:solidFill>
              <a:srgbClr val="E07B39"/>
            </a:solidFill>
            <a:prstDash val="solid"/>
          </a:ln>
        </p:spPr>
        <p:txBody>
          <a:bodyPr/>
          <a:lstStyle/>
          <a:p>
            <a:endParaRPr lang="fr-FR"/>
          </a:p>
        </p:txBody>
      </p:sp>
      <p:sp>
        <p:nvSpPr>
          <p:cNvPr id="54" name="Text 46"/>
          <p:cNvSpPr/>
          <p:nvPr/>
        </p:nvSpPr>
        <p:spPr>
          <a:xfrm>
            <a:off x="6492240" y="2304288"/>
            <a:ext cx="1572768"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ML Model</a:t>
            </a:r>
            <a:endParaRPr lang="en-US" sz="950" dirty="0"/>
          </a:p>
        </p:txBody>
      </p:sp>
      <p:sp>
        <p:nvSpPr>
          <p:cNvPr id="55" name="Text 47"/>
          <p:cNvSpPr/>
          <p:nvPr/>
        </p:nvSpPr>
        <p:spPr>
          <a:xfrm>
            <a:off x="6492240" y="2560320"/>
            <a:ext cx="1572768" cy="493776"/>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GradientBoost</a:t>
            </a:r>
            <a:endParaRPr lang="en-US" sz="850" dirty="0"/>
          </a:p>
        </p:txBody>
      </p:sp>
      <p:sp>
        <p:nvSpPr>
          <p:cNvPr id="56" name="Shape 48"/>
          <p:cNvSpPr/>
          <p:nvPr/>
        </p:nvSpPr>
        <p:spPr>
          <a:xfrm>
            <a:off x="4709160" y="1847088"/>
            <a:ext cx="0" cy="457200"/>
          </a:xfrm>
          <a:prstGeom prst="line">
            <a:avLst/>
          </a:prstGeom>
          <a:noFill/>
          <a:ln w="12700">
            <a:solidFill>
              <a:srgbClr val="CBD5E1"/>
            </a:solidFill>
            <a:prstDash val="dash"/>
          </a:ln>
        </p:spPr>
        <p:txBody>
          <a:bodyPr/>
          <a:lstStyle/>
          <a:p>
            <a:endParaRPr lang="fr-FR"/>
          </a:p>
        </p:txBody>
      </p:sp>
      <p:sp>
        <p:nvSpPr>
          <p:cNvPr id="57" name="Shape 49"/>
          <p:cNvSpPr/>
          <p:nvPr/>
        </p:nvSpPr>
        <p:spPr>
          <a:xfrm>
            <a:off x="0" y="4809744"/>
            <a:ext cx="9144000" cy="329184"/>
          </a:xfrm>
          <a:prstGeom prst="rect">
            <a:avLst/>
          </a:prstGeom>
          <a:solidFill>
            <a:srgbClr val="0D1B2A"/>
          </a:solidFill>
          <a:ln w="12700">
            <a:solidFill>
              <a:srgbClr val="0D1B2A"/>
            </a:solidFill>
            <a:prstDash val="solid"/>
          </a:ln>
        </p:spPr>
        <p:txBody>
          <a:bodyPr/>
          <a:lstStyle/>
          <a:p>
            <a:endParaRPr lang="fr-FR"/>
          </a:p>
        </p:txBody>
      </p:sp>
      <p:sp>
        <p:nvSpPr>
          <p:cNvPr id="58" name="Text 50"/>
          <p:cNvSpPr/>
          <p:nvPr/>
        </p:nvSpPr>
        <p:spPr>
          <a:xfrm>
            <a:off x="274320" y="4809744"/>
            <a:ext cx="8595360"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  docker compose up --build -d · 7 services Compose + Ollama optionnel · stack complète</a:t>
            </a:r>
            <a:endParaRPr lang="en-US" sz="1000" dirty="0"/>
          </a:p>
        </p:txBody>
      </p:sp>
      <p:sp>
        <p:nvSpPr>
          <p:cNvPr id="59" name="Shape 51"/>
          <p:cNvSpPr/>
          <p:nvPr/>
        </p:nvSpPr>
        <p:spPr>
          <a:xfrm>
            <a:off x="137160" y="3246120"/>
            <a:ext cx="8869680" cy="14630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60" name="Shape 52"/>
          <p:cNvSpPr/>
          <p:nvPr/>
        </p:nvSpPr>
        <p:spPr>
          <a:xfrm>
            <a:off x="137160" y="3246120"/>
            <a:ext cx="64008" cy="1463040"/>
          </a:xfrm>
          <a:prstGeom prst="rect">
            <a:avLst/>
          </a:prstGeom>
          <a:solidFill>
            <a:srgbClr val="028090"/>
          </a:solidFill>
          <a:ln w="12700">
            <a:solidFill>
              <a:srgbClr val="028090"/>
            </a:solidFill>
            <a:prstDash val="solid"/>
          </a:ln>
        </p:spPr>
        <p:txBody>
          <a:bodyPr/>
          <a:lstStyle/>
          <a:p>
            <a:endParaRPr lang="fr-FR"/>
          </a:p>
        </p:txBody>
      </p:sp>
      <p:sp>
        <p:nvSpPr>
          <p:cNvPr id="61" name="Text 53"/>
          <p:cNvSpPr/>
          <p:nvPr/>
        </p:nvSpPr>
        <p:spPr>
          <a:xfrm>
            <a:off x="292608" y="3291840"/>
            <a:ext cx="859536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Pipeline A2A — 7 agents spécialisés en chaîne</a:t>
            </a:r>
            <a:endParaRPr lang="en-US" sz="1100" dirty="0"/>
          </a:p>
        </p:txBody>
      </p:sp>
      <p:sp>
        <p:nvSpPr>
          <p:cNvPr id="62" name="Shape 54"/>
          <p:cNvSpPr/>
          <p:nvPr/>
        </p:nvSpPr>
        <p:spPr>
          <a:xfrm>
            <a:off x="256032" y="3611880"/>
            <a:ext cx="1170432" cy="274320"/>
          </a:xfrm>
          <a:prstGeom prst="rect">
            <a:avLst/>
          </a:prstGeom>
          <a:solidFill>
            <a:srgbClr val="64748B"/>
          </a:solidFill>
          <a:ln w="12700">
            <a:solidFill>
              <a:srgbClr val="64748B"/>
            </a:solidFill>
            <a:prstDash val="solid"/>
          </a:ln>
        </p:spPr>
        <p:txBody>
          <a:bodyPr/>
          <a:lstStyle/>
          <a:p>
            <a:endParaRPr lang="fr-FR"/>
          </a:p>
        </p:txBody>
      </p:sp>
      <p:sp>
        <p:nvSpPr>
          <p:cNvPr id="63" name="Text 55"/>
          <p:cNvSpPr/>
          <p:nvPr/>
        </p:nvSpPr>
        <p:spPr>
          <a:xfrm>
            <a:off x="256032" y="3611880"/>
            <a:ext cx="1170432"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0 Contexte+Profil</a:t>
            </a:r>
            <a:endParaRPr lang="en-US" sz="750" dirty="0"/>
          </a:p>
        </p:txBody>
      </p:sp>
      <p:sp>
        <p:nvSpPr>
          <p:cNvPr id="64" name="Text 56"/>
          <p:cNvSpPr/>
          <p:nvPr/>
        </p:nvSpPr>
        <p:spPr>
          <a:xfrm>
            <a:off x="1426464" y="3630168"/>
            <a:ext cx="91440" cy="219456"/>
          </a:xfrm>
          <a:prstGeom prst="rect">
            <a:avLst/>
          </a:prstGeom>
          <a:noFill/>
          <a:ln/>
        </p:spPr>
        <p:txBody>
          <a:bodyPr wrap="square" lIns="0" tIns="0" rIns="0" bIns="0" rtlCol="0" anchor="ctr"/>
          <a:lstStyle/>
          <a:p>
            <a:pPr marL="0" indent="0" algn="ctr">
              <a:buNone/>
            </a:pPr>
            <a:r>
              <a:rPr lang="en-US" sz="1000" dirty="0">
                <a:solidFill>
                  <a:srgbClr val="64748B"/>
                </a:solidFill>
              </a:rPr>
              <a:t>→</a:t>
            </a:r>
            <a:endParaRPr lang="en-US" sz="1000" dirty="0"/>
          </a:p>
        </p:txBody>
      </p:sp>
      <p:sp>
        <p:nvSpPr>
          <p:cNvPr id="65" name="Shape 57"/>
          <p:cNvSpPr/>
          <p:nvPr/>
        </p:nvSpPr>
        <p:spPr>
          <a:xfrm>
            <a:off x="1517904" y="3611880"/>
            <a:ext cx="1170432" cy="274320"/>
          </a:xfrm>
          <a:prstGeom prst="rect">
            <a:avLst/>
          </a:prstGeom>
          <a:solidFill>
            <a:srgbClr val="028090"/>
          </a:solidFill>
          <a:ln w="12700">
            <a:solidFill>
              <a:srgbClr val="028090"/>
            </a:solidFill>
            <a:prstDash val="solid"/>
          </a:ln>
        </p:spPr>
        <p:txBody>
          <a:bodyPr/>
          <a:lstStyle/>
          <a:p>
            <a:endParaRPr lang="fr-FR"/>
          </a:p>
        </p:txBody>
      </p:sp>
      <p:sp>
        <p:nvSpPr>
          <p:cNvPr id="66" name="Text 58"/>
          <p:cNvSpPr/>
          <p:nvPr/>
        </p:nvSpPr>
        <p:spPr>
          <a:xfrm>
            <a:off x="1517904" y="3611880"/>
            <a:ext cx="1170432"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1 Hémodynamique</a:t>
            </a:r>
            <a:endParaRPr lang="en-US" sz="750" dirty="0"/>
          </a:p>
        </p:txBody>
      </p:sp>
      <p:sp>
        <p:nvSpPr>
          <p:cNvPr id="67" name="Text 59"/>
          <p:cNvSpPr/>
          <p:nvPr/>
        </p:nvSpPr>
        <p:spPr>
          <a:xfrm>
            <a:off x="2688336" y="3630168"/>
            <a:ext cx="91440" cy="219456"/>
          </a:xfrm>
          <a:prstGeom prst="rect">
            <a:avLst/>
          </a:prstGeom>
          <a:noFill/>
          <a:ln/>
        </p:spPr>
        <p:txBody>
          <a:bodyPr wrap="square" lIns="0" tIns="0" rIns="0" bIns="0" rtlCol="0" anchor="ctr"/>
          <a:lstStyle/>
          <a:p>
            <a:pPr marL="0" indent="0" algn="ctr">
              <a:buNone/>
            </a:pPr>
            <a:r>
              <a:rPr lang="en-US" sz="1000" dirty="0">
                <a:solidFill>
                  <a:srgbClr val="64748B"/>
                </a:solidFill>
              </a:rPr>
              <a:t>→</a:t>
            </a:r>
            <a:endParaRPr lang="en-US" sz="1000" dirty="0"/>
          </a:p>
        </p:txBody>
      </p:sp>
      <p:sp>
        <p:nvSpPr>
          <p:cNvPr id="68" name="Shape 60"/>
          <p:cNvSpPr/>
          <p:nvPr/>
        </p:nvSpPr>
        <p:spPr>
          <a:xfrm>
            <a:off x="2779776" y="3611880"/>
            <a:ext cx="1170432" cy="274320"/>
          </a:xfrm>
          <a:prstGeom prst="rect">
            <a:avLst/>
          </a:prstGeom>
          <a:solidFill>
            <a:srgbClr val="1D9E75"/>
          </a:solidFill>
          <a:ln w="12700">
            <a:solidFill>
              <a:srgbClr val="1D9E75"/>
            </a:solidFill>
            <a:prstDash val="solid"/>
          </a:ln>
        </p:spPr>
        <p:txBody>
          <a:bodyPr/>
          <a:lstStyle/>
          <a:p>
            <a:endParaRPr lang="fr-FR"/>
          </a:p>
        </p:txBody>
      </p:sp>
      <p:sp>
        <p:nvSpPr>
          <p:cNvPr id="69" name="Text 61"/>
          <p:cNvSpPr/>
          <p:nvPr/>
        </p:nvSpPr>
        <p:spPr>
          <a:xfrm>
            <a:off x="2779776" y="3611880"/>
            <a:ext cx="1170432"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2 Antécédents+CAT</a:t>
            </a:r>
            <a:endParaRPr lang="en-US" sz="750" dirty="0"/>
          </a:p>
        </p:txBody>
      </p:sp>
      <p:sp>
        <p:nvSpPr>
          <p:cNvPr id="70" name="Text 62"/>
          <p:cNvSpPr/>
          <p:nvPr/>
        </p:nvSpPr>
        <p:spPr>
          <a:xfrm>
            <a:off x="3950208" y="3630168"/>
            <a:ext cx="91440" cy="219456"/>
          </a:xfrm>
          <a:prstGeom prst="rect">
            <a:avLst/>
          </a:prstGeom>
          <a:noFill/>
          <a:ln/>
        </p:spPr>
        <p:txBody>
          <a:bodyPr wrap="square" lIns="0" tIns="0" rIns="0" bIns="0" rtlCol="0" anchor="ctr"/>
          <a:lstStyle/>
          <a:p>
            <a:pPr marL="0" indent="0" algn="ctr">
              <a:buNone/>
            </a:pPr>
            <a:r>
              <a:rPr lang="en-US" sz="1000" dirty="0">
                <a:solidFill>
                  <a:srgbClr val="64748B"/>
                </a:solidFill>
              </a:rPr>
              <a:t>→</a:t>
            </a:r>
            <a:endParaRPr lang="en-US" sz="1000" dirty="0"/>
          </a:p>
        </p:txBody>
      </p:sp>
      <p:sp>
        <p:nvSpPr>
          <p:cNvPr id="71" name="Shape 63"/>
          <p:cNvSpPr/>
          <p:nvPr/>
        </p:nvSpPr>
        <p:spPr>
          <a:xfrm>
            <a:off x="4041648" y="3611880"/>
            <a:ext cx="1170432" cy="274320"/>
          </a:xfrm>
          <a:prstGeom prst="rect">
            <a:avLst/>
          </a:prstGeom>
          <a:solidFill>
            <a:srgbClr val="E07B39"/>
          </a:solidFill>
          <a:ln w="12700">
            <a:solidFill>
              <a:srgbClr val="E07B39"/>
            </a:solidFill>
            <a:prstDash val="solid"/>
          </a:ln>
        </p:spPr>
        <p:txBody>
          <a:bodyPr/>
          <a:lstStyle/>
          <a:p>
            <a:endParaRPr lang="fr-FR"/>
          </a:p>
        </p:txBody>
      </p:sp>
      <p:sp>
        <p:nvSpPr>
          <p:cNvPr id="72" name="Text 64"/>
          <p:cNvSpPr/>
          <p:nvPr/>
        </p:nvSpPr>
        <p:spPr>
          <a:xfrm>
            <a:off x="4041648" y="3611880"/>
            <a:ext cx="1170432"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3 Comportement 30-60min</a:t>
            </a:r>
            <a:endParaRPr lang="en-US" sz="750" dirty="0"/>
          </a:p>
        </p:txBody>
      </p:sp>
      <p:sp>
        <p:nvSpPr>
          <p:cNvPr id="73" name="Text 65"/>
          <p:cNvSpPr/>
          <p:nvPr/>
        </p:nvSpPr>
        <p:spPr>
          <a:xfrm>
            <a:off x="5212080" y="3630168"/>
            <a:ext cx="91440" cy="219456"/>
          </a:xfrm>
          <a:prstGeom prst="rect">
            <a:avLst/>
          </a:prstGeom>
          <a:noFill/>
          <a:ln/>
        </p:spPr>
        <p:txBody>
          <a:bodyPr wrap="square" lIns="0" tIns="0" rIns="0" bIns="0" rtlCol="0" anchor="ctr"/>
          <a:lstStyle/>
          <a:p>
            <a:pPr marL="0" indent="0" algn="ctr">
              <a:buNone/>
            </a:pPr>
            <a:r>
              <a:rPr lang="en-US" sz="1000" dirty="0">
                <a:solidFill>
                  <a:srgbClr val="64748B"/>
                </a:solidFill>
              </a:rPr>
              <a:t>→</a:t>
            </a:r>
            <a:endParaRPr lang="en-US" sz="1000" dirty="0"/>
          </a:p>
        </p:txBody>
      </p:sp>
      <p:sp>
        <p:nvSpPr>
          <p:cNvPr id="74" name="Shape 66"/>
          <p:cNvSpPr/>
          <p:nvPr/>
        </p:nvSpPr>
        <p:spPr>
          <a:xfrm>
            <a:off x="5303520" y="3611880"/>
            <a:ext cx="1170432" cy="274320"/>
          </a:xfrm>
          <a:prstGeom prst="rect">
            <a:avLst/>
          </a:prstGeom>
          <a:solidFill>
            <a:srgbClr val="6B48A8"/>
          </a:solidFill>
          <a:ln w="12700">
            <a:solidFill>
              <a:srgbClr val="6B48A8"/>
            </a:solidFill>
            <a:prstDash val="solid"/>
          </a:ln>
        </p:spPr>
        <p:txBody>
          <a:bodyPr/>
          <a:lstStyle/>
          <a:p>
            <a:endParaRPr lang="fr-FR"/>
          </a:p>
        </p:txBody>
      </p:sp>
      <p:sp>
        <p:nvSpPr>
          <p:cNvPr id="75" name="Text 67"/>
          <p:cNvSpPr/>
          <p:nvPr/>
        </p:nvSpPr>
        <p:spPr>
          <a:xfrm>
            <a:off x="5303520" y="3611880"/>
            <a:ext cx="1170432"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4 Prédiction ML</a:t>
            </a:r>
            <a:endParaRPr lang="en-US" sz="750" dirty="0"/>
          </a:p>
        </p:txBody>
      </p:sp>
      <p:sp>
        <p:nvSpPr>
          <p:cNvPr id="76" name="Text 68"/>
          <p:cNvSpPr/>
          <p:nvPr/>
        </p:nvSpPr>
        <p:spPr>
          <a:xfrm>
            <a:off x="6473952" y="3630168"/>
            <a:ext cx="91440" cy="219456"/>
          </a:xfrm>
          <a:prstGeom prst="rect">
            <a:avLst/>
          </a:prstGeom>
          <a:noFill/>
          <a:ln/>
        </p:spPr>
        <p:txBody>
          <a:bodyPr wrap="square" lIns="0" tIns="0" rIns="0" bIns="0" rtlCol="0" anchor="ctr"/>
          <a:lstStyle/>
          <a:p>
            <a:pPr marL="0" indent="0" algn="ctr">
              <a:buNone/>
            </a:pPr>
            <a:r>
              <a:rPr lang="en-US" sz="1000" dirty="0">
                <a:solidFill>
                  <a:srgbClr val="64748B"/>
                </a:solidFill>
              </a:rPr>
              <a:t>→</a:t>
            </a:r>
            <a:endParaRPr lang="en-US" sz="1000" dirty="0"/>
          </a:p>
        </p:txBody>
      </p:sp>
      <p:sp>
        <p:nvSpPr>
          <p:cNvPr id="77" name="Shape 69"/>
          <p:cNvSpPr/>
          <p:nvPr/>
        </p:nvSpPr>
        <p:spPr>
          <a:xfrm>
            <a:off x="6565392" y="3611880"/>
            <a:ext cx="1170432" cy="274320"/>
          </a:xfrm>
          <a:prstGeom prst="rect">
            <a:avLst/>
          </a:prstGeom>
          <a:solidFill>
            <a:srgbClr val="BA7517"/>
          </a:solidFill>
          <a:ln w="12700">
            <a:solidFill>
              <a:srgbClr val="BA7517"/>
            </a:solidFill>
            <a:prstDash val="solid"/>
          </a:ln>
        </p:spPr>
        <p:txBody>
          <a:bodyPr/>
          <a:lstStyle/>
          <a:p>
            <a:endParaRPr lang="fr-FR"/>
          </a:p>
        </p:txBody>
      </p:sp>
      <p:sp>
        <p:nvSpPr>
          <p:cNvPr id="78" name="Text 70"/>
          <p:cNvSpPr/>
          <p:nvPr/>
        </p:nvSpPr>
        <p:spPr>
          <a:xfrm>
            <a:off x="6565392" y="3611880"/>
            <a:ext cx="1170432"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5 Historique 30j</a:t>
            </a:r>
            <a:endParaRPr lang="en-US" sz="750" dirty="0"/>
          </a:p>
        </p:txBody>
      </p:sp>
      <p:sp>
        <p:nvSpPr>
          <p:cNvPr id="79" name="Text 71"/>
          <p:cNvSpPr/>
          <p:nvPr/>
        </p:nvSpPr>
        <p:spPr>
          <a:xfrm>
            <a:off x="7735824" y="3630168"/>
            <a:ext cx="91440" cy="219456"/>
          </a:xfrm>
          <a:prstGeom prst="rect">
            <a:avLst/>
          </a:prstGeom>
          <a:noFill/>
          <a:ln/>
        </p:spPr>
        <p:txBody>
          <a:bodyPr wrap="square" lIns="0" tIns="0" rIns="0" bIns="0" rtlCol="0" anchor="ctr"/>
          <a:lstStyle/>
          <a:p>
            <a:pPr marL="0" indent="0" algn="ctr">
              <a:buNone/>
            </a:pPr>
            <a:r>
              <a:rPr lang="en-US" sz="1000" dirty="0">
                <a:solidFill>
                  <a:srgbClr val="64748B"/>
                </a:solidFill>
              </a:rPr>
              <a:t>→</a:t>
            </a:r>
            <a:endParaRPr lang="en-US" sz="1000" dirty="0"/>
          </a:p>
        </p:txBody>
      </p:sp>
      <p:sp>
        <p:nvSpPr>
          <p:cNvPr id="80" name="Shape 72"/>
          <p:cNvSpPr/>
          <p:nvPr/>
        </p:nvSpPr>
        <p:spPr>
          <a:xfrm>
            <a:off x="7827264" y="3611880"/>
            <a:ext cx="1170432" cy="274320"/>
          </a:xfrm>
          <a:prstGeom prst="rect">
            <a:avLst/>
          </a:prstGeom>
          <a:solidFill>
            <a:srgbClr val="1B3A5C"/>
          </a:solidFill>
          <a:ln w="12700">
            <a:solidFill>
              <a:srgbClr val="1B3A5C"/>
            </a:solidFill>
            <a:prstDash val="solid"/>
          </a:ln>
        </p:spPr>
        <p:txBody>
          <a:bodyPr/>
          <a:lstStyle/>
          <a:p>
            <a:endParaRPr lang="fr-FR"/>
          </a:p>
        </p:txBody>
      </p:sp>
      <p:sp>
        <p:nvSpPr>
          <p:cNvPr id="81" name="Text 73"/>
          <p:cNvSpPr/>
          <p:nvPr/>
        </p:nvSpPr>
        <p:spPr>
          <a:xfrm>
            <a:off x="7827264" y="3611880"/>
            <a:ext cx="1170432"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6 Synthèse finale</a:t>
            </a:r>
            <a:endParaRPr lang="en-US" sz="750" dirty="0"/>
          </a:p>
        </p:txBody>
      </p:sp>
      <p:sp>
        <p:nvSpPr>
          <p:cNvPr id="82" name="Text 74"/>
          <p:cNvSpPr/>
          <p:nvPr/>
        </p:nvSpPr>
        <p:spPr>
          <a:xfrm>
            <a:off x="292608" y="4005072"/>
            <a:ext cx="8595360" cy="201168"/>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KB clinique : 15 scénarios HAS/RCP · ml_rule_weights synergies · official_elderly_complications · sensor_field_mapping</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Stack Technique</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182880" y="640080"/>
            <a:ext cx="4315968" cy="117043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6"/>
          <p:cNvSpPr/>
          <p:nvPr/>
        </p:nvSpPr>
        <p:spPr>
          <a:xfrm>
            <a:off x="182880" y="640080"/>
            <a:ext cx="54864" cy="1170432"/>
          </a:xfrm>
          <a:prstGeom prst="rect">
            <a:avLst/>
          </a:prstGeom>
          <a:solidFill>
            <a:srgbClr val="1B3A5C"/>
          </a:solidFill>
          <a:ln w="12700">
            <a:solidFill>
              <a:srgbClr val="1B3A5C"/>
            </a:solidFill>
            <a:prstDash val="solid"/>
          </a:ln>
        </p:spPr>
        <p:txBody>
          <a:bodyPr/>
          <a:lstStyle/>
          <a:p>
            <a:endParaRPr lang="fr-FR"/>
          </a:p>
        </p:txBody>
      </p:sp>
      <p:pic>
        <p:nvPicPr>
          <p:cNvPr id="10" name="Image 1" descr="preencoded.png"/>
          <p:cNvPicPr>
            <a:picLocks noChangeAspect="1"/>
          </p:cNvPicPr>
          <p:nvPr/>
        </p:nvPicPr>
        <p:blipFill>
          <a:blip r:embed="rId4"/>
          <a:stretch>
            <a:fillRect/>
          </a:stretch>
        </p:blipFill>
        <p:spPr>
          <a:xfrm>
            <a:off x="329184" y="932688"/>
            <a:ext cx="420624" cy="420624"/>
          </a:xfrm>
          <a:prstGeom prst="rect">
            <a:avLst/>
          </a:prstGeom>
        </p:spPr>
      </p:pic>
      <p:sp>
        <p:nvSpPr>
          <p:cNvPr id="11" name="Text 7"/>
          <p:cNvSpPr/>
          <p:nvPr/>
        </p:nvSpPr>
        <p:spPr>
          <a:xfrm>
            <a:off x="850392" y="777240"/>
            <a:ext cx="347472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Simulateur</a:t>
            </a:r>
            <a:endParaRPr lang="en-US" sz="1300" dirty="0"/>
          </a:p>
        </p:txBody>
      </p:sp>
      <p:sp>
        <p:nvSpPr>
          <p:cNvPr id="12" name="Text 8"/>
          <p:cNvSpPr/>
          <p:nvPr/>
        </p:nvSpPr>
        <p:spPr>
          <a:xfrm>
            <a:off x="850392" y="1051560"/>
            <a:ext cx="3474720" cy="201168"/>
          </a:xfrm>
          <a:prstGeom prst="rect">
            <a:avLst/>
          </a:prstGeom>
          <a:noFill/>
          <a:ln/>
        </p:spPr>
        <p:txBody>
          <a:bodyPr wrap="square" lIns="0" tIns="0" rIns="0" bIns="0" rtlCol="0" anchor="ctr"/>
          <a:lstStyle/>
          <a:p>
            <a:pPr marL="0" indent="0">
              <a:buNone/>
            </a:pPr>
            <a:r>
              <a:rPr lang="en-US" sz="1000" b="1" dirty="0">
                <a:solidFill>
                  <a:srgbClr val="1B3A5C"/>
                </a:solidFill>
                <a:latin typeface="Calibri" pitchFamily="34" charset="0"/>
                <a:ea typeface="Calibri" pitchFamily="34" charset="-122"/>
                <a:cs typeface="Calibri" pitchFamily="34" charset="-120"/>
              </a:rPr>
              <a:t>Python · paho-mqtt</a:t>
            </a:r>
            <a:endParaRPr lang="en-US" sz="1000" dirty="0"/>
          </a:p>
        </p:txBody>
      </p:sp>
      <p:sp>
        <p:nvSpPr>
          <p:cNvPr id="13" name="Text 9"/>
          <p:cNvSpPr/>
          <p:nvPr/>
        </p:nvSpPr>
        <p:spPr>
          <a:xfrm>
            <a:off x="850392" y="1261872"/>
            <a:ext cx="3474720" cy="47548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25 résidents · 6 constantes vitales · 15 scénarios cliniques · trajectoires POST-OP / EHPAD</a:t>
            </a:r>
            <a:endParaRPr lang="en-US" sz="950" dirty="0"/>
          </a:p>
        </p:txBody>
      </p:sp>
      <p:sp>
        <p:nvSpPr>
          <p:cNvPr id="14" name="Shape 10"/>
          <p:cNvSpPr/>
          <p:nvPr/>
        </p:nvSpPr>
        <p:spPr>
          <a:xfrm>
            <a:off x="4645152" y="640080"/>
            <a:ext cx="4315968" cy="117043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5" name="Shape 11"/>
          <p:cNvSpPr/>
          <p:nvPr/>
        </p:nvSpPr>
        <p:spPr>
          <a:xfrm>
            <a:off x="4645152" y="640080"/>
            <a:ext cx="54864" cy="1170432"/>
          </a:xfrm>
          <a:prstGeom prst="rect">
            <a:avLst/>
          </a:prstGeom>
          <a:solidFill>
            <a:srgbClr val="028090"/>
          </a:solidFill>
          <a:ln w="12700">
            <a:solidFill>
              <a:srgbClr val="028090"/>
            </a:solidFill>
            <a:prstDash val="solid"/>
          </a:ln>
        </p:spPr>
        <p:txBody>
          <a:bodyPr/>
          <a:lstStyle/>
          <a:p>
            <a:endParaRPr lang="fr-FR"/>
          </a:p>
        </p:txBody>
      </p:sp>
      <p:pic>
        <p:nvPicPr>
          <p:cNvPr id="16" name="Image 2" descr="preencoded.png"/>
          <p:cNvPicPr>
            <a:picLocks noChangeAspect="1"/>
          </p:cNvPicPr>
          <p:nvPr/>
        </p:nvPicPr>
        <p:blipFill>
          <a:blip r:embed="rId5"/>
          <a:stretch>
            <a:fillRect/>
          </a:stretch>
        </p:blipFill>
        <p:spPr>
          <a:xfrm>
            <a:off x="4791456" y="932688"/>
            <a:ext cx="420624" cy="420624"/>
          </a:xfrm>
          <a:prstGeom prst="rect">
            <a:avLst/>
          </a:prstGeom>
        </p:spPr>
      </p:pic>
      <p:sp>
        <p:nvSpPr>
          <p:cNvPr id="17" name="Text 12"/>
          <p:cNvSpPr/>
          <p:nvPr/>
        </p:nvSpPr>
        <p:spPr>
          <a:xfrm>
            <a:off x="5312664" y="777240"/>
            <a:ext cx="347472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Transport MQTT</a:t>
            </a:r>
            <a:endParaRPr lang="en-US" sz="1300" dirty="0"/>
          </a:p>
        </p:txBody>
      </p:sp>
      <p:sp>
        <p:nvSpPr>
          <p:cNvPr id="18" name="Text 13"/>
          <p:cNvSpPr/>
          <p:nvPr/>
        </p:nvSpPr>
        <p:spPr>
          <a:xfrm>
            <a:off x="5312664" y="1051560"/>
            <a:ext cx="3474720" cy="201168"/>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Mosquitto sécurisé</a:t>
            </a:r>
            <a:endParaRPr lang="en-US" sz="1000" dirty="0"/>
          </a:p>
        </p:txBody>
      </p:sp>
      <p:sp>
        <p:nvSpPr>
          <p:cNvPr id="19" name="Text 14"/>
          <p:cNvSpPr/>
          <p:nvPr/>
        </p:nvSpPr>
        <p:spPr>
          <a:xfrm>
            <a:off x="5312664" y="1261872"/>
            <a:ext cx="3474720" cy="47548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Comptes MQTT · allow_anonymous false · ACL par rôle · passwd bcrypt · ports 1883/9001 locaux</a:t>
            </a:r>
            <a:endParaRPr lang="en-US" sz="950" dirty="0"/>
          </a:p>
        </p:txBody>
      </p:sp>
      <p:sp>
        <p:nvSpPr>
          <p:cNvPr id="20" name="Shape 15"/>
          <p:cNvSpPr/>
          <p:nvPr/>
        </p:nvSpPr>
        <p:spPr>
          <a:xfrm>
            <a:off x="182880" y="2057400"/>
            <a:ext cx="4315968" cy="117043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1" name="Shape 16"/>
          <p:cNvSpPr/>
          <p:nvPr/>
        </p:nvSpPr>
        <p:spPr>
          <a:xfrm>
            <a:off x="182880" y="2057400"/>
            <a:ext cx="54864" cy="1170432"/>
          </a:xfrm>
          <a:prstGeom prst="rect">
            <a:avLst/>
          </a:prstGeom>
          <a:solidFill>
            <a:srgbClr val="E07B39"/>
          </a:solidFill>
          <a:ln w="12700">
            <a:solidFill>
              <a:srgbClr val="E07B39"/>
            </a:solidFill>
            <a:prstDash val="solid"/>
          </a:ln>
        </p:spPr>
        <p:txBody>
          <a:bodyPr/>
          <a:lstStyle/>
          <a:p>
            <a:endParaRPr lang="fr-FR"/>
          </a:p>
        </p:txBody>
      </p:sp>
      <p:pic>
        <p:nvPicPr>
          <p:cNvPr id="22" name="Image 3" descr="preencoded.png"/>
          <p:cNvPicPr>
            <a:picLocks noChangeAspect="1"/>
          </p:cNvPicPr>
          <p:nvPr/>
        </p:nvPicPr>
        <p:blipFill>
          <a:blip r:embed="rId6"/>
          <a:stretch>
            <a:fillRect/>
          </a:stretch>
        </p:blipFill>
        <p:spPr>
          <a:xfrm>
            <a:off x="329184" y="2350008"/>
            <a:ext cx="420624" cy="420624"/>
          </a:xfrm>
          <a:prstGeom prst="rect">
            <a:avLst/>
          </a:prstGeom>
        </p:spPr>
      </p:pic>
      <p:sp>
        <p:nvSpPr>
          <p:cNvPr id="23" name="Text 17"/>
          <p:cNvSpPr/>
          <p:nvPr/>
        </p:nvSpPr>
        <p:spPr>
          <a:xfrm>
            <a:off x="850392" y="2194560"/>
            <a:ext cx="347472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Backend</a:t>
            </a:r>
            <a:endParaRPr lang="en-US" sz="1300" dirty="0"/>
          </a:p>
        </p:txBody>
      </p:sp>
      <p:sp>
        <p:nvSpPr>
          <p:cNvPr id="24" name="Text 18"/>
          <p:cNvSpPr/>
          <p:nvPr/>
        </p:nvSpPr>
        <p:spPr>
          <a:xfrm>
            <a:off x="850392" y="2468880"/>
            <a:ext cx="3474720" cy="201168"/>
          </a:xfrm>
          <a:prstGeom prst="rect">
            <a:avLst/>
          </a:prstGeom>
          <a:noFill/>
          <a:ln/>
        </p:spPr>
        <p:txBody>
          <a:bodyPr wrap="square" lIns="0" tIns="0" rIns="0" bIns="0" rtlCol="0" anchor="ctr"/>
          <a:lstStyle/>
          <a:p>
            <a:pPr marL="0" indent="0">
              <a:buNone/>
            </a:pPr>
            <a:r>
              <a:rPr lang="en-US" sz="1000" b="1" dirty="0">
                <a:solidFill>
                  <a:srgbClr val="E07B39"/>
                </a:solidFill>
                <a:latin typeface="Calibri" pitchFamily="34" charset="0"/>
                <a:ea typeface="Calibri" pitchFamily="34" charset="-122"/>
                <a:cs typeface="Calibri" pitchFamily="34" charset="-120"/>
              </a:rPr>
              <a:t>FastAPI + WebSocket</a:t>
            </a:r>
            <a:endParaRPr lang="en-US" sz="1000" dirty="0"/>
          </a:p>
        </p:txBody>
      </p:sp>
      <p:sp>
        <p:nvSpPr>
          <p:cNvPr id="25" name="Text 19"/>
          <p:cNvSpPr/>
          <p:nvPr/>
        </p:nvSpPr>
        <p:spPr>
          <a:xfrm>
            <a:off x="850392" y="2679192"/>
            <a:ext cx="3474720" cy="47548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7 agents A2A · NEWS2 · ML GradientBoost · LLM optionnel · Redis + APIRouter</a:t>
            </a:r>
            <a:endParaRPr lang="en-US" sz="950" dirty="0"/>
          </a:p>
        </p:txBody>
      </p:sp>
      <p:sp>
        <p:nvSpPr>
          <p:cNvPr id="26" name="Shape 20"/>
          <p:cNvSpPr/>
          <p:nvPr/>
        </p:nvSpPr>
        <p:spPr>
          <a:xfrm>
            <a:off x="4645152" y="2057400"/>
            <a:ext cx="4315968" cy="117043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7" name="Shape 21"/>
          <p:cNvSpPr/>
          <p:nvPr/>
        </p:nvSpPr>
        <p:spPr>
          <a:xfrm>
            <a:off x="4645152" y="2057400"/>
            <a:ext cx="54864" cy="1170432"/>
          </a:xfrm>
          <a:prstGeom prst="rect">
            <a:avLst/>
          </a:prstGeom>
          <a:solidFill>
            <a:srgbClr val="00A896"/>
          </a:solidFill>
          <a:ln w="12700">
            <a:solidFill>
              <a:srgbClr val="00A896"/>
            </a:solidFill>
            <a:prstDash val="solid"/>
          </a:ln>
        </p:spPr>
        <p:txBody>
          <a:bodyPr/>
          <a:lstStyle/>
          <a:p>
            <a:endParaRPr lang="fr-FR"/>
          </a:p>
        </p:txBody>
      </p:sp>
      <p:pic>
        <p:nvPicPr>
          <p:cNvPr id="28" name="Image 4" descr="preencoded.png"/>
          <p:cNvPicPr>
            <a:picLocks noChangeAspect="1"/>
          </p:cNvPicPr>
          <p:nvPr/>
        </p:nvPicPr>
        <p:blipFill>
          <a:blip r:embed="rId7"/>
          <a:stretch>
            <a:fillRect/>
          </a:stretch>
        </p:blipFill>
        <p:spPr>
          <a:xfrm>
            <a:off x="4791456" y="2350008"/>
            <a:ext cx="420624" cy="420624"/>
          </a:xfrm>
          <a:prstGeom prst="rect">
            <a:avLst/>
          </a:prstGeom>
        </p:spPr>
      </p:pic>
      <p:sp>
        <p:nvSpPr>
          <p:cNvPr id="29" name="Text 22"/>
          <p:cNvSpPr/>
          <p:nvPr/>
        </p:nvSpPr>
        <p:spPr>
          <a:xfrm>
            <a:off x="5312664" y="2194560"/>
            <a:ext cx="347472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Stockage</a:t>
            </a:r>
            <a:endParaRPr lang="en-US" sz="1300" dirty="0"/>
          </a:p>
        </p:txBody>
      </p:sp>
      <p:sp>
        <p:nvSpPr>
          <p:cNvPr id="30" name="Text 23"/>
          <p:cNvSpPr/>
          <p:nvPr/>
        </p:nvSpPr>
        <p:spPr>
          <a:xfrm>
            <a:off x="5312664" y="2468880"/>
            <a:ext cx="3474720" cy="201168"/>
          </a:xfrm>
          <a:prstGeom prst="rect">
            <a:avLst/>
          </a:prstGeom>
          <a:noFill/>
          <a:ln/>
        </p:spPr>
        <p:txBody>
          <a:bodyPr wrap="square" lIns="0" tIns="0" rIns="0" bIns="0"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Redis + InfluxDB</a:t>
            </a:r>
            <a:endParaRPr lang="en-US" sz="1000" dirty="0"/>
          </a:p>
        </p:txBody>
      </p:sp>
      <p:sp>
        <p:nvSpPr>
          <p:cNvPr id="31" name="Text 24"/>
          <p:cNvSpPr/>
          <p:nvPr/>
        </p:nvSpPr>
        <p:spPr>
          <a:xfrm>
            <a:off x="5312664" y="2679192"/>
            <a:ext cx="3474720" cy="47548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Redis état courant TTL · InfluxDB séries temporelles · rétention 365j · volumes persistants</a:t>
            </a:r>
            <a:endParaRPr lang="en-US" sz="950" dirty="0"/>
          </a:p>
        </p:txBody>
      </p:sp>
      <p:sp>
        <p:nvSpPr>
          <p:cNvPr id="32" name="Shape 25"/>
          <p:cNvSpPr/>
          <p:nvPr/>
        </p:nvSpPr>
        <p:spPr>
          <a:xfrm>
            <a:off x="182880" y="3474720"/>
            <a:ext cx="4315968" cy="117043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3" name="Shape 26"/>
          <p:cNvSpPr/>
          <p:nvPr/>
        </p:nvSpPr>
        <p:spPr>
          <a:xfrm>
            <a:off x="182880" y="3474720"/>
            <a:ext cx="54864" cy="1170432"/>
          </a:xfrm>
          <a:prstGeom prst="rect">
            <a:avLst/>
          </a:prstGeom>
          <a:solidFill>
            <a:srgbClr val="6B48A8"/>
          </a:solidFill>
          <a:ln w="12700">
            <a:solidFill>
              <a:srgbClr val="6B48A8"/>
            </a:solidFill>
            <a:prstDash val="solid"/>
          </a:ln>
        </p:spPr>
        <p:txBody>
          <a:bodyPr/>
          <a:lstStyle/>
          <a:p>
            <a:endParaRPr lang="fr-FR"/>
          </a:p>
        </p:txBody>
      </p:sp>
      <p:pic>
        <p:nvPicPr>
          <p:cNvPr id="34" name="Image 5" descr="preencoded.png"/>
          <p:cNvPicPr>
            <a:picLocks noChangeAspect="1"/>
          </p:cNvPicPr>
          <p:nvPr/>
        </p:nvPicPr>
        <p:blipFill>
          <a:blip r:embed="rId8"/>
          <a:stretch>
            <a:fillRect/>
          </a:stretch>
        </p:blipFill>
        <p:spPr>
          <a:xfrm>
            <a:off x="329184" y="3767328"/>
            <a:ext cx="420624" cy="420624"/>
          </a:xfrm>
          <a:prstGeom prst="rect">
            <a:avLst/>
          </a:prstGeom>
        </p:spPr>
      </p:pic>
      <p:sp>
        <p:nvSpPr>
          <p:cNvPr id="35" name="Text 27"/>
          <p:cNvSpPr/>
          <p:nvPr/>
        </p:nvSpPr>
        <p:spPr>
          <a:xfrm>
            <a:off x="850392" y="3611880"/>
            <a:ext cx="347472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Frontend</a:t>
            </a:r>
            <a:endParaRPr lang="en-US" sz="1300" dirty="0"/>
          </a:p>
        </p:txBody>
      </p:sp>
      <p:sp>
        <p:nvSpPr>
          <p:cNvPr id="36" name="Text 28"/>
          <p:cNvSpPr/>
          <p:nvPr/>
        </p:nvSpPr>
        <p:spPr>
          <a:xfrm>
            <a:off x="850392" y="3886200"/>
            <a:ext cx="3474720" cy="201168"/>
          </a:xfrm>
          <a:prstGeom prst="rect">
            <a:avLst/>
          </a:prstGeom>
          <a:noFill/>
          <a:ln/>
        </p:spPr>
        <p:txBody>
          <a:bodyPr wrap="square" lIns="0" tIns="0" rIns="0" bIns="0" rtlCol="0" anchor="ctr"/>
          <a:lstStyle/>
          <a:p>
            <a:pPr marL="0" indent="0">
              <a:buNone/>
            </a:pPr>
            <a:r>
              <a:rPr lang="en-US" sz="1000" b="1" dirty="0">
                <a:solidFill>
                  <a:srgbClr val="6B48A8"/>
                </a:solidFill>
                <a:latin typeface="Calibri" pitchFamily="34" charset="0"/>
                <a:ea typeface="Calibri" pitchFamily="34" charset="-122"/>
                <a:cs typeface="Calibri" pitchFamily="34" charset="-120"/>
              </a:rPr>
              <a:t>HTML/CSS/JS + Express</a:t>
            </a:r>
            <a:endParaRPr lang="en-US" sz="1000" dirty="0"/>
          </a:p>
        </p:txBody>
      </p:sp>
      <p:sp>
        <p:nvSpPr>
          <p:cNvPr id="37" name="Text 29"/>
          <p:cNvSpPr/>
          <p:nvPr/>
        </p:nvSpPr>
        <p:spPr>
          <a:xfrm>
            <a:off x="850392" y="4096512"/>
            <a:ext cx="3474720" cy="47548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Dashboard temps réel · graphes historiques · alertes · portail famille · Web Push VAPID</a:t>
            </a:r>
            <a:endParaRPr lang="en-US" sz="950" dirty="0"/>
          </a:p>
        </p:txBody>
      </p:sp>
      <p:sp>
        <p:nvSpPr>
          <p:cNvPr id="38" name="Shape 30"/>
          <p:cNvSpPr/>
          <p:nvPr/>
        </p:nvSpPr>
        <p:spPr>
          <a:xfrm>
            <a:off x="4645152" y="3474720"/>
            <a:ext cx="4315968" cy="117043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9" name="Shape 31"/>
          <p:cNvSpPr/>
          <p:nvPr/>
        </p:nvSpPr>
        <p:spPr>
          <a:xfrm>
            <a:off x="4645152" y="3474720"/>
            <a:ext cx="54864" cy="1170432"/>
          </a:xfrm>
          <a:prstGeom prst="rect">
            <a:avLst/>
          </a:prstGeom>
          <a:solidFill>
            <a:srgbClr val="E07B39"/>
          </a:solidFill>
          <a:ln w="12700">
            <a:solidFill>
              <a:srgbClr val="E07B39"/>
            </a:solidFill>
            <a:prstDash val="solid"/>
          </a:ln>
        </p:spPr>
        <p:txBody>
          <a:bodyPr/>
          <a:lstStyle/>
          <a:p>
            <a:endParaRPr lang="fr-FR"/>
          </a:p>
        </p:txBody>
      </p:sp>
      <p:pic>
        <p:nvPicPr>
          <p:cNvPr id="40" name="Image 6" descr="preencoded.png"/>
          <p:cNvPicPr>
            <a:picLocks noChangeAspect="1"/>
          </p:cNvPicPr>
          <p:nvPr/>
        </p:nvPicPr>
        <p:blipFill>
          <a:blip r:embed="rId9"/>
          <a:stretch>
            <a:fillRect/>
          </a:stretch>
        </p:blipFill>
        <p:spPr>
          <a:xfrm>
            <a:off x="4791456" y="3767328"/>
            <a:ext cx="420624" cy="420624"/>
          </a:xfrm>
          <a:prstGeom prst="rect">
            <a:avLst/>
          </a:prstGeom>
        </p:spPr>
      </p:pic>
      <p:sp>
        <p:nvSpPr>
          <p:cNvPr id="41" name="Text 32"/>
          <p:cNvSpPr/>
          <p:nvPr/>
        </p:nvSpPr>
        <p:spPr>
          <a:xfrm>
            <a:off x="5312664" y="3611880"/>
            <a:ext cx="347472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IA &amp; ML</a:t>
            </a:r>
            <a:endParaRPr lang="en-US" sz="1300" dirty="0"/>
          </a:p>
        </p:txBody>
      </p:sp>
      <p:sp>
        <p:nvSpPr>
          <p:cNvPr id="42" name="Text 33"/>
          <p:cNvSpPr/>
          <p:nvPr/>
        </p:nvSpPr>
        <p:spPr>
          <a:xfrm>
            <a:off x="5312664" y="3886200"/>
            <a:ext cx="3474720" cy="201168"/>
          </a:xfrm>
          <a:prstGeom prst="rect">
            <a:avLst/>
          </a:prstGeom>
          <a:noFill/>
          <a:ln/>
        </p:spPr>
        <p:txBody>
          <a:bodyPr wrap="square" lIns="0" tIns="0" rIns="0" bIns="0" rtlCol="0" anchor="ctr"/>
          <a:lstStyle/>
          <a:p>
            <a:pPr marL="0" indent="0">
              <a:buNone/>
            </a:pPr>
            <a:r>
              <a:rPr lang="en-US" sz="1000" b="1" dirty="0">
                <a:solidFill>
                  <a:srgbClr val="E07B39"/>
                </a:solidFill>
                <a:latin typeface="Calibri" pitchFamily="34" charset="0"/>
                <a:ea typeface="Calibri" pitchFamily="34" charset="-122"/>
                <a:cs typeface="Calibri" pitchFamily="34" charset="-120"/>
              </a:rPr>
              <a:t>GradientBoost + LLM optionnel</a:t>
            </a:r>
            <a:endParaRPr lang="en-US" sz="1000" dirty="0"/>
          </a:p>
        </p:txBody>
      </p:sp>
      <p:sp>
        <p:nvSpPr>
          <p:cNvPr id="43" name="Text 34"/>
          <p:cNvSpPr/>
          <p:nvPr/>
        </p:nvSpPr>
        <p:spPr>
          <a:xfrm>
            <a:off x="5312664" y="4096512"/>
            <a:ext cx="3474720" cy="47548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Scikit-learn / GradientBoost pour risque 30-60 min · Ollama local optionnel pour synthèses et rapports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Flux Temps Réel — De la Mesure à l'Alerte</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201168" y="640080"/>
            <a:ext cx="1353312" cy="1325880"/>
          </a:xfrm>
          <a:prstGeom prst="rect">
            <a:avLst/>
          </a:prstGeom>
          <a:solidFill>
            <a:srgbClr val="1B3A5C"/>
          </a:solidFill>
          <a:ln w="12700">
            <a:solidFill>
              <a:srgbClr val="1B3A5C"/>
            </a:solidFill>
            <a:prstDash val="solid"/>
          </a:ln>
          <a:effectLst>
            <a:outerShdw blurRad="101600" dist="25400" dir="8100000" algn="bl" rotWithShape="0">
              <a:srgbClr val="000000">
                <a:alpha val="10000"/>
              </a:srgbClr>
            </a:outerShdw>
          </a:effectLst>
        </p:spPr>
        <p:txBody>
          <a:bodyPr/>
          <a:lstStyle/>
          <a:p>
            <a:endParaRPr lang="fr-FR"/>
          </a:p>
        </p:txBody>
      </p:sp>
      <p:sp>
        <p:nvSpPr>
          <p:cNvPr id="9" name="Text 6"/>
          <p:cNvSpPr/>
          <p:nvPr/>
        </p:nvSpPr>
        <p:spPr>
          <a:xfrm>
            <a:off x="201168" y="676656"/>
            <a:ext cx="135331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10" name="Text 7"/>
          <p:cNvSpPr/>
          <p:nvPr/>
        </p:nvSpPr>
        <p:spPr>
          <a:xfrm>
            <a:off x="201168" y="1024128"/>
            <a:ext cx="1353312"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Simulation</a:t>
            </a:r>
            <a:endParaRPr lang="en-US" sz="1000" dirty="0"/>
          </a:p>
        </p:txBody>
      </p:sp>
      <p:sp>
        <p:nvSpPr>
          <p:cNvPr id="11" name="Text 8"/>
          <p:cNvSpPr/>
          <p:nvPr/>
        </p:nvSpPr>
        <p:spPr>
          <a:xfrm>
            <a:off x="201168" y="1335024"/>
            <a:ext cx="1353312" cy="566928"/>
          </a:xfrm>
          <a:prstGeom prst="rect">
            <a:avLst/>
          </a:prstGeom>
          <a:noFill/>
          <a:ln/>
        </p:spPr>
        <p:txBody>
          <a:bodyPr wrap="square" lIns="0" tIns="0" rIns="0" bIns="0" rtlCol="0" anchor="ctr"/>
          <a:lstStyle/>
          <a:p>
            <a:pPr marL="0" indent="0" algn="ctr">
              <a:buNone/>
            </a:pPr>
            <a:r>
              <a:rPr lang="en-US" sz="850" dirty="0">
                <a:solidFill>
                  <a:srgbClr val="D8EDF5"/>
                </a:solidFill>
                <a:latin typeface="Calibri" pitchFamily="34" charset="0"/>
                <a:ea typeface="Calibri" pitchFamily="34" charset="-122"/>
                <a:cs typeface="Calibri" pitchFamily="34" charset="-120"/>
              </a:rPr>
              <a:t>25 résidents</a:t>
            </a:r>
            <a:endParaRPr lang="en-US" sz="850" dirty="0"/>
          </a:p>
          <a:p>
            <a:pPr marL="0" indent="0" algn="ctr">
              <a:buNone/>
            </a:pPr>
            <a:r>
              <a:rPr lang="en-US" sz="850" dirty="0">
                <a:solidFill>
                  <a:srgbClr val="D8EDF5"/>
                </a:solidFill>
                <a:latin typeface="Calibri" pitchFamily="34" charset="0"/>
                <a:ea typeface="Calibri" pitchFamily="34" charset="-122"/>
                <a:cs typeface="Calibri" pitchFamily="34" charset="-120"/>
              </a:rPr>
              <a:t>6 vitaux / 1s</a:t>
            </a:r>
            <a:endParaRPr lang="en-US" sz="850" dirty="0"/>
          </a:p>
        </p:txBody>
      </p:sp>
      <p:sp>
        <p:nvSpPr>
          <p:cNvPr id="12" name="Text 9"/>
          <p:cNvSpPr/>
          <p:nvPr/>
        </p:nvSpPr>
        <p:spPr>
          <a:xfrm>
            <a:off x="1554480" y="987552"/>
            <a:ext cx="128016" cy="27432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13" name="Shape 10"/>
          <p:cNvSpPr/>
          <p:nvPr/>
        </p:nvSpPr>
        <p:spPr>
          <a:xfrm>
            <a:off x="1682496" y="640080"/>
            <a:ext cx="1353312" cy="1325880"/>
          </a:xfrm>
          <a:prstGeom prst="rect">
            <a:avLst/>
          </a:prstGeom>
          <a:solidFill>
            <a:srgbClr val="028090"/>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fr-FR"/>
          </a:p>
        </p:txBody>
      </p:sp>
      <p:sp>
        <p:nvSpPr>
          <p:cNvPr id="14" name="Text 11"/>
          <p:cNvSpPr/>
          <p:nvPr/>
        </p:nvSpPr>
        <p:spPr>
          <a:xfrm>
            <a:off x="1682496" y="676656"/>
            <a:ext cx="135331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5" name="Text 12"/>
          <p:cNvSpPr/>
          <p:nvPr/>
        </p:nvSpPr>
        <p:spPr>
          <a:xfrm>
            <a:off x="1682496" y="1024128"/>
            <a:ext cx="1353312"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MQTT Publish</a:t>
            </a:r>
            <a:endParaRPr lang="en-US" sz="1000" dirty="0"/>
          </a:p>
        </p:txBody>
      </p:sp>
      <p:sp>
        <p:nvSpPr>
          <p:cNvPr id="16" name="Text 13"/>
          <p:cNvSpPr/>
          <p:nvPr/>
        </p:nvSpPr>
        <p:spPr>
          <a:xfrm>
            <a:off x="1682496" y="1335024"/>
            <a:ext cx="1353312" cy="566928"/>
          </a:xfrm>
          <a:prstGeom prst="rect">
            <a:avLst/>
          </a:prstGeom>
          <a:noFill/>
          <a:ln/>
        </p:spPr>
        <p:txBody>
          <a:bodyPr wrap="square" lIns="0" tIns="0" rIns="0" bIns="0" rtlCol="0" anchor="ctr"/>
          <a:lstStyle/>
          <a:p>
            <a:pPr marL="0" indent="0" algn="ctr">
              <a:buNone/>
            </a:pPr>
            <a:r>
              <a:rPr lang="en-US" sz="850" dirty="0">
                <a:solidFill>
                  <a:srgbClr val="D8EDF5"/>
                </a:solidFill>
                <a:latin typeface="Calibri" pitchFamily="34" charset="0"/>
                <a:ea typeface="Calibri" pitchFamily="34" charset="-122"/>
                <a:cs typeface="Calibri" pitchFamily="34" charset="-120"/>
              </a:rPr>
              <a:t>ehpad/residents</a:t>
            </a:r>
            <a:endParaRPr lang="en-US" sz="850" dirty="0"/>
          </a:p>
          <a:p>
            <a:pPr marL="0" indent="0" algn="ctr">
              <a:buNone/>
            </a:pPr>
            <a:r>
              <a:rPr lang="en-US" sz="850" dirty="0">
                <a:solidFill>
                  <a:srgbClr val="D8EDF5"/>
                </a:solidFill>
                <a:latin typeface="Calibri" pitchFamily="34" charset="0"/>
                <a:ea typeface="Calibri" pitchFamily="34" charset="-122"/>
                <a:cs typeface="Calibri" pitchFamily="34" charset="-120"/>
              </a:rPr>
              <a:t>/{id}/vitals</a:t>
            </a:r>
            <a:endParaRPr lang="en-US" sz="850" dirty="0"/>
          </a:p>
        </p:txBody>
      </p:sp>
      <p:sp>
        <p:nvSpPr>
          <p:cNvPr id="17" name="Text 14"/>
          <p:cNvSpPr/>
          <p:nvPr/>
        </p:nvSpPr>
        <p:spPr>
          <a:xfrm>
            <a:off x="3035808" y="987552"/>
            <a:ext cx="128016" cy="27432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18" name="Shape 15"/>
          <p:cNvSpPr/>
          <p:nvPr/>
        </p:nvSpPr>
        <p:spPr>
          <a:xfrm>
            <a:off x="3163824" y="640080"/>
            <a:ext cx="1353312" cy="1325880"/>
          </a:xfrm>
          <a:prstGeom prst="rect">
            <a:avLst/>
          </a:prstGeom>
          <a:solidFill>
            <a:srgbClr val="00A896"/>
          </a:solidFill>
          <a:ln w="12700">
            <a:solidFill>
              <a:srgbClr val="00A896"/>
            </a:solidFill>
            <a:prstDash val="solid"/>
          </a:ln>
          <a:effectLst>
            <a:outerShdw blurRad="101600" dist="25400" dir="8100000" algn="bl" rotWithShape="0">
              <a:srgbClr val="000000">
                <a:alpha val="10000"/>
              </a:srgbClr>
            </a:outerShdw>
          </a:effectLst>
        </p:spPr>
        <p:txBody>
          <a:bodyPr/>
          <a:lstStyle/>
          <a:p>
            <a:endParaRPr lang="fr-FR"/>
          </a:p>
        </p:txBody>
      </p:sp>
      <p:sp>
        <p:nvSpPr>
          <p:cNvPr id="19" name="Text 16"/>
          <p:cNvSpPr/>
          <p:nvPr/>
        </p:nvSpPr>
        <p:spPr>
          <a:xfrm>
            <a:off x="3163824" y="676656"/>
            <a:ext cx="135331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20" name="Text 17"/>
          <p:cNvSpPr/>
          <p:nvPr/>
        </p:nvSpPr>
        <p:spPr>
          <a:xfrm>
            <a:off x="3163824" y="1024128"/>
            <a:ext cx="1353312"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Ingestion</a:t>
            </a:r>
            <a:endParaRPr lang="en-US" sz="1000" dirty="0"/>
          </a:p>
        </p:txBody>
      </p:sp>
      <p:sp>
        <p:nvSpPr>
          <p:cNvPr id="21" name="Text 18"/>
          <p:cNvSpPr/>
          <p:nvPr/>
        </p:nvSpPr>
        <p:spPr>
          <a:xfrm>
            <a:off x="3163824" y="1335024"/>
            <a:ext cx="1353312" cy="566928"/>
          </a:xfrm>
          <a:prstGeom prst="rect">
            <a:avLst/>
          </a:prstGeom>
          <a:noFill/>
          <a:ln/>
        </p:spPr>
        <p:txBody>
          <a:bodyPr wrap="square" lIns="0" tIns="0" rIns="0" bIns="0" rtlCol="0" anchor="ctr"/>
          <a:lstStyle/>
          <a:p>
            <a:pPr marL="0" indent="0" algn="ctr">
              <a:buNone/>
            </a:pPr>
            <a:r>
              <a:rPr lang="en-US" sz="850" dirty="0">
                <a:solidFill>
                  <a:srgbClr val="D8EDF5"/>
                </a:solidFill>
                <a:latin typeface="Calibri" pitchFamily="34" charset="0"/>
                <a:ea typeface="Calibri" pitchFamily="34" charset="-122"/>
                <a:cs typeface="Calibri" pitchFamily="34" charset="-120"/>
              </a:rPr>
              <a:t>on_message()</a:t>
            </a:r>
            <a:endParaRPr lang="en-US" sz="850" dirty="0"/>
          </a:p>
          <a:p>
            <a:pPr marL="0" indent="0" algn="ctr">
              <a:buNone/>
            </a:pPr>
            <a:r>
              <a:rPr lang="en-US" sz="850" dirty="0">
                <a:solidFill>
                  <a:srgbClr val="D8EDF5"/>
                </a:solidFill>
                <a:latin typeface="Calibri" pitchFamily="34" charset="0"/>
                <a:ea typeface="Calibri" pitchFamily="34" charset="-122"/>
                <a:cs typeface="Calibri" pitchFamily="34" charset="-120"/>
              </a:rPr>
              <a:t>parse JSON</a:t>
            </a:r>
            <a:endParaRPr lang="en-US" sz="850" dirty="0"/>
          </a:p>
        </p:txBody>
      </p:sp>
      <p:sp>
        <p:nvSpPr>
          <p:cNvPr id="22" name="Text 19"/>
          <p:cNvSpPr/>
          <p:nvPr/>
        </p:nvSpPr>
        <p:spPr>
          <a:xfrm>
            <a:off x="4517136" y="987552"/>
            <a:ext cx="128016" cy="27432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23" name="Shape 20"/>
          <p:cNvSpPr/>
          <p:nvPr/>
        </p:nvSpPr>
        <p:spPr>
          <a:xfrm>
            <a:off x="4645152" y="640080"/>
            <a:ext cx="1353312" cy="1325880"/>
          </a:xfrm>
          <a:prstGeom prst="rect">
            <a:avLst/>
          </a:prstGeom>
          <a:solidFill>
            <a:srgbClr val="E07B39"/>
          </a:solidFill>
          <a:ln w="12700">
            <a:solidFill>
              <a:srgbClr val="E07B39"/>
            </a:solidFill>
            <a:prstDash val="solid"/>
          </a:ln>
          <a:effectLst>
            <a:outerShdw blurRad="101600" dist="25400" dir="8100000" algn="bl" rotWithShape="0">
              <a:srgbClr val="000000">
                <a:alpha val="10000"/>
              </a:srgbClr>
            </a:outerShdw>
          </a:effectLst>
        </p:spPr>
        <p:txBody>
          <a:bodyPr/>
          <a:lstStyle/>
          <a:p>
            <a:endParaRPr lang="fr-FR"/>
          </a:p>
        </p:txBody>
      </p:sp>
      <p:sp>
        <p:nvSpPr>
          <p:cNvPr id="24" name="Text 21"/>
          <p:cNvSpPr/>
          <p:nvPr/>
        </p:nvSpPr>
        <p:spPr>
          <a:xfrm>
            <a:off x="4645152" y="676656"/>
            <a:ext cx="135331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25" name="Text 22"/>
          <p:cNvSpPr/>
          <p:nvPr/>
        </p:nvSpPr>
        <p:spPr>
          <a:xfrm>
            <a:off x="4645152" y="1024128"/>
            <a:ext cx="1353312"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Stockage</a:t>
            </a:r>
            <a:endParaRPr lang="en-US" sz="1000" dirty="0"/>
          </a:p>
        </p:txBody>
      </p:sp>
      <p:sp>
        <p:nvSpPr>
          <p:cNvPr id="26" name="Text 23"/>
          <p:cNvSpPr/>
          <p:nvPr/>
        </p:nvSpPr>
        <p:spPr>
          <a:xfrm>
            <a:off x="4645152" y="1335024"/>
            <a:ext cx="1353312" cy="566928"/>
          </a:xfrm>
          <a:prstGeom prst="rect">
            <a:avLst/>
          </a:prstGeom>
          <a:noFill/>
          <a:ln/>
        </p:spPr>
        <p:txBody>
          <a:bodyPr wrap="square" lIns="0" tIns="0" rIns="0" bIns="0" rtlCol="0" anchor="ctr"/>
          <a:lstStyle/>
          <a:p>
            <a:pPr marL="0" indent="0" algn="ctr">
              <a:buNone/>
            </a:pPr>
            <a:r>
              <a:rPr lang="en-US" sz="850" dirty="0">
                <a:solidFill>
                  <a:srgbClr val="D8EDF5"/>
                </a:solidFill>
                <a:latin typeface="Calibri" pitchFamily="34" charset="0"/>
                <a:ea typeface="Calibri" pitchFamily="34" charset="-122"/>
                <a:cs typeface="Calibri" pitchFamily="34" charset="-120"/>
              </a:rPr>
              <a:t>Redis setex()</a:t>
            </a:r>
            <a:endParaRPr lang="en-US" sz="850" dirty="0"/>
          </a:p>
          <a:p>
            <a:pPr marL="0" indent="0" algn="ctr">
              <a:buNone/>
            </a:pPr>
            <a:r>
              <a:rPr lang="en-US" sz="850" dirty="0">
                <a:solidFill>
                  <a:srgbClr val="D8EDF5"/>
                </a:solidFill>
                <a:latin typeface="Calibri" pitchFamily="34" charset="0"/>
                <a:ea typeface="Calibri" pitchFamily="34" charset="-122"/>
                <a:cs typeface="Calibri" pitchFamily="34" charset="-120"/>
              </a:rPr>
              <a:t>InfluxDB write</a:t>
            </a:r>
            <a:endParaRPr lang="en-US" sz="850" dirty="0"/>
          </a:p>
        </p:txBody>
      </p:sp>
      <p:sp>
        <p:nvSpPr>
          <p:cNvPr id="27" name="Text 24"/>
          <p:cNvSpPr/>
          <p:nvPr/>
        </p:nvSpPr>
        <p:spPr>
          <a:xfrm>
            <a:off x="5998464" y="987552"/>
            <a:ext cx="128016" cy="27432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28" name="Shape 25"/>
          <p:cNvSpPr/>
          <p:nvPr/>
        </p:nvSpPr>
        <p:spPr>
          <a:xfrm>
            <a:off x="6126480" y="640080"/>
            <a:ext cx="1353312" cy="1325880"/>
          </a:xfrm>
          <a:prstGeom prst="rect">
            <a:avLst/>
          </a:prstGeom>
          <a:solidFill>
            <a:srgbClr val="6B48A8"/>
          </a:solidFill>
          <a:ln w="12700">
            <a:solidFill>
              <a:srgbClr val="6B48A8"/>
            </a:solidFill>
            <a:prstDash val="solid"/>
          </a:ln>
          <a:effectLst>
            <a:outerShdw blurRad="101600" dist="25400" dir="8100000" algn="bl" rotWithShape="0">
              <a:srgbClr val="000000">
                <a:alpha val="10000"/>
              </a:srgbClr>
            </a:outerShdw>
          </a:effectLst>
        </p:spPr>
        <p:txBody>
          <a:bodyPr/>
          <a:lstStyle/>
          <a:p>
            <a:endParaRPr lang="fr-FR"/>
          </a:p>
        </p:txBody>
      </p:sp>
      <p:sp>
        <p:nvSpPr>
          <p:cNvPr id="29" name="Text 26"/>
          <p:cNvSpPr/>
          <p:nvPr/>
        </p:nvSpPr>
        <p:spPr>
          <a:xfrm>
            <a:off x="6126480" y="676656"/>
            <a:ext cx="135331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30" name="Text 27"/>
          <p:cNvSpPr/>
          <p:nvPr/>
        </p:nvSpPr>
        <p:spPr>
          <a:xfrm>
            <a:off x="6126480" y="1024128"/>
            <a:ext cx="1353312"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A2A Pipeline</a:t>
            </a:r>
            <a:endParaRPr lang="en-US" sz="1000" dirty="0"/>
          </a:p>
        </p:txBody>
      </p:sp>
      <p:sp>
        <p:nvSpPr>
          <p:cNvPr id="31" name="Text 28"/>
          <p:cNvSpPr/>
          <p:nvPr/>
        </p:nvSpPr>
        <p:spPr>
          <a:xfrm>
            <a:off x="6126480" y="1335024"/>
            <a:ext cx="1353312" cy="566928"/>
          </a:xfrm>
          <a:prstGeom prst="rect">
            <a:avLst/>
          </a:prstGeom>
          <a:noFill/>
          <a:ln/>
        </p:spPr>
        <p:txBody>
          <a:bodyPr wrap="square" lIns="0" tIns="0" rIns="0" bIns="0" rtlCol="0" anchor="ctr"/>
          <a:lstStyle/>
          <a:p>
            <a:pPr marL="0" indent="0" algn="ctr">
              <a:buNone/>
            </a:pPr>
            <a:r>
              <a:rPr lang="en-US" sz="850" dirty="0">
                <a:solidFill>
                  <a:srgbClr val="D8EDF5"/>
                </a:solidFill>
                <a:latin typeface="Calibri" pitchFamily="34" charset="0"/>
                <a:ea typeface="Calibri" pitchFamily="34" charset="-122"/>
                <a:cs typeface="Calibri" pitchFamily="34" charset="-120"/>
              </a:rPr>
              <a:t>7 agents</a:t>
            </a:r>
            <a:endParaRPr lang="en-US" sz="850" dirty="0"/>
          </a:p>
          <a:p>
            <a:pPr marL="0" indent="0" algn="ctr">
              <a:buNone/>
            </a:pPr>
            <a:r>
              <a:rPr lang="en-US" sz="850" dirty="0">
                <a:solidFill>
                  <a:srgbClr val="D8EDF5"/>
                </a:solidFill>
                <a:latin typeface="Calibri" pitchFamily="34" charset="0"/>
                <a:ea typeface="Calibri" pitchFamily="34" charset="-122"/>
                <a:cs typeface="Calibri" pitchFamily="34" charset="-120"/>
              </a:rPr>
              <a:t>KB clinique</a:t>
            </a:r>
            <a:endParaRPr lang="en-US" sz="850" dirty="0"/>
          </a:p>
        </p:txBody>
      </p:sp>
      <p:sp>
        <p:nvSpPr>
          <p:cNvPr id="32" name="Text 29"/>
          <p:cNvSpPr/>
          <p:nvPr/>
        </p:nvSpPr>
        <p:spPr>
          <a:xfrm>
            <a:off x="7479792" y="987552"/>
            <a:ext cx="128016" cy="27432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33" name="Shape 30"/>
          <p:cNvSpPr/>
          <p:nvPr/>
        </p:nvSpPr>
        <p:spPr>
          <a:xfrm>
            <a:off x="7607808" y="640080"/>
            <a:ext cx="1353312" cy="1325880"/>
          </a:xfrm>
          <a:prstGeom prst="rect">
            <a:avLst/>
          </a:prstGeom>
          <a:solidFill>
            <a:srgbClr val="1D9E75"/>
          </a:solidFill>
          <a:ln w="12700">
            <a:solidFill>
              <a:srgbClr val="1D9E75"/>
            </a:solidFill>
            <a:prstDash val="solid"/>
          </a:ln>
          <a:effectLst>
            <a:outerShdw blurRad="101600" dist="25400" dir="8100000" algn="bl" rotWithShape="0">
              <a:srgbClr val="000000">
                <a:alpha val="10000"/>
              </a:srgbClr>
            </a:outerShdw>
          </a:effectLst>
        </p:spPr>
        <p:txBody>
          <a:bodyPr/>
          <a:lstStyle/>
          <a:p>
            <a:endParaRPr lang="fr-FR"/>
          </a:p>
        </p:txBody>
      </p:sp>
      <p:sp>
        <p:nvSpPr>
          <p:cNvPr id="34" name="Text 31"/>
          <p:cNvSpPr/>
          <p:nvPr/>
        </p:nvSpPr>
        <p:spPr>
          <a:xfrm>
            <a:off x="7607808" y="676656"/>
            <a:ext cx="135331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06</a:t>
            </a:r>
            <a:endParaRPr lang="en-US" sz="2000" dirty="0"/>
          </a:p>
        </p:txBody>
      </p:sp>
      <p:sp>
        <p:nvSpPr>
          <p:cNvPr id="35" name="Text 32"/>
          <p:cNvSpPr/>
          <p:nvPr/>
        </p:nvSpPr>
        <p:spPr>
          <a:xfrm>
            <a:off x="7607808" y="1024128"/>
            <a:ext cx="1353312"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Dashboard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 ML/LLM</a:t>
            </a:r>
            <a:endParaRPr lang="en-US" sz="1000" dirty="0"/>
          </a:p>
        </p:txBody>
      </p:sp>
      <p:sp>
        <p:nvSpPr>
          <p:cNvPr id="36" name="Text 33"/>
          <p:cNvSpPr/>
          <p:nvPr/>
        </p:nvSpPr>
        <p:spPr>
          <a:xfrm>
            <a:off x="7607808" y="1335024"/>
            <a:ext cx="1353312" cy="566928"/>
          </a:xfrm>
          <a:prstGeom prst="rect">
            <a:avLst/>
          </a:prstGeom>
          <a:noFill/>
          <a:ln/>
        </p:spPr>
        <p:txBody>
          <a:bodyPr wrap="square" lIns="0" tIns="0" rIns="0" bIns="0" rtlCol="0" anchor="ctr"/>
          <a:lstStyle/>
          <a:p>
            <a:pPr marL="0" indent="0" algn="ctr">
              <a:buNone/>
            </a:pPr>
            <a:r>
              <a:rPr lang="en-US" sz="850" dirty="0">
                <a:solidFill>
                  <a:srgbClr val="D8EDF5"/>
                </a:solidFill>
                <a:latin typeface="Calibri" pitchFamily="34" charset="0"/>
                <a:ea typeface="Calibri" pitchFamily="34" charset="-122"/>
                <a:cs typeface="Calibri" pitchFamily="34" charset="-120"/>
              </a:rPr>
              <a:t>WebSocket</a:t>
            </a:r>
            <a:endParaRPr lang="en-US" sz="850" dirty="0"/>
          </a:p>
          <a:p>
            <a:pPr marL="0" indent="0" algn="ctr">
              <a:buNone/>
            </a:pPr>
            <a:r>
              <a:rPr lang="en-US" sz="850" dirty="0">
                <a:solidFill>
                  <a:srgbClr val="D8EDF5"/>
                </a:solidFill>
                <a:latin typeface="Calibri" pitchFamily="34" charset="0"/>
                <a:ea typeface="Calibri" pitchFamily="34" charset="-122"/>
                <a:cs typeface="Calibri" pitchFamily="34" charset="-120"/>
              </a:rPr>
              <a:t>LLM optionnel</a:t>
            </a:r>
            <a:endParaRPr lang="en-US" sz="850" dirty="0"/>
          </a:p>
        </p:txBody>
      </p:sp>
      <p:sp>
        <p:nvSpPr>
          <p:cNvPr id="37" name="Text 34"/>
          <p:cNvSpPr/>
          <p:nvPr/>
        </p:nvSpPr>
        <p:spPr>
          <a:xfrm>
            <a:off x="201168" y="2148840"/>
            <a:ext cx="54864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Niveaux d'alerte — NEWS2 clinique</a:t>
            </a:r>
            <a:endParaRPr lang="en-US" sz="1100" dirty="0"/>
          </a:p>
        </p:txBody>
      </p:sp>
      <p:sp>
        <p:nvSpPr>
          <p:cNvPr id="38" name="Shape 35"/>
          <p:cNvSpPr/>
          <p:nvPr/>
        </p:nvSpPr>
        <p:spPr>
          <a:xfrm>
            <a:off x="201168" y="2487168"/>
            <a:ext cx="2816352" cy="548640"/>
          </a:xfrm>
          <a:prstGeom prst="rect">
            <a:avLst/>
          </a:prstGeom>
          <a:solidFill>
            <a:srgbClr val="FFFFFF"/>
          </a:solidFill>
          <a:ln w="12700">
            <a:solidFill>
              <a:srgbClr val="64748B"/>
            </a:solidFill>
            <a:prstDash val="solid"/>
          </a:ln>
          <a:effectLst>
            <a:outerShdw blurRad="101600" dist="25400" dir="8100000" algn="bl" rotWithShape="0">
              <a:srgbClr val="000000">
                <a:alpha val="10000"/>
              </a:srgbClr>
            </a:outerShdw>
          </a:effectLst>
        </p:spPr>
        <p:txBody>
          <a:bodyPr/>
          <a:lstStyle/>
          <a:p>
            <a:endParaRPr lang="fr-FR"/>
          </a:p>
        </p:txBody>
      </p:sp>
      <p:sp>
        <p:nvSpPr>
          <p:cNvPr id="39" name="Shape 36"/>
          <p:cNvSpPr/>
          <p:nvPr/>
        </p:nvSpPr>
        <p:spPr>
          <a:xfrm>
            <a:off x="201168" y="2487168"/>
            <a:ext cx="54864" cy="548640"/>
          </a:xfrm>
          <a:prstGeom prst="rect">
            <a:avLst/>
          </a:prstGeom>
          <a:solidFill>
            <a:srgbClr val="64748B"/>
          </a:solidFill>
          <a:ln w="12700">
            <a:solidFill>
              <a:srgbClr val="64748B"/>
            </a:solidFill>
            <a:prstDash val="solid"/>
          </a:ln>
        </p:spPr>
        <p:txBody>
          <a:bodyPr/>
          <a:lstStyle/>
          <a:p>
            <a:endParaRPr lang="fr-FR"/>
          </a:p>
        </p:txBody>
      </p:sp>
      <p:sp>
        <p:nvSpPr>
          <p:cNvPr id="40" name="Text 37"/>
          <p:cNvSpPr/>
          <p:nvPr/>
        </p:nvSpPr>
        <p:spPr>
          <a:xfrm>
            <a:off x="329184" y="2542032"/>
            <a:ext cx="2633472" cy="219456"/>
          </a:xfrm>
          <a:prstGeom prst="rect">
            <a:avLst/>
          </a:prstGeom>
          <a:noFill/>
          <a:ln/>
        </p:spPr>
        <p:txBody>
          <a:bodyPr wrap="square" lIns="0" tIns="0" rIns="0" bIns="0" rtlCol="0" anchor="ctr"/>
          <a:lstStyle/>
          <a:p>
            <a:pPr marL="0" indent="0">
              <a:buNone/>
            </a:pPr>
            <a:r>
              <a:rPr lang="en-US" sz="1050" b="1" dirty="0">
                <a:solidFill>
                  <a:srgbClr val="64748B"/>
                </a:solidFill>
                <a:latin typeface="Calibri" pitchFamily="34" charset="0"/>
                <a:ea typeface="Calibri" pitchFamily="34" charset="-122"/>
                <a:cs typeface="Calibri" pitchFamily="34" charset="-120"/>
              </a:rPr>
              <a:t>N0 Stable</a:t>
            </a:r>
            <a:endParaRPr lang="en-US" sz="1050" dirty="0"/>
          </a:p>
        </p:txBody>
      </p:sp>
      <p:sp>
        <p:nvSpPr>
          <p:cNvPr id="41" name="Text 38"/>
          <p:cNvSpPr/>
          <p:nvPr/>
        </p:nvSpPr>
        <p:spPr>
          <a:xfrm>
            <a:off x="329184" y="2761488"/>
            <a:ext cx="2633472"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Constantes normales</a:t>
            </a:r>
            <a:endParaRPr lang="en-US" sz="900" dirty="0"/>
          </a:p>
        </p:txBody>
      </p:sp>
      <p:sp>
        <p:nvSpPr>
          <p:cNvPr id="42" name="Shape 39"/>
          <p:cNvSpPr/>
          <p:nvPr/>
        </p:nvSpPr>
        <p:spPr>
          <a:xfrm>
            <a:off x="3145536" y="2487168"/>
            <a:ext cx="2816352" cy="548640"/>
          </a:xfrm>
          <a:prstGeom prst="rect">
            <a:avLst/>
          </a:prstGeom>
          <a:solidFill>
            <a:srgbClr val="FFFFFF"/>
          </a:solidFill>
          <a:ln w="12700">
            <a:solidFill>
              <a:srgbClr val="3B82F6"/>
            </a:solidFill>
            <a:prstDash val="solid"/>
          </a:ln>
          <a:effectLst>
            <a:outerShdw blurRad="101600" dist="25400" dir="8100000" algn="bl" rotWithShape="0">
              <a:srgbClr val="000000">
                <a:alpha val="10000"/>
              </a:srgbClr>
            </a:outerShdw>
          </a:effectLst>
        </p:spPr>
        <p:txBody>
          <a:bodyPr/>
          <a:lstStyle/>
          <a:p>
            <a:endParaRPr lang="fr-FR"/>
          </a:p>
        </p:txBody>
      </p:sp>
      <p:sp>
        <p:nvSpPr>
          <p:cNvPr id="43" name="Shape 40"/>
          <p:cNvSpPr/>
          <p:nvPr/>
        </p:nvSpPr>
        <p:spPr>
          <a:xfrm>
            <a:off x="3145536" y="2487168"/>
            <a:ext cx="54864" cy="548640"/>
          </a:xfrm>
          <a:prstGeom prst="rect">
            <a:avLst/>
          </a:prstGeom>
          <a:solidFill>
            <a:srgbClr val="3B82F6"/>
          </a:solidFill>
          <a:ln w="12700">
            <a:solidFill>
              <a:srgbClr val="3B82F6"/>
            </a:solidFill>
            <a:prstDash val="solid"/>
          </a:ln>
        </p:spPr>
        <p:txBody>
          <a:bodyPr/>
          <a:lstStyle/>
          <a:p>
            <a:endParaRPr lang="fr-FR"/>
          </a:p>
        </p:txBody>
      </p:sp>
      <p:sp>
        <p:nvSpPr>
          <p:cNvPr id="44" name="Text 41"/>
          <p:cNvSpPr/>
          <p:nvPr/>
        </p:nvSpPr>
        <p:spPr>
          <a:xfrm>
            <a:off x="3273552" y="2542032"/>
            <a:ext cx="2633472" cy="219456"/>
          </a:xfrm>
          <a:prstGeom prst="rect">
            <a:avLst/>
          </a:prstGeom>
          <a:noFill/>
          <a:ln/>
        </p:spPr>
        <p:txBody>
          <a:bodyPr wrap="square" lIns="0" tIns="0" rIns="0" bIns="0" rtlCol="0" anchor="ctr"/>
          <a:lstStyle/>
          <a:p>
            <a:pPr marL="0" indent="0">
              <a:buNone/>
            </a:pPr>
            <a:r>
              <a:rPr lang="en-US" sz="1050" b="1" dirty="0">
                <a:solidFill>
                  <a:srgbClr val="3B82F6"/>
                </a:solidFill>
                <a:latin typeface="Calibri" pitchFamily="34" charset="0"/>
                <a:ea typeface="Calibri" pitchFamily="34" charset="-122"/>
                <a:cs typeface="Calibri" pitchFamily="34" charset="-120"/>
              </a:rPr>
              <a:t>N1 Information</a:t>
            </a:r>
            <a:endParaRPr lang="en-US" sz="1050" dirty="0"/>
          </a:p>
        </p:txBody>
      </p:sp>
      <p:sp>
        <p:nvSpPr>
          <p:cNvPr id="45" name="Text 42"/>
          <p:cNvSpPr/>
          <p:nvPr/>
        </p:nvSpPr>
        <p:spPr>
          <a:xfrm>
            <a:off x="3273552" y="2761488"/>
            <a:ext cx="2633472"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Paramètre limite</a:t>
            </a:r>
            <a:endParaRPr lang="en-US" sz="900" dirty="0"/>
          </a:p>
        </p:txBody>
      </p:sp>
      <p:sp>
        <p:nvSpPr>
          <p:cNvPr id="46" name="Shape 43"/>
          <p:cNvSpPr/>
          <p:nvPr/>
        </p:nvSpPr>
        <p:spPr>
          <a:xfrm>
            <a:off x="6089904" y="2487168"/>
            <a:ext cx="2816352" cy="548640"/>
          </a:xfrm>
          <a:prstGeom prst="rect">
            <a:avLst/>
          </a:prstGeom>
          <a:solidFill>
            <a:srgbClr val="FFFFFF"/>
          </a:solidFill>
          <a:ln w="12700">
            <a:solidFill>
              <a:srgbClr val="BA7517"/>
            </a:solidFill>
            <a:prstDash val="solid"/>
          </a:ln>
          <a:effectLst>
            <a:outerShdw blurRad="101600" dist="25400" dir="8100000" algn="bl" rotWithShape="0">
              <a:srgbClr val="000000">
                <a:alpha val="10000"/>
              </a:srgbClr>
            </a:outerShdw>
          </a:effectLst>
        </p:spPr>
        <p:txBody>
          <a:bodyPr/>
          <a:lstStyle/>
          <a:p>
            <a:endParaRPr lang="fr-FR"/>
          </a:p>
        </p:txBody>
      </p:sp>
      <p:sp>
        <p:nvSpPr>
          <p:cNvPr id="47" name="Shape 44"/>
          <p:cNvSpPr/>
          <p:nvPr/>
        </p:nvSpPr>
        <p:spPr>
          <a:xfrm>
            <a:off x="6089904" y="2487168"/>
            <a:ext cx="54864" cy="548640"/>
          </a:xfrm>
          <a:prstGeom prst="rect">
            <a:avLst/>
          </a:prstGeom>
          <a:solidFill>
            <a:srgbClr val="BA7517"/>
          </a:solidFill>
          <a:ln w="12700">
            <a:solidFill>
              <a:srgbClr val="BA7517"/>
            </a:solidFill>
            <a:prstDash val="solid"/>
          </a:ln>
        </p:spPr>
        <p:txBody>
          <a:bodyPr/>
          <a:lstStyle/>
          <a:p>
            <a:endParaRPr lang="fr-FR"/>
          </a:p>
        </p:txBody>
      </p:sp>
      <p:sp>
        <p:nvSpPr>
          <p:cNvPr id="48" name="Text 45"/>
          <p:cNvSpPr/>
          <p:nvPr/>
        </p:nvSpPr>
        <p:spPr>
          <a:xfrm>
            <a:off x="6217920" y="2542032"/>
            <a:ext cx="2633472" cy="219456"/>
          </a:xfrm>
          <a:prstGeom prst="rect">
            <a:avLst/>
          </a:prstGeom>
          <a:noFill/>
          <a:ln/>
        </p:spPr>
        <p:txBody>
          <a:bodyPr wrap="square" lIns="0" tIns="0" rIns="0" bIns="0" rtlCol="0" anchor="ctr"/>
          <a:lstStyle/>
          <a:p>
            <a:pPr marL="0" indent="0">
              <a:buNone/>
            </a:pPr>
            <a:r>
              <a:rPr lang="en-US" sz="1050" b="1" dirty="0">
                <a:solidFill>
                  <a:srgbClr val="BA7517"/>
                </a:solidFill>
                <a:latin typeface="Calibri" pitchFamily="34" charset="0"/>
                <a:ea typeface="Calibri" pitchFamily="34" charset="-122"/>
                <a:cs typeface="Calibri" pitchFamily="34" charset="-120"/>
              </a:rPr>
              <a:t>N2 Attention</a:t>
            </a:r>
            <a:endParaRPr lang="en-US" sz="1050" dirty="0"/>
          </a:p>
        </p:txBody>
      </p:sp>
      <p:sp>
        <p:nvSpPr>
          <p:cNvPr id="49" name="Text 46"/>
          <p:cNvSpPr/>
          <p:nvPr/>
        </p:nvSpPr>
        <p:spPr>
          <a:xfrm>
            <a:off x="6217920" y="2761488"/>
            <a:ext cx="2633472"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Surveiller — NEWS2 ≥ 4</a:t>
            </a:r>
            <a:endParaRPr lang="en-US" sz="900" dirty="0"/>
          </a:p>
        </p:txBody>
      </p:sp>
      <p:sp>
        <p:nvSpPr>
          <p:cNvPr id="50" name="Shape 47"/>
          <p:cNvSpPr/>
          <p:nvPr/>
        </p:nvSpPr>
        <p:spPr>
          <a:xfrm>
            <a:off x="201168" y="3145536"/>
            <a:ext cx="2816352" cy="548640"/>
          </a:xfrm>
          <a:prstGeom prst="rect">
            <a:avLst/>
          </a:prstGeom>
          <a:solidFill>
            <a:srgbClr val="FFFFFF"/>
          </a:solidFill>
          <a:ln w="12700">
            <a:solidFill>
              <a:srgbClr val="E85D04"/>
            </a:solidFill>
            <a:prstDash val="solid"/>
          </a:ln>
          <a:effectLst>
            <a:outerShdw blurRad="101600" dist="25400" dir="8100000" algn="bl" rotWithShape="0">
              <a:srgbClr val="000000">
                <a:alpha val="10000"/>
              </a:srgbClr>
            </a:outerShdw>
          </a:effectLst>
        </p:spPr>
        <p:txBody>
          <a:bodyPr/>
          <a:lstStyle/>
          <a:p>
            <a:endParaRPr lang="fr-FR"/>
          </a:p>
        </p:txBody>
      </p:sp>
      <p:sp>
        <p:nvSpPr>
          <p:cNvPr id="51" name="Shape 48"/>
          <p:cNvSpPr/>
          <p:nvPr/>
        </p:nvSpPr>
        <p:spPr>
          <a:xfrm>
            <a:off x="201168" y="3145536"/>
            <a:ext cx="54864" cy="548640"/>
          </a:xfrm>
          <a:prstGeom prst="rect">
            <a:avLst/>
          </a:prstGeom>
          <a:solidFill>
            <a:srgbClr val="E85D04"/>
          </a:solidFill>
          <a:ln w="12700">
            <a:solidFill>
              <a:srgbClr val="E85D04"/>
            </a:solidFill>
            <a:prstDash val="solid"/>
          </a:ln>
        </p:spPr>
        <p:txBody>
          <a:bodyPr/>
          <a:lstStyle/>
          <a:p>
            <a:endParaRPr lang="fr-FR"/>
          </a:p>
        </p:txBody>
      </p:sp>
      <p:sp>
        <p:nvSpPr>
          <p:cNvPr id="52" name="Text 49"/>
          <p:cNvSpPr/>
          <p:nvPr/>
        </p:nvSpPr>
        <p:spPr>
          <a:xfrm>
            <a:off x="329184" y="3200400"/>
            <a:ext cx="2633472" cy="219456"/>
          </a:xfrm>
          <a:prstGeom prst="rect">
            <a:avLst/>
          </a:prstGeom>
          <a:noFill/>
          <a:ln/>
        </p:spPr>
        <p:txBody>
          <a:bodyPr wrap="square" lIns="0" tIns="0" rIns="0" bIns="0" rtlCol="0" anchor="ctr"/>
          <a:lstStyle/>
          <a:p>
            <a:pPr marL="0" indent="0">
              <a:buNone/>
            </a:pPr>
            <a:r>
              <a:rPr lang="en-US" sz="1050" b="1" dirty="0">
                <a:solidFill>
                  <a:srgbClr val="E85D04"/>
                </a:solidFill>
                <a:latin typeface="Calibri" pitchFamily="34" charset="0"/>
                <a:ea typeface="Calibri" pitchFamily="34" charset="-122"/>
                <a:cs typeface="Calibri" pitchFamily="34" charset="-120"/>
              </a:rPr>
              <a:t>N3 Alerte</a:t>
            </a:r>
            <a:endParaRPr lang="en-US" sz="1050" dirty="0"/>
          </a:p>
        </p:txBody>
      </p:sp>
      <p:sp>
        <p:nvSpPr>
          <p:cNvPr id="53" name="Text 50"/>
          <p:cNvSpPr/>
          <p:nvPr/>
        </p:nvSpPr>
        <p:spPr>
          <a:xfrm>
            <a:off x="329184" y="3419856"/>
            <a:ext cx="2633472"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Action requise — NEWS2 ≥ 6</a:t>
            </a:r>
            <a:endParaRPr lang="en-US" sz="900" dirty="0"/>
          </a:p>
        </p:txBody>
      </p:sp>
      <p:sp>
        <p:nvSpPr>
          <p:cNvPr id="54" name="Shape 51"/>
          <p:cNvSpPr/>
          <p:nvPr/>
        </p:nvSpPr>
        <p:spPr>
          <a:xfrm>
            <a:off x="3145536" y="3145536"/>
            <a:ext cx="2816352" cy="548640"/>
          </a:xfrm>
          <a:prstGeom prst="rect">
            <a:avLst/>
          </a:prstGeom>
          <a:solidFill>
            <a:srgbClr val="FFFFFF"/>
          </a:solidFill>
          <a:ln w="12700">
            <a:solidFill>
              <a:srgbClr val="E24B4A"/>
            </a:solidFill>
            <a:prstDash val="solid"/>
          </a:ln>
          <a:effectLst>
            <a:outerShdw blurRad="101600" dist="25400" dir="8100000" algn="bl" rotWithShape="0">
              <a:srgbClr val="000000">
                <a:alpha val="10000"/>
              </a:srgbClr>
            </a:outerShdw>
          </a:effectLst>
        </p:spPr>
        <p:txBody>
          <a:bodyPr/>
          <a:lstStyle/>
          <a:p>
            <a:endParaRPr lang="fr-FR"/>
          </a:p>
        </p:txBody>
      </p:sp>
      <p:sp>
        <p:nvSpPr>
          <p:cNvPr id="55" name="Shape 52"/>
          <p:cNvSpPr/>
          <p:nvPr/>
        </p:nvSpPr>
        <p:spPr>
          <a:xfrm>
            <a:off x="3145536" y="3145536"/>
            <a:ext cx="54864" cy="548640"/>
          </a:xfrm>
          <a:prstGeom prst="rect">
            <a:avLst/>
          </a:prstGeom>
          <a:solidFill>
            <a:srgbClr val="E24B4A"/>
          </a:solidFill>
          <a:ln w="12700">
            <a:solidFill>
              <a:srgbClr val="E24B4A"/>
            </a:solidFill>
            <a:prstDash val="solid"/>
          </a:ln>
        </p:spPr>
        <p:txBody>
          <a:bodyPr/>
          <a:lstStyle/>
          <a:p>
            <a:endParaRPr lang="fr-FR"/>
          </a:p>
        </p:txBody>
      </p:sp>
      <p:sp>
        <p:nvSpPr>
          <p:cNvPr id="56" name="Text 53"/>
          <p:cNvSpPr/>
          <p:nvPr/>
        </p:nvSpPr>
        <p:spPr>
          <a:xfrm>
            <a:off x="3273552" y="3200400"/>
            <a:ext cx="2633472" cy="219456"/>
          </a:xfrm>
          <a:prstGeom prst="rect">
            <a:avLst/>
          </a:prstGeom>
          <a:noFill/>
          <a:ln/>
        </p:spPr>
        <p:txBody>
          <a:bodyPr wrap="square" lIns="0" tIns="0" rIns="0" bIns="0" rtlCol="0" anchor="ctr"/>
          <a:lstStyle/>
          <a:p>
            <a:pPr marL="0" indent="0">
              <a:buNone/>
            </a:pPr>
            <a:r>
              <a:rPr lang="en-US" sz="1050" b="1" dirty="0">
                <a:solidFill>
                  <a:srgbClr val="E24B4A"/>
                </a:solidFill>
                <a:latin typeface="Calibri" pitchFamily="34" charset="0"/>
                <a:ea typeface="Calibri" pitchFamily="34" charset="-122"/>
                <a:cs typeface="Calibri" pitchFamily="34" charset="-120"/>
              </a:rPr>
              <a:t>N4 Urgence</a:t>
            </a:r>
            <a:endParaRPr lang="en-US" sz="1050" dirty="0"/>
          </a:p>
        </p:txBody>
      </p:sp>
      <p:sp>
        <p:nvSpPr>
          <p:cNvPr id="57" name="Text 54"/>
          <p:cNvSpPr/>
          <p:nvPr/>
        </p:nvSpPr>
        <p:spPr>
          <a:xfrm>
            <a:off x="3273552" y="3419856"/>
            <a:ext cx="2633472"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Médecin immédiat — NEWS2 ≥ 7</a:t>
            </a:r>
            <a:endParaRPr lang="en-US" sz="900" dirty="0"/>
          </a:p>
        </p:txBody>
      </p:sp>
      <p:sp>
        <p:nvSpPr>
          <p:cNvPr id="58" name="Shape 55"/>
          <p:cNvSpPr/>
          <p:nvPr/>
        </p:nvSpPr>
        <p:spPr>
          <a:xfrm>
            <a:off x="6089904" y="3145536"/>
            <a:ext cx="2816352" cy="548640"/>
          </a:xfrm>
          <a:prstGeom prst="rect">
            <a:avLst/>
          </a:prstGeom>
          <a:solidFill>
            <a:srgbClr val="FFFFFF"/>
          </a:solidFill>
          <a:ln w="12700">
            <a:solidFill>
              <a:srgbClr val="7B0D1E"/>
            </a:solidFill>
            <a:prstDash val="solid"/>
          </a:ln>
          <a:effectLst>
            <a:outerShdw blurRad="101600" dist="25400" dir="8100000" algn="bl" rotWithShape="0">
              <a:srgbClr val="000000">
                <a:alpha val="10000"/>
              </a:srgbClr>
            </a:outerShdw>
          </a:effectLst>
        </p:spPr>
        <p:txBody>
          <a:bodyPr/>
          <a:lstStyle/>
          <a:p>
            <a:endParaRPr lang="fr-FR"/>
          </a:p>
        </p:txBody>
      </p:sp>
      <p:sp>
        <p:nvSpPr>
          <p:cNvPr id="59" name="Shape 56"/>
          <p:cNvSpPr/>
          <p:nvPr/>
        </p:nvSpPr>
        <p:spPr>
          <a:xfrm>
            <a:off x="6089904" y="3145536"/>
            <a:ext cx="54864" cy="548640"/>
          </a:xfrm>
          <a:prstGeom prst="rect">
            <a:avLst/>
          </a:prstGeom>
          <a:solidFill>
            <a:srgbClr val="7B0D1E"/>
          </a:solidFill>
          <a:ln w="12700">
            <a:solidFill>
              <a:srgbClr val="7B0D1E"/>
            </a:solidFill>
            <a:prstDash val="solid"/>
          </a:ln>
        </p:spPr>
        <p:txBody>
          <a:bodyPr/>
          <a:lstStyle/>
          <a:p>
            <a:endParaRPr lang="fr-FR"/>
          </a:p>
        </p:txBody>
      </p:sp>
      <p:sp>
        <p:nvSpPr>
          <p:cNvPr id="60" name="Text 57"/>
          <p:cNvSpPr/>
          <p:nvPr/>
        </p:nvSpPr>
        <p:spPr>
          <a:xfrm>
            <a:off x="6217920" y="3200400"/>
            <a:ext cx="2633472" cy="219456"/>
          </a:xfrm>
          <a:prstGeom prst="rect">
            <a:avLst/>
          </a:prstGeom>
          <a:noFill/>
          <a:ln/>
        </p:spPr>
        <p:txBody>
          <a:bodyPr wrap="square" lIns="0" tIns="0" rIns="0" bIns="0" rtlCol="0" anchor="ctr"/>
          <a:lstStyle/>
          <a:p>
            <a:pPr marL="0" indent="0">
              <a:buNone/>
            </a:pPr>
            <a:r>
              <a:rPr lang="en-US" sz="1050" b="1" dirty="0">
                <a:solidFill>
                  <a:srgbClr val="7B0D1E"/>
                </a:solidFill>
                <a:latin typeface="Calibri" pitchFamily="34" charset="0"/>
                <a:ea typeface="Calibri" pitchFamily="34" charset="-122"/>
                <a:cs typeface="Calibri" pitchFamily="34" charset="-120"/>
              </a:rPr>
              <a:t>N5 Danger vital</a:t>
            </a:r>
            <a:endParaRPr lang="en-US" sz="1050" dirty="0"/>
          </a:p>
        </p:txBody>
      </p:sp>
      <p:sp>
        <p:nvSpPr>
          <p:cNvPr id="61" name="Text 58"/>
          <p:cNvSpPr/>
          <p:nvPr/>
        </p:nvSpPr>
        <p:spPr>
          <a:xfrm>
            <a:off x="6217920" y="3419856"/>
            <a:ext cx="2633472"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RéA — NEWS2 ≥ 9</a:t>
            </a:r>
            <a:endParaRPr lang="en-US" sz="900" dirty="0"/>
          </a:p>
        </p:txBody>
      </p:sp>
      <p:sp>
        <p:nvSpPr>
          <p:cNvPr id="62" name="Shape 59"/>
          <p:cNvSpPr/>
          <p:nvPr/>
        </p:nvSpPr>
        <p:spPr>
          <a:xfrm>
            <a:off x="5961888" y="2148840"/>
            <a:ext cx="3017520" cy="2514600"/>
          </a:xfrm>
          <a:prstGeom prst="rect">
            <a:avLst/>
          </a:prstGeom>
          <a:solidFill>
            <a:srgbClr val="0D1B2A"/>
          </a:solidFill>
          <a:ln w="12700">
            <a:solidFill>
              <a:srgbClr val="028090"/>
            </a:solidFill>
            <a:prstDash val="solid"/>
          </a:ln>
          <a:effectLst>
            <a:outerShdw blurRad="101600" dist="25400" dir="8100000" algn="bl" rotWithShape="0">
              <a:srgbClr val="000000">
                <a:alpha val="10000"/>
              </a:srgbClr>
            </a:outerShdw>
          </a:effectLst>
        </p:spPr>
        <p:txBody>
          <a:bodyPr/>
          <a:lstStyle/>
          <a:p>
            <a:endParaRPr lang="fr-FR"/>
          </a:p>
        </p:txBody>
      </p:sp>
      <p:sp>
        <p:nvSpPr>
          <p:cNvPr id="63" name="Text 60"/>
          <p:cNvSpPr/>
          <p:nvPr/>
        </p:nvSpPr>
        <p:spPr>
          <a:xfrm>
            <a:off x="6053328" y="2212848"/>
            <a:ext cx="2834640" cy="256032"/>
          </a:xfrm>
          <a:prstGeom prst="rect">
            <a:avLst/>
          </a:prstGeom>
          <a:noFill/>
          <a:ln/>
        </p:spPr>
        <p:txBody>
          <a:bodyPr wrap="square" lIns="0" tIns="0" rIns="0" bIns="0"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Règle composite KB</a:t>
            </a:r>
            <a:endParaRPr lang="en-US" sz="1000" dirty="0"/>
          </a:p>
        </p:txBody>
      </p:sp>
      <p:sp>
        <p:nvSpPr>
          <p:cNvPr id="64" name="Text 61"/>
          <p:cNvSpPr/>
          <p:nvPr/>
        </p:nvSpPr>
        <p:spPr>
          <a:xfrm>
            <a:off x="6053328" y="2560320"/>
            <a:ext cx="2834640" cy="329184"/>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 SpO2 ↓ + FC ↑ → N4 auto</a:t>
            </a:r>
            <a:endParaRPr lang="en-US" sz="900" dirty="0"/>
          </a:p>
        </p:txBody>
      </p:sp>
      <p:sp>
        <p:nvSpPr>
          <p:cNvPr id="65" name="Text 62"/>
          <p:cNvSpPr/>
          <p:nvPr/>
        </p:nvSpPr>
        <p:spPr>
          <a:xfrm>
            <a:off x="6053328" y="2944368"/>
            <a:ext cx="2834640" cy="329184"/>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 Chute + anticoagulant → N4</a:t>
            </a:r>
            <a:endParaRPr lang="en-US" sz="900" dirty="0"/>
          </a:p>
        </p:txBody>
      </p:sp>
      <p:sp>
        <p:nvSpPr>
          <p:cNvPr id="66" name="Text 63"/>
          <p:cNvSpPr/>
          <p:nvPr/>
        </p:nvSpPr>
        <p:spPr>
          <a:xfrm>
            <a:off x="6053328" y="3328416"/>
            <a:ext cx="2834640" cy="329184"/>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 Sepsis red flags → N4</a:t>
            </a:r>
            <a:endParaRPr lang="en-US" sz="900" dirty="0"/>
          </a:p>
        </p:txBody>
      </p:sp>
      <p:sp>
        <p:nvSpPr>
          <p:cNvPr id="67" name="Text 64"/>
          <p:cNvSpPr/>
          <p:nvPr/>
        </p:nvSpPr>
        <p:spPr>
          <a:xfrm>
            <a:off x="6053328" y="3712464"/>
            <a:ext cx="2834640" cy="329184"/>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 FAST emergency → N5</a:t>
            </a:r>
            <a:endParaRPr lang="en-US" sz="900" dirty="0"/>
          </a:p>
        </p:txBody>
      </p:sp>
      <p:sp>
        <p:nvSpPr>
          <p:cNvPr id="68" name="Text 65"/>
          <p:cNvSpPr/>
          <p:nvPr/>
        </p:nvSpPr>
        <p:spPr>
          <a:xfrm>
            <a:off x="6053328" y="4096512"/>
            <a:ext cx="2834640" cy="329184"/>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 SpO2 &lt; seuil 120s → SCN003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Pipeline A2A — 7 Agents Cliniques Spécialisés</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137160" y="621792"/>
            <a:ext cx="2084832" cy="199339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6"/>
          <p:cNvSpPr/>
          <p:nvPr/>
        </p:nvSpPr>
        <p:spPr>
          <a:xfrm>
            <a:off x="137160" y="621792"/>
            <a:ext cx="64008" cy="1993392"/>
          </a:xfrm>
          <a:prstGeom prst="rect">
            <a:avLst/>
          </a:prstGeom>
          <a:solidFill>
            <a:srgbClr val="334155"/>
          </a:solidFill>
          <a:ln w="12700">
            <a:solidFill>
              <a:srgbClr val="334155"/>
            </a:solidFill>
            <a:prstDash val="solid"/>
          </a:ln>
        </p:spPr>
        <p:txBody>
          <a:bodyPr/>
          <a:lstStyle/>
          <a:p>
            <a:endParaRPr lang="fr-FR"/>
          </a:p>
        </p:txBody>
      </p:sp>
      <p:sp>
        <p:nvSpPr>
          <p:cNvPr id="10" name="Shape 7"/>
          <p:cNvSpPr/>
          <p:nvPr/>
        </p:nvSpPr>
        <p:spPr>
          <a:xfrm>
            <a:off x="265176" y="749808"/>
            <a:ext cx="292608" cy="292608"/>
          </a:xfrm>
          <a:prstGeom prst="rect">
            <a:avLst/>
          </a:prstGeom>
          <a:solidFill>
            <a:srgbClr val="334155"/>
          </a:solidFill>
          <a:ln w="12700">
            <a:solidFill>
              <a:srgbClr val="334155"/>
            </a:solidFill>
            <a:prstDash val="solid"/>
          </a:ln>
        </p:spPr>
        <p:txBody>
          <a:bodyPr/>
          <a:lstStyle/>
          <a:p>
            <a:endParaRPr lang="fr-FR"/>
          </a:p>
        </p:txBody>
      </p:sp>
      <p:sp>
        <p:nvSpPr>
          <p:cNvPr id="11" name="Text 8"/>
          <p:cNvSpPr/>
          <p:nvPr/>
        </p:nvSpPr>
        <p:spPr>
          <a:xfrm>
            <a:off x="265176" y="74980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a:t>
            </a:r>
            <a:endParaRPr lang="en-US" sz="1200" dirty="0"/>
          </a:p>
        </p:txBody>
      </p:sp>
      <p:sp>
        <p:nvSpPr>
          <p:cNvPr id="12" name="Text 9"/>
          <p:cNvSpPr/>
          <p:nvPr/>
        </p:nvSpPr>
        <p:spPr>
          <a:xfrm>
            <a:off x="265176" y="1106424"/>
            <a:ext cx="18745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Contexte + Profil KB</a:t>
            </a:r>
            <a:endParaRPr lang="en-US" sz="1000" dirty="0"/>
          </a:p>
        </p:txBody>
      </p:sp>
      <p:sp>
        <p:nvSpPr>
          <p:cNvPr id="13" name="Text 10"/>
          <p:cNvSpPr/>
          <p:nvPr/>
        </p:nvSpPr>
        <p:spPr>
          <a:xfrm>
            <a:off x="265176" y="1472184"/>
            <a:ext cx="1874520" cy="102412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Normalise vitaux, charge profil résident, mappe pathologies → archetype_id KB, calcule seuils personnalisés (SpO2 baseline BPCO, mode nuit)</a:t>
            </a:r>
            <a:endParaRPr lang="en-US" sz="850" dirty="0"/>
          </a:p>
        </p:txBody>
      </p:sp>
      <p:sp>
        <p:nvSpPr>
          <p:cNvPr id="14" name="Shape 11"/>
          <p:cNvSpPr/>
          <p:nvPr/>
        </p:nvSpPr>
        <p:spPr>
          <a:xfrm>
            <a:off x="2386584" y="621792"/>
            <a:ext cx="2084832" cy="199339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5" name="Shape 12"/>
          <p:cNvSpPr/>
          <p:nvPr/>
        </p:nvSpPr>
        <p:spPr>
          <a:xfrm>
            <a:off x="2386584" y="621792"/>
            <a:ext cx="64008" cy="1993392"/>
          </a:xfrm>
          <a:prstGeom prst="rect">
            <a:avLst/>
          </a:prstGeom>
          <a:solidFill>
            <a:srgbClr val="028090"/>
          </a:solidFill>
          <a:ln w="12700">
            <a:solidFill>
              <a:srgbClr val="028090"/>
            </a:solidFill>
            <a:prstDash val="solid"/>
          </a:ln>
        </p:spPr>
        <p:txBody>
          <a:bodyPr/>
          <a:lstStyle/>
          <a:p>
            <a:endParaRPr lang="fr-FR"/>
          </a:p>
        </p:txBody>
      </p:sp>
      <p:sp>
        <p:nvSpPr>
          <p:cNvPr id="16" name="Shape 13"/>
          <p:cNvSpPr/>
          <p:nvPr/>
        </p:nvSpPr>
        <p:spPr>
          <a:xfrm>
            <a:off x="2514600" y="749808"/>
            <a:ext cx="292608" cy="292608"/>
          </a:xfrm>
          <a:prstGeom prst="rect">
            <a:avLst/>
          </a:prstGeom>
          <a:solidFill>
            <a:srgbClr val="028090"/>
          </a:solidFill>
          <a:ln w="12700">
            <a:solidFill>
              <a:srgbClr val="028090"/>
            </a:solidFill>
            <a:prstDash val="solid"/>
          </a:ln>
        </p:spPr>
        <p:txBody>
          <a:bodyPr/>
          <a:lstStyle/>
          <a:p>
            <a:endParaRPr lang="fr-FR"/>
          </a:p>
        </p:txBody>
      </p:sp>
      <p:sp>
        <p:nvSpPr>
          <p:cNvPr id="17" name="Text 14"/>
          <p:cNvSpPr/>
          <p:nvPr/>
        </p:nvSpPr>
        <p:spPr>
          <a:xfrm>
            <a:off x="2514600" y="74980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p:nvPr/>
        </p:nvSpPr>
        <p:spPr>
          <a:xfrm>
            <a:off x="2514600" y="1106424"/>
            <a:ext cx="18745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Hémodynamique</a:t>
            </a:r>
            <a:endParaRPr lang="en-US" sz="1000" dirty="0"/>
          </a:p>
        </p:txBody>
      </p:sp>
      <p:sp>
        <p:nvSpPr>
          <p:cNvPr id="19" name="Text 16"/>
          <p:cNvSpPr/>
          <p:nvPr/>
        </p:nvSpPr>
        <p:spPr>
          <a:xfrm>
            <a:off x="2514600" y="1472184"/>
            <a:ext cx="1874520" cy="102412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FC · SpO2 · PA · T° · FR séparément. Score 0.0–1.0 par constante + référence scénario KB. NEWS2. Score confiance capteur.</a:t>
            </a:r>
            <a:endParaRPr lang="en-US" sz="850" dirty="0"/>
          </a:p>
        </p:txBody>
      </p:sp>
      <p:sp>
        <p:nvSpPr>
          <p:cNvPr id="20" name="Shape 17"/>
          <p:cNvSpPr/>
          <p:nvPr/>
        </p:nvSpPr>
        <p:spPr>
          <a:xfrm>
            <a:off x="4636008" y="621792"/>
            <a:ext cx="2084832" cy="199339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1" name="Shape 18"/>
          <p:cNvSpPr/>
          <p:nvPr/>
        </p:nvSpPr>
        <p:spPr>
          <a:xfrm>
            <a:off x="4636008" y="621792"/>
            <a:ext cx="64008" cy="1993392"/>
          </a:xfrm>
          <a:prstGeom prst="rect">
            <a:avLst/>
          </a:prstGeom>
          <a:solidFill>
            <a:srgbClr val="1D9E75"/>
          </a:solidFill>
          <a:ln w="12700">
            <a:solidFill>
              <a:srgbClr val="1D9E75"/>
            </a:solidFill>
            <a:prstDash val="solid"/>
          </a:ln>
        </p:spPr>
        <p:txBody>
          <a:bodyPr/>
          <a:lstStyle/>
          <a:p>
            <a:endParaRPr lang="fr-FR"/>
          </a:p>
        </p:txBody>
      </p:sp>
      <p:sp>
        <p:nvSpPr>
          <p:cNvPr id="22" name="Shape 19"/>
          <p:cNvSpPr/>
          <p:nvPr/>
        </p:nvSpPr>
        <p:spPr>
          <a:xfrm>
            <a:off x="4764024" y="749808"/>
            <a:ext cx="292608" cy="292608"/>
          </a:xfrm>
          <a:prstGeom prst="rect">
            <a:avLst/>
          </a:prstGeom>
          <a:solidFill>
            <a:srgbClr val="1D9E75"/>
          </a:solidFill>
          <a:ln w="12700">
            <a:solidFill>
              <a:srgbClr val="1D9E75"/>
            </a:solidFill>
            <a:prstDash val="solid"/>
          </a:ln>
        </p:spPr>
        <p:txBody>
          <a:bodyPr/>
          <a:lstStyle/>
          <a:p>
            <a:endParaRPr lang="fr-FR"/>
          </a:p>
        </p:txBody>
      </p:sp>
      <p:sp>
        <p:nvSpPr>
          <p:cNvPr id="23" name="Text 20"/>
          <p:cNvSpPr/>
          <p:nvPr/>
        </p:nvSpPr>
        <p:spPr>
          <a:xfrm>
            <a:off x="4764024" y="74980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1"/>
          <p:cNvSpPr/>
          <p:nvPr/>
        </p:nvSpPr>
        <p:spPr>
          <a:xfrm>
            <a:off x="4764024" y="1106424"/>
            <a:ext cx="18745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Antécédents + CAT</a:t>
            </a:r>
            <a:endParaRPr lang="en-US" sz="1000" dirty="0"/>
          </a:p>
        </p:txBody>
      </p:sp>
      <p:sp>
        <p:nvSpPr>
          <p:cNvPr id="25" name="Text 22"/>
          <p:cNvSpPr/>
          <p:nvPr/>
        </p:nvSpPr>
        <p:spPr>
          <a:xfrm>
            <a:off x="4764024" y="1472184"/>
            <a:ext cx="1874520" cy="102412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Croise pathologies avec official_elderly_complications_kb. Applique synergy_bonus (ml_rule_weights). CAT personnalisée citant les IDs scénarios.</a:t>
            </a:r>
            <a:endParaRPr lang="en-US" sz="850" dirty="0"/>
          </a:p>
        </p:txBody>
      </p:sp>
      <p:sp>
        <p:nvSpPr>
          <p:cNvPr id="26" name="Shape 23"/>
          <p:cNvSpPr/>
          <p:nvPr/>
        </p:nvSpPr>
        <p:spPr>
          <a:xfrm>
            <a:off x="6885432" y="621792"/>
            <a:ext cx="2084832" cy="199339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7" name="Shape 24"/>
          <p:cNvSpPr/>
          <p:nvPr/>
        </p:nvSpPr>
        <p:spPr>
          <a:xfrm>
            <a:off x="6885432" y="621792"/>
            <a:ext cx="64008" cy="1993392"/>
          </a:xfrm>
          <a:prstGeom prst="rect">
            <a:avLst/>
          </a:prstGeom>
          <a:solidFill>
            <a:srgbClr val="E07B39"/>
          </a:solidFill>
          <a:ln w="12700">
            <a:solidFill>
              <a:srgbClr val="E07B39"/>
            </a:solidFill>
            <a:prstDash val="solid"/>
          </a:ln>
        </p:spPr>
        <p:txBody>
          <a:bodyPr/>
          <a:lstStyle/>
          <a:p>
            <a:endParaRPr lang="fr-FR"/>
          </a:p>
        </p:txBody>
      </p:sp>
      <p:sp>
        <p:nvSpPr>
          <p:cNvPr id="28" name="Shape 25"/>
          <p:cNvSpPr/>
          <p:nvPr/>
        </p:nvSpPr>
        <p:spPr>
          <a:xfrm>
            <a:off x="7013448" y="749808"/>
            <a:ext cx="292608" cy="292608"/>
          </a:xfrm>
          <a:prstGeom prst="rect">
            <a:avLst/>
          </a:prstGeom>
          <a:solidFill>
            <a:srgbClr val="E07B39"/>
          </a:solidFill>
          <a:ln w="12700">
            <a:solidFill>
              <a:srgbClr val="E07B39"/>
            </a:solidFill>
            <a:prstDash val="solid"/>
          </a:ln>
        </p:spPr>
        <p:txBody>
          <a:bodyPr/>
          <a:lstStyle/>
          <a:p>
            <a:endParaRPr lang="fr-FR"/>
          </a:p>
        </p:txBody>
      </p:sp>
      <p:sp>
        <p:nvSpPr>
          <p:cNvPr id="29" name="Text 26"/>
          <p:cNvSpPr/>
          <p:nvPr/>
        </p:nvSpPr>
        <p:spPr>
          <a:xfrm>
            <a:off x="7013448" y="74980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Text 27"/>
          <p:cNvSpPr/>
          <p:nvPr/>
        </p:nvSpPr>
        <p:spPr>
          <a:xfrm>
            <a:off x="7013448" y="1106424"/>
            <a:ext cx="18745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Comportement 30-60 min</a:t>
            </a:r>
            <a:endParaRPr lang="en-US" sz="1000" dirty="0"/>
          </a:p>
        </p:txBody>
      </p:sp>
      <p:sp>
        <p:nvSpPr>
          <p:cNvPr id="31" name="Text 28"/>
          <p:cNvSpPr/>
          <p:nvPr/>
        </p:nvSpPr>
        <p:spPr>
          <a:xfrm>
            <a:off x="7013448" y="1472184"/>
            <a:ext cx="1874520" cy="102412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Lit routine_analysis (routine_engine). Score de correspondance scénario : 'comportement = 73% SCN007_WANDERING'. Détecte inactivité hors repos.</a:t>
            </a:r>
            <a:endParaRPr lang="en-US" sz="850" dirty="0"/>
          </a:p>
        </p:txBody>
      </p:sp>
      <p:sp>
        <p:nvSpPr>
          <p:cNvPr id="32" name="Shape 29"/>
          <p:cNvSpPr/>
          <p:nvPr/>
        </p:nvSpPr>
        <p:spPr>
          <a:xfrm>
            <a:off x="137160" y="2770632"/>
            <a:ext cx="2084832" cy="199339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3" name="Shape 30"/>
          <p:cNvSpPr/>
          <p:nvPr/>
        </p:nvSpPr>
        <p:spPr>
          <a:xfrm>
            <a:off x="137160" y="2770632"/>
            <a:ext cx="64008" cy="1993392"/>
          </a:xfrm>
          <a:prstGeom prst="rect">
            <a:avLst/>
          </a:prstGeom>
          <a:solidFill>
            <a:srgbClr val="6B48A8"/>
          </a:solidFill>
          <a:ln w="12700">
            <a:solidFill>
              <a:srgbClr val="6B48A8"/>
            </a:solidFill>
            <a:prstDash val="solid"/>
          </a:ln>
        </p:spPr>
        <p:txBody>
          <a:bodyPr/>
          <a:lstStyle/>
          <a:p>
            <a:endParaRPr lang="fr-FR"/>
          </a:p>
        </p:txBody>
      </p:sp>
      <p:sp>
        <p:nvSpPr>
          <p:cNvPr id="34" name="Shape 31"/>
          <p:cNvSpPr/>
          <p:nvPr/>
        </p:nvSpPr>
        <p:spPr>
          <a:xfrm>
            <a:off x="265176" y="2898648"/>
            <a:ext cx="292608" cy="292608"/>
          </a:xfrm>
          <a:prstGeom prst="rect">
            <a:avLst/>
          </a:prstGeom>
          <a:solidFill>
            <a:srgbClr val="6B48A8"/>
          </a:solidFill>
          <a:ln w="12700">
            <a:solidFill>
              <a:srgbClr val="6B48A8"/>
            </a:solidFill>
            <a:prstDash val="solid"/>
          </a:ln>
        </p:spPr>
        <p:txBody>
          <a:bodyPr/>
          <a:lstStyle/>
          <a:p>
            <a:endParaRPr lang="fr-FR"/>
          </a:p>
        </p:txBody>
      </p:sp>
      <p:sp>
        <p:nvSpPr>
          <p:cNvPr id="35" name="Text 32"/>
          <p:cNvSpPr/>
          <p:nvPr/>
        </p:nvSpPr>
        <p:spPr>
          <a:xfrm>
            <a:off x="265176" y="28986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6" name="Text 33"/>
          <p:cNvSpPr/>
          <p:nvPr/>
        </p:nvSpPr>
        <p:spPr>
          <a:xfrm>
            <a:off x="265176" y="3255264"/>
            <a:ext cx="18745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Prédiction ML</a:t>
            </a:r>
            <a:endParaRPr lang="en-US" sz="1000" dirty="0"/>
          </a:p>
        </p:txBody>
      </p:sp>
      <p:sp>
        <p:nvSpPr>
          <p:cNvPr id="37" name="Text 34"/>
          <p:cNvSpPr/>
          <p:nvPr/>
        </p:nvSpPr>
        <p:spPr>
          <a:xfrm>
            <a:off x="265176" y="3621024"/>
            <a:ext cx="1874520" cy="102412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Fusionne agents 1-3 + GradientBoost + feature_weights KB. risk_30min / risk_60min avec traçabilité contribution. Synergies appliquées.</a:t>
            </a:r>
            <a:endParaRPr lang="en-US" sz="850" dirty="0"/>
          </a:p>
        </p:txBody>
      </p:sp>
      <p:sp>
        <p:nvSpPr>
          <p:cNvPr id="38" name="Shape 35"/>
          <p:cNvSpPr/>
          <p:nvPr/>
        </p:nvSpPr>
        <p:spPr>
          <a:xfrm>
            <a:off x="2386584" y="2770632"/>
            <a:ext cx="2084832" cy="199339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9" name="Shape 36"/>
          <p:cNvSpPr/>
          <p:nvPr/>
        </p:nvSpPr>
        <p:spPr>
          <a:xfrm>
            <a:off x="2386584" y="2770632"/>
            <a:ext cx="64008" cy="1993392"/>
          </a:xfrm>
          <a:prstGeom prst="rect">
            <a:avLst/>
          </a:prstGeom>
          <a:solidFill>
            <a:srgbClr val="BA7517"/>
          </a:solidFill>
          <a:ln w="12700">
            <a:solidFill>
              <a:srgbClr val="BA7517"/>
            </a:solidFill>
            <a:prstDash val="solid"/>
          </a:ln>
        </p:spPr>
        <p:txBody>
          <a:bodyPr/>
          <a:lstStyle/>
          <a:p>
            <a:endParaRPr lang="fr-FR"/>
          </a:p>
        </p:txBody>
      </p:sp>
      <p:sp>
        <p:nvSpPr>
          <p:cNvPr id="40" name="Shape 37"/>
          <p:cNvSpPr/>
          <p:nvPr/>
        </p:nvSpPr>
        <p:spPr>
          <a:xfrm>
            <a:off x="2514600" y="2898648"/>
            <a:ext cx="292608" cy="292608"/>
          </a:xfrm>
          <a:prstGeom prst="rect">
            <a:avLst/>
          </a:prstGeom>
          <a:solidFill>
            <a:srgbClr val="BA7517"/>
          </a:solidFill>
          <a:ln w="12700">
            <a:solidFill>
              <a:srgbClr val="BA7517"/>
            </a:solidFill>
            <a:prstDash val="solid"/>
          </a:ln>
        </p:spPr>
        <p:txBody>
          <a:bodyPr/>
          <a:lstStyle/>
          <a:p>
            <a:endParaRPr lang="fr-FR"/>
          </a:p>
        </p:txBody>
      </p:sp>
      <p:sp>
        <p:nvSpPr>
          <p:cNvPr id="41" name="Text 38"/>
          <p:cNvSpPr/>
          <p:nvPr/>
        </p:nvSpPr>
        <p:spPr>
          <a:xfrm>
            <a:off x="2514600" y="28986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2" name="Text 39"/>
          <p:cNvSpPr/>
          <p:nvPr/>
        </p:nvSpPr>
        <p:spPr>
          <a:xfrm>
            <a:off x="2514600" y="3255264"/>
            <a:ext cx="18745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Historique 30j</a:t>
            </a:r>
            <a:endParaRPr lang="en-US" sz="1000" dirty="0"/>
          </a:p>
        </p:txBody>
      </p:sp>
      <p:sp>
        <p:nvSpPr>
          <p:cNvPr id="43" name="Text 40"/>
          <p:cNvSpPr/>
          <p:nvPr/>
        </p:nvSpPr>
        <p:spPr>
          <a:xfrm>
            <a:off x="2514600" y="3621024"/>
            <a:ext cx="1874520" cy="102412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Tendance long terme, max_ml_risk, alerts_count. Score 'surprise' : situation exceptionnelle vs historique ? Patterns récurrents.</a:t>
            </a:r>
            <a:endParaRPr lang="en-US" sz="850" dirty="0"/>
          </a:p>
        </p:txBody>
      </p:sp>
      <p:sp>
        <p:nvSpPr>
          <p:cNvPr id="44" name="Shape 41"/>
          <p:cNvSpPr/>
          <p:nvPr/>
        </p:nvSpPr>
        <p:spPr>
          <a:xfrm>
            <a:off x="4636008" y="2770632"/>
            <a:ext cx="2084832" cy="199339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45" name="Shape 42"/>
          <p:cNvSpPr/>
          <p:nvPr/>
        </p:nvSpPr>
        <p:spPr>
          <a:xfrm>
            <a:off x="4636008" y="2770632"/>
            <a:ext cx="64008" cy="1993392"/>
          </a:xfrm>
          <a:prstGeom prst="rect">
            <a:avLst/>
          </a:prstGeom>
          <a:solidFill>
            <a:srgbClr val="1B3A5C"/>
          </a:solidFill>
          <a:ln w="12700">
            <a:solidFill>
              <a:srgbClr val="1B3A5C"/>
            </a:solidFill>
            <a:prstDash val="solid"/>
          </a:ln>
        </p:spPr>
        <p:txBody>
          <a:bodyPr/>
          <a:lstStyle/>
          <a:p>
            <a:endParaRPr lang="fr-FR"/>
          </a:p>
        </p:txBody>
      </p:sp>
      <p:sp>
        <p:nvSpPr>
          <p:cNvPr id="46" name="Shape 43"/>
          <p:cNvSpPr/>
          <p:nvPr/>
        </p:nvSpPr>
        <p:spPr>
          <a:xfrm>
            <a:off x="4764024" y="2898648"/>
            <a:ext cx="292608" cy="292608"/>
          </a:xfrm>
          <a:prstGeom prst="rect">
            <a:avLst/>
          </a:prstGeom>
          <a:solidFill>
            <a:srgbClr val="1B3A5C"/>
          </a:solidFill>
          <a:ln w="12700">
            <a:solidFill>
              <a:srgbClr val="1B3A5C"/>
            </a:solidFill>
            <a:prstDash val="solid"/>
          </a:ln>
        </p:spPr>
        <p:txBody>
          <a:bodyPr/>
          <a:lstStyle/>
          <a:p>
            <a:endParaRPr lang="fr-FR"/>
          </a:p>
        </p:txBody>
      </p:sp>
      <p:sp>
        <p:nvSpPr>
          <p:cNvPr id="47" name="Text 44"/>
          <p:cNvSpPr/>
          <p:nvPr/>
        </p:nvSpPr>
        <p:spPr>
          <a:xfrm>
            <a:off x="4764024" y="28986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8" name="Text 45"/>
          <p:cNvSpPr/>
          <p:nvPr/>
        </p:nvSpPr>
        <p:spPr>
          <a:xfrm>
            <a:off x="4764024" y="3255264"/>
            <a:ext cx="18745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Synthèse finale</a:t>
            </a:r>
            <a:endParaRPr lang="en-US" sz="1000" dirty="0"/>
          </a:p>
        </p:txBody>
      </p:sp>
      <p:sp>
        <p:nvSpPr>
          <p:cNvPr id="49" name="Text 46"/>
          <p:cNvSpPr/>
          <p:nvPr/>
        </p:nvSpPr>
        <p:spPr>
          <a:xfrm>
            <a:off x="4764024" y="3621024"/>
            <a:ext cx="1874520" cy="102412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Seul agent qui voit tout. Niveau recommandé, résumé soignant 2 phrases, fiche transmission, contexte pré-calculé pour LLM (supprime duplication).</a:t>
            </a:r>
            <a:endParaRPr lang="en-US" sz="850" dirty="0"/>
          </a:p>
        </p:txBody>
      </p:sp>
      <p:sp>
        <p:nvSpPr>
          <p:cNvPr id="50" name="Shape 47"/>
          <p:cNvSpPr/>
          <p:nvPr/>
        </p:nvSpPr>
        <p:spPr>
          <a:xfrm>
            <a:off x="137160" y="4645152"/>
            <a:ext cx="8869680" cy="365760"/>
          </a:xfrm>
          <a:prstGeom prst="rect">
            <a:avLst/>
          </a:prstGeom>
          <a:solidFill>
            <a:srgbClr val="0D1B2A"/>
          </a:solidFill>
          <a:ln w="6350">
            <a:solidFill>
              <a:srgbClr val="028090"/>
            </a:solidFill>
            <a:prstDash val="solid"/>
          </a:ln>
        </p:spPr>
        <p:txBody>
          <a:bodyPr/>
          <a:lstStyle/>
          <a:p>
            <a:endParaRPr lang="fr-FR"/>
          </a:p>
        </p:txBody>
      </p:sp>
      <p:sp>
        <p:nvSpPr>
          <p:cNvPr id="51" name="Text 48"/>
          <p:cNvSpPr/>
          <p:nvPr/>
        </p:nvSpPr>
        <p:spPr>
          <a:xfrm>
            <a:off x="274320" y="4645152"/>
            <a:ext cx="8595360" cy="365760"/>
          </a:xfrm>
          <a:prstGeom prst="rect">
            <a:avLst/>
          </a:prstGeom>
          <a:noFill/>
          <a:ln/>
        </p:spPr>
        <p:txBody>
          <a:bodyPr wrap="square" lIns="0" tIns="0" rIns="0" bIns="0" rtlCol="0" anchor="ctr"/>
          <a:lstStyle/>
          <a:p>
            <a:pPr marL="0" indent="0" algn="ctr">
              <a:buNone/>
            </a:pPr>
            <a:r>
              <a:rPr lang="en-US" sz="850" dirty="0">
                <a:solidFill>
                  <a:srgbClr val="00A896"/>
                </a:solidFill>
                <a:latin typeface="Calibri" pitchFamily="34" charset="0"/>
                <a:ea typeface="Calibri" pitchFamily="34" charset="-122"/>
                <a:cs typeface="Calibri" pitchFamily="34" charset="-120"/>
              </a:rPr>
              <a:t>KB clinique : 15 scénarios HAS/RCP · official_elderly_complications_kb · ml_rule_weights synergies · trigger_rules durée · early_signals_30_60min pondérés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LLM local optionnel — 3 usages possibles</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164592" y="621792"/>
            <a:ext cx="8814816" cy="713232"/>
          </a:xfrm>
          <a:prstGeom prst="rect">
            <a:avLst/>
          </a:prstGeom>
          <a:solidFill>
            <a:srgbClr val="F8FAFC"/>
          </a:solidFill>
          <a:ln w="6350">
            <a:solidFill>
              <a:srgbClr val="E2E8F0"/>
            </a:solidFill>
            <a:prstDash val="solid"/>
          </a:ln>
        </p:spPr>
        <p:txBody>
          <a:bodyPr/>
          <a:lstStyle/>
          <a:p>
            <a:endParaRPr lang="fr-FR"/>
          </a:p>
        </p:txBody>
      </p:sp>
      <p:sp>
        <p:nvSpPr>
          <p:cNvPr id="9" name="Text 6"/>
          <p:cNvSpPr/>
          <p:nvPr/>
        </p:nvSpPr>
        <p:spPr>
          <a:xfrm>
            <a:off x="347472" y="749808"/>
            <a:ext cx="8449056" cy="347472"/>
          </a:xfrm>
          <a:prstGeom prst="rect">
            <a:avLst/>
          </a:prstGeom>
          <a:noFill/>
          <a:ln/>
        </p:spPr>
        <p:txBody>
          <a:bodyPr wrap="square" lIns="0" tIns="0" rIns="0" bIns="0" rtlCol="0" anchor="ctr"/>
          <a:lstStyle/>
          <a:p>
            <a:pPr marL="0" indent="0" algn="ctr">
              <a:buNone/>
            </a:pPr>
            <a:r>
              <a:rPr lang="en-US" sz="1100" i="1" dirty="0">
                <a:solidFill>
                  <a:srgbClr val="1E293B"/>
                </a:solidFill>
                <a:latin typeface="Calibri" pitchFamily="34" charset="0"/>
                <a:ea typeface="Calibri" pitchFamily="34" charset="-122"/>
                <a:cs typeface="Calibri" pitchFamily="34" charset="-120"/>
              </a:rPr>
              <a:t>Agent Synthèse prépare le contexte → Ollama local optionnel → résumé / JSON / rapport</a:t>
            </a:r>
            <a:endParaRPr lang="en-US" sz="1100" dirty="0"/>
          </a:p>
        </p:txBody>
      </p:sp>
      <p:sp>
        <p:nvSpPr>
          <p:cNvPr id="10" name="Shape 7"/>
          <p:cNvSpPr/>
          <p:nvPr/>
        </p:nvSpPr>
        <p:spPr>
          <a:xfrm>
            <a:off x="164592" y="1444752"/>
            <a:ext cx="2852928" cy="3493008"/>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1" name="Shape 8"/>
          <p:cNvSpPr/>
          <p:nvPr/>
        </p:nvSpPr>
        <p:spPr>
          <a:xfrm>
            <a:off x="164592" y="1444752"/>
            <a:ext cx="64008" cy="3493008"/>
          </a:xfrm>
          <a:prstGeom prst="rect">
            <a:avLst/>
          </a:prstGeom>
          <a:solidFill>
            <a:srgbClr val="00A896"/>
          </a:solidFill>
          <a:ln w="12700">
            <a:solidFill>
              <a:srgbClr val="00A896"/>
            </a:solidFill>
            <a:prstDash val="solid"/>
          </a:ln>
        </p:spPr>
        <p:txBody>
          <a:bodyPr/>
          <a:lstStyle/>
          <a:p>
            <a:endParaRPr lang="fr-FR"/>
          </a:p>
        </p:txBody>
      </p:sp>
      <p:sp>
        <p:nvSpPr>
          <p:cNvPr id="12" name="Shape 9"/>
          <p:cNvSpPr/>
          <p:nvPr/>
        </p:nvSpPr>
        <p:spPr>
          <a:xfrm>
            <a:off x="228600" y="1444752"/>
            <a:ext cx="2788920" cy="566928"/>
          </a:xfrm>
          <a:prstGeom prst="rect">
            <a:avLst/>
          </a:prstGeom>
          <a:solidFill>
            <a:srgbClr val="00A896"/>
          </a:solidFill>
          <a:ln w="12700">
            <a:solidFill>
              <a:srgbClr val="00A896"/>
            </a:solidFill>
            <a:prstDash val="solid"/>
          </a:ln>
        </p:spPr>
        <p:txBody>
          <a:bodyPr/>
          <a:lstStyle/>
          <a:p>
            <a:endParaRPr lang="fr-FR"/>
          </a:p>
        </p:txBody>
      </p:sp>
      <p:sp>
        <p:nvSpPr>
          <p:cNvPr id="13" name="Text 10"/>
          <p:cNvSpPr/>
          <p:nvPr/>
        </p:nvSpPr>
        <p:spPr>
          <a:xfrm>
            <a:off x="292608" y="1481328"/>
            <a:ext cx="228600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Llama 3.2 · 3B</a:t>
            </a:r>
            <a:endParaRPr lang="en-US" sz="1350" dirty="0"/>
          </a:p>
        </p:txBody>
      </p:sp>
      <p:sp>
        <p:nvSpPr>
          <p:cNvPr id="14" name="Text 11"/>
          <p:cNvSpPr/>
          <p:nvPr/>
        </p:nvSpPr>
        <p:spPr>
          <a:xfrm>
            <a:off x="292608" y="1755648"/>
            <a:ext cx="2286000" cy="201168"/>
          </a:xfrm>
          <a:prstGeom prst="rect">
            <a:avLst/>
          </a:prstGeom>
          <a:noFill/>
          <a:ln/>
        </p:spPr>
        <p:txBody>
          <a:bodyPr wrap="square" lIns="0" tIns="0" rIns="0" bIns="0" rtlCol="0" anchor="ctr"/>
          <a:lstStyle/>
          <a:p>
            <a:pPr marL="0" indent="0">
              <a:buNone/>
            </a:pPr>
            <a:r>
              <a:rPr lang="en-US" sz="900" dirty="0">
                <a:solidFill>
                  <a:srgbClr val="D8EDF5"/>
                </a:solidFill>
                <a:latin typeface="Calibri" pitchFamily="34" charset="0"/>
                <a:ea typeface="Calibri" pitchFamily="34" charset="-122"/>
                <a:cs typeface="Calibri" pitchFamily="34" charset="-120"/>
              </a:rPr>
              <a:t>RAPIDE · ~2s</a:t>
            </a:r>
            <a:endParaRPr lang="en-US" sz="900" dirty="0"/>
          </a:p>
        </p:txBody>
      </p:sp>
      <p:sp>
        <p:nvSpPr>
          <p:cNvPr id="15" name="Shape 12"/>
          <p:cNvSpPr/>
          <p:nvPr/>
        </p:nvSpPr>
        <p:spPr>
          <a:xfrm>
            <a:off x="329184" y="2103120"/>
            <a:ext cx="73152" cy="73152"/>
          </a:xfrm>
          <a:prstGeom prst="rect">
            <a:avLst/>
          </a:prstGeom>
          <a:solidFill>
            <a:srgbClr val="00A896"/>
          </a:solidFill>
          <a:ln w="12700">
            <a:solidFill>
              <a:srgbClr val="00A896"/>
            </a:solidFill>
            <a:prstDash val="solid"/>
          </a:ln>
        </p:spPr>
        <p:txBody>
          <a:bodyPr/>
          <a:lstStyle/>
          <a:p>
            <a:endParaRPr lang="fr-FR"/>
          </a:p>
        </p:txBody>
      </p:sp>
      <p:sp>
        <p:nvSpPr>
          <p:cNvPr id="16" name="Text 13"/>
          <p:cNvSpPr/>
          <p:nvPr/>
        </p:nvSpPr>
        <p:spPr>
          <a:xfrm>
            <a:off x="475488" y="2048256"/>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Résumé soignant (2 phrases)</a:t>
            </a:r>
            <a:endParaRPr lang="en-US" sz="950" dirty="0"/>
          </a:p>
        </p:txBody>
      </p:sp>
      <p:sp>
        <p:nvSpPr>
          <p:cNvPr id="17" name="Shape 14"/>
          <p:cNvSpPr/>
          <p:nvPr/>
        </p:nvSpPr>
        <p:spPr>
          <a:xfrm>
            <a:off x="329184" y="2487168"/>
            <a:ext cx="73152" cy="73152"/>
          </a:xfrm>
          <a:prstGeom prst="rect">
            <a:avLst/>
          </a:prstGeom>
          <a:solidFill>
            <a:srgbClr val="00A896"/>
          </a:solidFill>
          <a:ln w="12700">
            <a:solidFill>
              <a:srgbClr val="00A896"/>
            </a:solidFill>
            <a:prstDash val="solid"/>
          </a:ln>
        </p:spPr>
        <p:txBody>
          <a:bodyPr/>
          <a:lstStyle/>
          <a:p>
            <a:endParaRPr lang="fr-FR"/>
          </a:p>
        </p:txBody>
      </p:sp>
      <p:sp>
        <p:nvSpPr>
          <p:cNvPr id="18" name="Text 15"/>
          <p:cNvSpPr/>
          <p:nvPr/>
        </p:nvSpPr>
        <p:spPr>
          <a:xfrm>
            <a:off x="475488" y="2432304"/>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Message famille rassurant</a:t>
            </a:r>
            <a:endParaRPr lang="en-US" sz="950" dirty="0"/>
          </a:p>
        </p:txBody>
      </p:sp>
      <p:sp>
        <p:nvSpPr>
          <p:cNvPr id="19" name="Shape 16"/>
          <p:cNvSpPr/>
          <p:nvPr/>
        </p:nvSpPr>
        <p:spPr>
          <a:xfrm>
            <a:off x="329184" y="2871216"/>
            <a:ext cx="73152" cy="73152"/>
          </a:xfrm>
          <a:prstGeom prst="rect">
            <a:avLst/>
          </a:prstGeom>
          <a:solidFill>
            <a:srgbClr val="00A896"/>
          </a:solidFill>
          <a:ln w="12700">
            <a:solidFill>
              <a:srgbClr val="00A896"/>
            </a:solidFill>
            <a:prstDash val="solid"/>
          </a:ln>
        </p:spPr>
        <p:txBody>
          <a:bodyPr/>
          <a:lstStyle/>
          <a:p>
            <a:endParaRPr lang="fr-FR"/>
          </a:p>
        </p:txBody>
      </p:sp>
      <p:sp>
        <p:nvSpPr>
          <p:cNvPr id="20" name="Text 17"/>
          <p:cNvSpPr/>
          <p:nvPr/>
        </p:nvSpPr>
        <p:spPr>
          <a:xfrm>
            <a:off x="475488" y="2816352"/>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Score correspondance scénario</a:t>
            </a:r>
            <a:endParaRPr lang="en-US" sz="950" dirty="0"/>
          </a:p>
        </p:txBody>
      </p:sp>
      <p:sp>
        <p:nvSpPr>
          <p:cNvPr id="21" name="Shape 18"/>
          <p:cNvSpPr/>
          <p:nvPr/>
        </p:nvSpPr>
        <p:spPr>
          <a:xfrm>
            <a:off x="292608" y="4224528"/>
            <a:ext cx="2651760" cy="512064"/>
          </a:xfrm>
          <a:prstGeom prst="rect">
            <a:avLst/>
          </a:prstGeom>
          <a:solidFill>
            <a:srgbClr val="F8FAFC"/>
          </a:solidFill>
          <a:ln w="6350">
            <a:solidFill>
              <a:srgbClr val="E2E8F0"/>
            </a:solidFill>
            <a:prstDash val="solid"/>
          </a:ln>
        </p:spPr>
        <p:txBody>
          <a:bodyPr/>
          <a:lstStyle/>
          <a:p>
            <a:endParaRPr lang="fr-FR"/>
          </a:p>
        </p:txBody>
      </p:sp>
      <p:sp>
        <p:nvSpPr>
          <p:cNvPr id="22" name="Text 19"/>
          <p:cNvSpPr/>
          <p:nvPr/>
        </p:nvSpPr>
        <p:spPr>
          <a:xfrm>
            <a:off x="365760" y="4242816"/>
            <a:ext cx="2505456" cy="45720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Tâche simple, JSON minimal, doit être quasi-instantané. 200 tokens input max.</a:t>
            </a:r>
            <a:endParaRPr lang="en-US" sz="800" dirty="0"/>
          </a:p>
        </p:txBody>
      </p:sp>
      <p:sp>
        <p:nvSpPr>
          <p:cNvPr id="23" name="Text 20"/>
          <p:cNvSpPr/>
          <p:nvPr/>
        </p:nvSpPr>
        <p:spPr>
          <a:xfrm>
            <a:off x="292608" y="4800600"/>
            <a:ext cx="2651760" cy="201168"/>
          </a:xfrm>
          <a:prstGeom prst="rect">
            <a:avLst/>
          </a:prstGeom>
          <a:noFill/>
          <a:ln/>
        </p:spPr>
        <p:txBody>
          <a:bodyPr wrap="square" lIns="0" tIns="0" rIns="0" bIns="0" rtlCol="0" anchor="ctr"/>
          <a:lstStyle/>
          <a:p>
            <a:pPr marL="0" indent="0" algn="r">
              <a:buNone/>
            </a:pPr>
            <a:r>
              <a:rPr lang="en-US" sz="850" b="1" dirty="0">
                <a:solidFill>
                  <a:srgbClr val="00A896"/>
                </a:solidFill>
                <a:latin typeface="Calibri" pitchFamily="34" charset="0"/>
                <a:ea typeface="Calibri" pitchFamily="34" charset="-122"/>
                <a:cs typeface="Calibri" pitchFamily="34" charset="-120"/>
              </a:rPr>
              <a:t>~2 GB RAM</a:t>
            </a:r>
            <a:endParaRPr lang="en-US" sz="850" dirty="0"/>
          </a:p>
        </p:txBody>
      </p:sp>
      <p:sp>
        <p:nvSpPr>
          <p:cNvPr id="24" name="Shape 21"/>
          <p:cNvSpPr/>
          <p:nvPr/>
        </p:nvSpPr>
        <p:spPr>
          <a:xfrm>
            <a:off x="3182112" y="1444752"/>
            <a:ext cx="2852928" cy="3493008"/>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5" name="Shape 22"/>
          <p:cNvSpPr/>
          <p:nvPr/>
        </p:nvSpPr>
        <p:spPr>
          <a:xfrm>
            <a:off x="3182112" y="1444752"/>
            <a:ext cx="64008" cy="3493008"/>
          </a:xfrm>
          <a:prstGeom prst="rect">
            <a:avLst/>
          </a:prstGeom>
          <a:solidFill>
            <a:srgbClr val="6B48A8"/>
          </a:solidFill>
          <a:ln w="12700">
            <a:solidFill>
              <a:srgbClr val="6B48A8"/>
            </a:solidFill>
            <a:prstDash val="solid"/>
          </a:ln>
        </p:spPr>
        <p:txBody>
          <a:bodyPr/>
          <a:lstStyle/>
          <a:p>
            <a:endParaRPr lang="fr-FR"/>
          </a:p>
        </p:txBody>
      </p:sp>
      <p:sp>
        <p:nvSpPr>
          <p:cNvPr id="26" name="Shape 23"/>
          <p:cNvSpPr/>
          <p:nvPr/>
        </p:nvSpPr>
        <p:spPr>
          <a:xfrm>
            <a:off x="3246120" y="1444752"/>
            <a:ext cx="2788920" cy="566928"/>
          </a:xfrm>
          <a:prstGeom prst="rect">
            <a:avLst/>
          </a:prstGeom>
          <a:solidFill>
            <a:srgbClr val="6B48A8"/>
          </a:solidFill>
          <a:ln w="12700">
            <a:solidFill>
              <a:srgbClr val="6B48A8"/>
            </a:solidFill>
            <a:prstDash val="solid"/>
          </a:ln>
        </p:spPr>
        <p:txBody>
          <a:bodyPr/>
          <a:lstStyle/>
          <a:p>
            <a:endParaRPr lang="fr-FR"/>
          </a:p>
        </p:txBody>
      </p:sp>
      <p:sp>
        <p:nvSpPr>
          <p:cNvPr id="27" name="Text 24"/>
          <p:cNvSpPr/>
          <p:nvPr/>
        </p:nvSpPr>
        <p:spPr>
          <a:xfrm>
            <a:off x="3310128" y="1481328"/>
            <a:ext cx="228600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Qwen 2.5 · 7B</a:t>
            </a:r>
            <a:endParaRPr lang="en-US" sz="1350" dirty="0"/>
          </a:p>
        </p:txBody>
      </p:sp>
      <p:sp>
        <p:nvSpPr>
          <p:cNvPr id="28" name="Text 25"/>
          <p:cNvSpPr/>
          <p:nvPr/>
        </p:nvSpPr>
        <p:spPr>
          <a:xfrm>
            <a:off x="3310128" y="1755648"/>
            <a:ext cx="2286000" cy="201168"/>
          </a:xfrm>
          <a:prstGeom prst="rect">
            <a:avLst/>
          </a:prstGeom>
          <a:noFill/>
          <a:ln/>
        </p:spPr>
        <p:txBody>
          <a:bodyPr wrap="square" lIns="0" tIns="0" rIns="0" bIns="0" rtlCol="0" anchor="ctr"/>
          <a:lstStyle/>
          <a:p>
            <a:pPr marL="0" indent="0">
              <a:buNone/>
            </a:pPr>
            <a:r>
              <a:rPr lang="en-US" sz="900" dirty="0">
                <a:solidFill>
                  <a:srgbClr val="D8EDF5"/>
                </a:solidFill>
                <a:latin typeface="Calibri" pitchFamily="34" charset="0"/>
                <a:ea typeface="Calibri" pitchFamily="34" charset="-122"/>
                <a:cs typeface="Calibri" pitchFamily="34" charset="-120"/>
              </a:rPr>
              <a:t>STRUCTURÉ · ~8s</a:t>
            </a:r>
            <a:endParaRPr lang="en-US" sz="900" dirty="0"/>
          </a:p>
        </p:txBody>
      </p:sp>
      <p:sp>
        <p:nvSpPr>
          <p:cNvPr id="29" name="Shape 26"/>
          <p:cNvSpPr/>
          <p:nvPr/>
        </p:nvSpPr>
        <p:spPr>
          <a:xfrm>
            <a:off x="3346704" y="2103120"/>
            <a:ext cx="73152" cy="73152"/>
          </a:xfrm>
          <a:prstGeom prst="rect">
            <a:avLst/>
          </a:prstGeom>
          <a:solidFill>
            <a:srgbClr val="6B48A8"/>
          </a:solidFill>
          <a:ln w="12700">
            <a:solidFill>
              <a:srgbClr val="6B48A8"/>
            </a:solidFill>
            <a:prstDash val="solid"/>
          </a:ln>
        </p:spPr>
        <p:txBody>
          <a:bodyPr/>
          <a:lstStyle/>
          <a:p>
            <a:endParaRPr lang="fr-FR"/>
          </a:p>
        </p:txBody>
      </p:sp>
      <p:sp>
        <p:nvSpPr>
          <p:cNvPr id="30" name="Text 27"/>
          <p:cNvSpPr/>
          <p:nvPr/>
        </p:nvSpPr>
        <p:spPr>
          <a:xfrm>
            <a:off x="3493008" y="2048256"/>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Hypothèses cliniques JSON</a:t>
            </a:r>
            <a:endParaRPr lang="en-US" sz="950" dirty="0"/>
          </a:p>
        </p:txBody>
      </p:sp>
      <p:sp>
        <p:nvSpPr>
          <p:cNvPr id="31" name="Shape 28"/>
          <p:cNvSpPr/>
          <p:nvPr/>
        </p:nvSpPr>
        <p:spPr>
          <a:xfrm>
            <a:off x="3346704" y="2487168"/>
            <a:ext cx="73152" cy="73152"/>
          </a:xfrm>
          <a:prstGeom prst="rect">
            <a:avLst/>
          </a:prstGeom>
          <a:solidFill>
            <a:srgbClr val="6B48A8"/>
          </a:solidFill>
          <a:ln w="12700">
            <a:solidFill>
              <a:srgbClr val="6B48A8"/>
            </a:solidFill>
            <a:prstDash val="solid"/>
          </a:ln>
        </p:spPr>
        <p:txBody>
          <a:bodyPr/>
          <a:lstStyle/>
          <a:p>
            <a:endParaRPr lang="fr-FR"/>
          </a:p>
        </p:txBody>
      </p:sp>
      <p:sp>
        <p:nvSpPr>
          <p:cNvPr id="32" name="Text 29"/>
          <p:cNvSpPr/>
          <p:nvPr/>
        </p:nvSpPr>
        <p:spPr>
          <a:xfrm>
            <a:off x="3493008" y="2432304"/>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CAT complète + sources KB</a:t>
            </a:r>
            <a:endParaRPr lang="en-US" sz="950" dirty="0"/>
          </a:p>
        </p:txBody>
      </p:sp>
      <p:sp>
        <p:nvSpPr>
          <p:cNvPr id="33" name="Shape 30"/>
          <p:cNvSpPr/>
          <p:nvPr/>
        </p:nvSpPr>
        <p:spPr>
          <a:xfrm>
            <a:off x="3346704" y="2871216"/>
            <a:ext cx="73152" cy="73152"/>
          </a:xfrm>
          <a:prstGeom prst="rect">
            <a:avLst/>
          </a:prstGeom>
          <a:solidFill>
            <a:srgbClr val="6B48A8"/>
          </a:solidFill>
          <a:ln w="12700">
            <a:solidFill>
              <a:srgbClr val="6B48A8"/>
            </a:solidFill>
            <a:prstDash val="solid"/>
          </a:ln>
        </p:spPr>
        <p:txBody>
          <a:bodyPr/>
          <a:lstStyle/>
          <a:p>
            <a:endParaRPr lang="fr-FR"/>
          </a:p>
        </p:txBody>
      </p:sp>
      <p:sp>
        <p:nvSpPr>
          <p:cNvPr id="34" name="Text 31"/>
          <p:cNvSpPr/>
          <p:nvPr/>
        </p:nvSpPr>
        <p:spPr>
          <a:xfrm>
            <a:off x="3493008" y="2816352"/>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Rapport structuré 17 champs</a:t>
            </a:r>
            <a:endParaRPr lang="en-US" sz="950" dirty="0"/>
          </a:p>
        </p:txBody>
      </p:sp>
      <p:sp>
        <p:nvSpPr>
          <p:cNvPr id="35" name="Shape 32"/>
          <p:cNvSpPr/>
          <p:nvPr/>
        </p:nvSpPr>
        <p:spPr>
          <a:xfrm>
            <a:off x="3310128" y="4224528"/>
            <a:ext cx="2651760" cy="512064"/>
          </a:xfrm>
          <a:prstGeom prst="rect">
            <a:avLst/>
          </a:prstGeom>
          <a:solidFill>
            <a:srgbClr val="F8FAFC"/>
          </a:solidFill>
          <a:ln w="6350">
            <a:solidFill>
              <a:srgbClr val="E2E8F0"/>
            </a:solidFill>
            <a:prstDash val="solid"/>
          </a:ln>
        </p:spPr>
        <p:txBody>
          <a:bodyPr/>
          <a:lstStyle/>
          <a:p>
            <a:endParaRPr lang="fr-FR"/>
          </a:p>
        </p:txBody>
      </p:sp>
      <p:sp>
        <p:nvSpPr>
          <p:cNvPr id="36" name="Text 33"/>
          <p:cNvSpPr/>
          <p:nvPr/>
        </p:nvSpPr>
        <p:spPr>
          <a:xfrm>
            <a:off x="3383280" y="4242816"/>
            <a:ext cx="2505456" cy="45720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JSON structuré fiable. 128K contexte. Taux échec JSON &lt; 5% vs 22% Meditron.</a:t>
            </a:r>
            <a:endParaRPr lang="en-US" sz="800" dirty="0"/>
          </a:p>
        </p:txBody>
      </p:sp>
      <p:sp>
        <p:nvSpPr>
          <p:cNvPr id="37" name="Text 34"/>
          <p:cNvSpPr/>
          <p:nvPr/>
        </p:nvSpPr>
        <p:spPr>
          <a:xfrm>
            <a:off x="3310128" y="4800600"/>
            <a:ext cx="2651760" cy="201168"/>
          </a:xfrm>
          <a:prstGeom prst="rect">
            <a:avLst/>
          </a:prstGeom>
          <a:noFill/>
          <a:ln/>
        </p:spPr>
        <p:txBody>
          <a:bodyPr wrap="square" lIns="0" tIns="0" rIns="0" bIns="0" rtlCol="0" anchor="ctr"/>
          <a:lstStyle/>
          <a:p>
            <a:pPr marL="0" indent="0" algn="r">
              <a:buNone/>
            </a:pPr>
            <a:r>
              <a:rPr lang="en-US" sz="850" b="1" dirty="0">
                <a:solidFill>
                  <a:srgbClr val="6B48A8"/>
                </a:solidFill>
                <a:latin typeface="Calibri" pitchFamily="34" charset="0"/>
                <a:ea typeface="Calibri" pitchFamily="34" charset="-122"/>
                <a:cs typeface="Calibri" pitchFamily="34" charset="-120"/>
              </a:rPr>
              <a:t>~4.7 GB RAM</a:t>
            </a:r>
            <a:endParaRPr lang="en-US" sz="850" dirty="0"/>
          </a:p>
        </p:txBody>
      </p:sp>
      <p:sp>
        <p:nvSpPr>
          <p:cNvPr id="38" name="Shape 35"/>
          <p:cNvSpPr/>
          <p:nvPr/>
        </p:nvSpPr>
        <p:spPr>
          <a:xfrm>
            <a:off x="6199632" y="1444752"/>
            <a:ext cx="2852928" cy="3493008"/>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9" name="Shape 36"/>
          <p:cNvSpPr/>
          <p:nvPr/>
        </p:nvSpPr>
        <p:spPr>
          <a:xfrm>
            <a:off x="6199632" y="1444752"/>
            <a:ext cx="64008" cy="3493008"/>
          </a:xfrm>
          <a:prstGeom prst="rect">
            <a:avLst/>
          </a:prstGeom>
          <a:solidFill>
            <a:srgbClr val="1B3A5C"/>
          </a:solidFill>
          <a:ln w="12700">
            <a:solidFill>
              <a:srgbClr val="1B3A5C"/>
            </a:solidFill>
            <a:prstDash val="solid"/>
          </a:ln>
        </p:spPr>
        <p:txBody>
          <a:bodyPr/>
          <a:lstStyle/>
          <a:p>
            <a:endParaRPr lang="fr-FR"/>
          </a:p>
        </p:txBody>
      </p:sp>
      <p:sp>
        <p:nvSpPr>
          <p:cNvPr id="40" name="Shape 37"/>
          <p:cNvSpPr/>
          <p:nvPr/>
        </p:nvSpPr>
        <p:spPr>
          <a:xfrm>
            <a:off x="6263640" y="1444752"/>
            <a:ext cx="2788920" cy="566928"/>
          </a:xfrm>
          <a:prstGeom prst="rect">
            <a:avLst/>
          </a:prstGeom>
          <a:solidFill>
            <a:srgbClr val="1B3A5C"/>
          </a:solidFill>
          <a:ln w="12700">
            <a:solidFill>
              <a:srgbClr val="1B3A5C"/>
            </a:solidFill>
            <a:prstDash val="solid"/>
          </a:ln>
        </p:spPr>
        <p:txBody>
          <a:bodyPr/>
          <a:lstStyle/>
          <a:p>
            <a:endParaRPr lang="fr-FR"/>
          </a:p>
        </p:txBody>
      </p:sp>
      <p:sp>
        <p:nvSpPr>
          <p:cNvPr id="41" name="Text 38"/>
          <p:cNvSpPr/>
          <p:nvPr/>
        </p:nvSpPr>
        <p:spPr>
          <a:xfrm>
            <a:off x="6327648" y="1481328"/>
            <a:ext cx="228600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Meditron · 7B</a:t>
            </a:r>
            <a:endParaRPr lang="en-US" sz="1350" dirty="0"/>
          </a:p>
        </p:txBody>
      </p:sp>
      <p:sp>
        <p:nvSpPr>
          <p:cNvPr id="42" name="Text 39"/>
          <p:cNvSpPr/>
          <p:nvPr/>
        </p:nvSpPr>
        <p:spPr>
          <a:xfrm>
            <a:off x="6327648" y="1755648"/>
            <a:ext cx="2286000" cy="201168"/>
          </a:xfrm>
          <a:prstGeom prst="rect">
            <a:avLst/>
          </a:prstGeom>
          <a:noFill/>
          <a:ln/>
        </p:spPr>
        <p:txBody>
          <a:bodyPr wrap="square" lIns="0" tIns="0" rIns="0" bIns="0" rtlCol="0" anchor="ctr"/>
          <a:lstStyle/>
          <a:p>
            <a:pPr marL="0" indent="0">
              <a:buNone/>
            </a:pPr>
            <a:r>
              <a:rPr lang="en-US" sz="900" dirty="0">
                <a:solidFill>
                  <a:srgbClr val="D8EDF5"/>
                </a:solidFill>
                <a:latin typeface="Calibri" pitchFamily="34" charset="0"/>
                <a:ea typeface="Calibri" pitchFamily="34" charset="-122"/>
                <a:cs typeface="Calibri" pitchFamily="34" charset="-120"/>
              </a:rPr>
              <a:t>MÉDICAL · ~45s</a:t>
            </a:r>
            <a:endParaRPr lang="en-US" sz="900" dirty="0"/>
          </a:p>
        </p:txBody>
      </p:sp>
      <p:sp>
        <p:nvSpPr>
          <p:cNvPr id="43" name="Shape 40"/>
          <p:cNvSpPr/>
          <p:nvPr/>
        </p:nvSpPr>
        <p:spPr>
          <a:xfrm>
            <a:off x="6364224" y="2103120"/>
            <a:ext cx="73152" cy="73152"/>
          </a:xfrm>
          <a:prstGeom prst="rect">
            <a:avLst/>
          </a:prstGeom>
          <a:solidFill>
            <a:srgbClr val="1B3A5C"/>
          </a:solidFill>
          <a:ln w="12700">
            <a:solidFill>
              <a:srgbClr val="1B3A5C"/>
            </a:solidFill>
            <a:prstDash val="solid"/>
          </a:ln>
        </p:spPr>
        <p:txBody>
          <a:bodyPr/>
          <a:lstStyle/>
          <a:p>
            <a:endParaRPr lang="fr-FR"/>
          </a:p>
        </p:txBody>
      </p:sp>
      <p:sp>
        <p:nvSpPr>
          <p:cNvPr id="44" name="Text 41"/>
          <p:cNvSpPr/>
          <p:nvPr/>
        </p:nvSpPr>
        <p:spPr>
          <a:xfrm>
            <a:off x="6510528" y="2048256"/>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Rapport LLM quotidien complet</a:t>
            </a:r>
            <a:endParaRPr lang="en-US" sz="950" dirty="0"/>
          </a:p>
        </p:txBody>
      </p:sp>
      <p:sp>
        <p:nvSpPr>
          <p:cNvPr id="45" name="Shape 42"/>
          <p:cNvSpPr/>
          <p:nvPr/>
        </p:nvSpPr>
        <p:spPr>
          <a:xfrm>
            <a:off x="6364224" y="2487168"/>
            <a:ext cx="73152" cy="73152"/>
          </a:xfrm>
          <a:prstGeom prst="rect">
            <a:avLst/>
          </a:prstGeom>
          <a:solidFill>
            <a:srgbClr val="1B3A5C"/>
          </a:solidFill>
          <a:ln w="12700">
            <a:solidFill>
              <a:srgbClr val="1B3A5C"/>
            </a:solidFill>
            <a:prstDash val="solid"/>
          </a:ln>
        </p:spPr>
        <p:txBody>
          <a:bodyPr/>
          <a:lstStyle/>
          <a:p>
            <a:endParaRPr lang="fr-FR"/>
          </a:p>
        </p:txBody>
      </p:sp>
      <p:sp>
        <p:nvSpPr>
          <p:cNvPr id="46" name="Text 43"/>
          <p:cNvSpPr/>
          <p:nvPr/>
        </p:nvSpPr>
        <p:spPr>
          <a:xfrm>
            <a:off x="6510528" y="2432304"/>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1x/jour par résident</a:t>
            </a:r>
            <a:endParaRPr lang="en-US" sz="950" dirty="0"/>
          </a:p>
        </p:txBody>
      </p:sp>
      <p:sp>
        <p:nvSpPr>
          <p:cNvPr id="47" name="Shape 44"/>
          <p:cNvSpPr/>
          <p:nvPr/>
        </p:nvSpPr>
        <p:spPr>
          <a:xfrm>
            <a:off x="6364224" y="2871216"/>
            <a:ext cx="73152" cy="73152"/>
          </a:xfrm>
          <a:prstGeom prst="rect">
            <a:avLst/>
          </a:prstGeom>
          <a:solidFill>
            <a:srgbClr val="1B3A5C"/>
          </a:solidFill>
          <a:ln w="12700">
            <a:solidFill>
              <a:srgbClr val="1B3A5C"/>
            </a:solidFill>
            <a:prstDash val="solid"/>
          </a:ln>
        </p:spPr>
        <p:txBody>
          <a:bodyPr/>
          <a:lstStyle/>
          <a:p>
            <a:endParaRPr lang="fr-FR"/>
          </a:p>
        </p:txBody>
      </p:sp>
      <p:sp>
        <p:nvSpPr>
          <p:cNvPr id="48" name="Text 45"/>
          <p:cNvSpPr/>
          <p:nvPr/>
        </p:nvSpPr>
        <p:spPr>
          <a:xfrm>
            <a:off x="6510528" y="2816352"/>
            <a:ext cx="2450592" cy="32918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Contexte A2A pré-calculé injecté</a:t>
            </a:r>
            <a:endParaRPr lang="en-US" sz="950" dirty="0"/>
          </a:p>
        </p:txBody>
      </p:sp>
      <p:sp>
        <p:nvSpPr>
          <p:cNvPr id="49" name="Shape 46"/>
          <p:cNvSpPr/>
          <p:nvPr/>
        </p:nvSpPr>
        <p:spPr>
          <a:xfrm>
            <a:off x="6327648" y="4224528"/>
            <a:ext cx="2651760" cy="512064"/>
          </a:xfrm>
          <a:prstGeom prst="rect">
            <a:avLst/>
          </a:prstGeom>
          <a:solidFill>
            <a:srgbClr val="F8FAFC"/>
          </a:solidFill>
          <a:ln w="6350">
            <a:solidFill>
              <a:srgbClr val="E2E8F0"/>
            </a:solidFill>
            <a:prstDash val="solid"/>
          </a:ln>
        </p:spPr>
        <p:txBody>
          <a:bodyPr/>
          <a:lstStyle/>
          <a:p>
            <a:endParaRPr lang="fr-FR"/>
          </a:p>
        </p:txBody>
      </p:sp>
      <p:sp>
        <p:nvSpPr>
          <p:cNvPr id="50" name="Text 47"/>
          <p:cNvSpPr/>
          <p:nvPr/>
        </p:nvSpPr>
        <p:spPr>
          <a:xfrm>
            <a:off x="6400800" y="4242816"/>
            <a:ext cx="2505456" cy="45720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Seul usage où la connaissance médicale prime sur la vitesse. Lancé à minuit.</a:t>
            </a:r>
            <a:endParaRPr lang="en-US" sz="800" dirty="0"/>
          </a:p>
        </p:txBody>
      </p:sp>
      <p:sp>
        <p:nvSpPr>
          <p:cNvPr id="51" name="Text 48"/>
          <p:cNvSpPr/>
          <p:nvPr/>
        </p:nvSpPr>
        <p:spPr>
          <a:xfrm>
            <a:off x="6327648" y="4800600"/>
            <a:ext cx="2651760" cy="201168"/>
          </a:xfrm>
          <a:prstGeom prst="rect">
            <a:avLst/>
          </a:prstGeom>
          <a:noFill/>
          <a:ln/>
        </p:spPr>
        <p:txBody>
          <a:bodyPr wrap="square" lIns="0" tIns="0" rIns="0" bIns="0" rtlCol="0" anchor="ctr"/>
          <a:lstStyle/>
          <a:p>
            <a:pPr marL="0" indent="0" algn="r">
              <a:buNone/>
            </a:pPr>
            <a:r>
              <a:rPr lang="en-US" sz="850" b="1" dirty="0">
                <a:solidFill>
                  <a:srgbClr val="1B3A5C"/>
                </a:solidFill>
                <a:latin typeface="Calibri" pitchFamily="34" charset="0"/>
                <a:ea typeface="Calibri" pitchFamily="34" charset="-122"/>
                <a:cs typeface="Calibri" pitchFamily="34" charset="-120"/>
              </a:rPr>
              <a:t>~4.1 GB RAM</a:t>
            </a:r>
            <a:endParaRPr lang="en-US" sz="850" dirty="0"/>
          </a:p>
        </p:txBody>
      </p:sp>
      <p:sp>
        <p:nvSpPr>
          <p:cNvPr id="52" name="Text 49"/>
          <p:cNvSpPr/>
          <p:nvPr/>
        </p:nvSpPr>
        <p:spPr>
          <a:xfrm>
            <a:off x="3072384" y="2852928"/>
            <a:ext cx="109728" cy="329184"/>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53" name="Text 50"/>
          <p:cNvSpPr/>
          <p:nvPr/>
        </p:nvSpPr>
        <p:spPr>
          <a:xfrm>
            <a:off x="6089904" y="2852928"/>
            <a:ext cx="109728" cy="329184"/>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Sécurité — Architecture Défense en Profondeur</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Text 5"/>
          <p:cNvSpPr/>
          <p:nvPr/>
        </p:nvSpPr>
        <p:spPr>
          <a:xfrm>
            <a:off x="201168" y="640080"/>
            <a:ext cx="8741664"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MQTT — Avant / Après</a:t>
            </a:r>
            <a:endParaRPr lang="en-US" sz="1200" dirty="0"/>
          </a:p>
        </p:txBody>
      </p:sp>
      <p:sp>
        <p:nvSpPr>
          <p:cNvPr id="9" name="Shape 6"/>
          <p:cNvSpPr/>
          <p:nvPr/>
        </p:nvSpPr>
        <p:spPr>
          <a:xfrm>
            <a:off x="201168" y="950976"/>
            <a:ext cx="4206240" cy="14630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0" name="Shape 7"/>
          <p:cNvSpPr/>
          <p:nvPr/>
        </p:nvSpPr>
        <p:spPr>
          <a:xfrm>
            <a:off x="201168" y="950976"/>
            <a:ext cx="54864" cy="1463040"/>
          </a:xfrm>
          <a:prstGeom prst="rect">
            <a:avLst/>
          </a:prstGeom>
          <a:solidFill>
            <a:srgbClr val="E24B4A"/>
          </a:solidFill>
          <a:ln w="12700">
            <a:solidFill>
              <a:srgbClr val="E24B4A"/>
            </a:solidFill>
            <a:prstDash val="solid"/>
          </a:ln>
        </p:spPr>
        <p:txBody>
          <a:bodyPr/>
          <a:lstStyle/>
          <a:p>
            <a:endParaRPr lang="fr-FR"/>
          </a:p>
        </p:txBody>
      </p:sp>
      <p:sp>
        <p:nvSpPr>
          <p:cNvPr id="11" name="Text 8"/>
          <p:cNvSpPr/>
          <p:nvPr/>
        </p:nvSpPr>
        <p:spPr>
          <a:xfrm>
            <a:off x="329184" y="1005840"/>
            <a:ext cx="3950208" cy="256032"/>
          </a:xfrm>
          <a:prstGeom prst="rect">
            <a:avLst/>
          </a:prstGeom>
          <a:noFill/>
          <a:ln/>
        </p:spPr>
        <p:txBody>
          <a:bodyPr wrap="square" lIns="0" tIns="0" rIns="0" bIns="0" rtlCol="0" anchor="ctr"/>
          <a:lstStyle/>
          <a:p>
            <a:pPr marL="0" indent="0">
              <a:buNone/>
            </a:pPr>
            <a:r>
              <a:rPr lang="en-US" sz="1000" b="1" dirty="0">
                <a:solidFill>
                  <a:srgbClr val="E24B4A"/>
                </a:solidFill>
                <a:latin typeface="Calibri" pitchFamily="34" charset="0"/>
                <a:ea typeface="Calibri" pitchFamily="34" charset="-122"/>
                <a:cs typeface="Calibri" pitchFamily="34" charset="-120"/>
              </a:rPr>
              <a:t>❌  Avant — allow_anonymous true</a:t>
            </a:r>
            <a:endParaRPr lang="en-US" sz="1000" dirty="0"/>
          </a:p>
        </p:txBody>
      </p:sp>
      <p:sp>
        <p:nvSpPr>
          <p:cNvPr id="12" name="Text 9"/>
          <p:cNvSpPr/>
          <p:nvPr/>
        </p:nvSpPr>
        <p:spPr>
          <a:xfrm>
            <a:off x="329184" y="1280160"/>
            <a:ext cx="3950208" cy="104241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listener 1883</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allow_anonymous true</a:t>
            </a:r>
            <a:endParaRPr lang="en-US" sz="900" dirty="0"/>
          </a:p>
          <a:p>
            <a:pPr marL="0" indent="0">
              <a:buNone/>
            </a:pP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 N'importe quel device publie de faux vitaux</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 SpO2=50% → alerte N5 sur patient réel</a:t>
            </a:r>
            <a:endParaRPr lang="en-US" sz="900" dirty="0"/>
          </a:p>
        </p:txBody>
      </p:sp>
      <p:sp>
        <p:nvSpPr>
          <p:cNvPr id="13" name="Shape 10"/>
          <p:cNvSpPr/>
          <p:nvPr/>
        </p:nvSpPr>
        <p:spPr>
          <a:xfrm>
            <a:off x="4736592" y="950976"/>
            <a:ext cx="4206240" cy="14630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4" name="Shape 11"/>
          <p:cNvSpPr/>
          <p:nvPr/>
        </p:nvSpPr>
        <p:spPr>
          <a:xfrm>
            <a:off x="4736592" y="950976"/>
            <a:ext cx="54864" cy="1463040"/>
          </a:xfrm>
          <a:prstGeom prst="rect">
            <a:avLst/>
          </a:prstGeom>
          <a:solidFill>
            <a:srgbClr val="1D9E75"/>
          </a:solidFill>
          <a:ln w="12700">
            <a:solidFill>
              <a:srgbClr val="1D9E75"/>
            </a:solidFill>
            <a:prstDash val="solid"/>
          </a:ln>
        </p:spPr>
        <p:txBody>
          <a:bodyPr/>
          <a:lstStyle/>
          <a:p>
            <a:endParaRPr lang="fr-FR"/>
          </a:p>
        </p:txBody>
      </p:sp>
      <p:sp>
        <p:nvSpPr>
          <p:cNvPr id="15" name="Text 12"/>
          <p:cNvSpPr/>
          <p:nvPr/>
        </p:nvSpPr>
        <p:spPr>
          <a:xfrm>
            <a:off x="4864608" y="1005840"/>
            <a:ext cx="3950208" cy="256032"/>
          </a:xfrm>
          <a:prstGeom prst="rect">
            <a:avLst/>
          </a:prstGeom>
          <a:noFill/>
          <a:ln/>
        </p:spPr>
        <p:txBody>
          <a:bodyPr wrap="square" lIns="0" tIns="0" rIns="0" bIns="0" rtlCol="0" anchor="ctr"/>
          <a:lstStyle/>
          <a:p>
            <a:pPr marL="0" indent="0">
              <a:buNone/>
            </a:pPr>
            <a:r>
              <a:rPr lang="en-US" sz="1000" b="1" dirty="0">
                <a:solidFill>
                  <a:srgbClr val="1D9E75"/>
                </a:solidFill>
                <a:latin typeface="Calibri" pitchFamily="34" charset="0"/>
                <a:ea typeface="Calibri" pitchFamily="34" charset="-122"/>
                <a:cs typeface="Calibri" pitchFamily="34" charset="-120"/>
              </a:rPr>
              <a:t>✓  Après — Sécurisé par comptes + ACL</a:t>
            </a:r>
            <a:endParaRPr lang="en-US" sz="1000" dirty="0"/>
          </a:p>
        </p:txBody>
      </p:sp>
      <p:sp>
        <p:nvSpPr>
          <p:cNvPr id="16" name="Text 13"/>
          <p:cNvSpPr/>
          <p:nvPr/>
        </p:nvSpPr>
        <p:spPr>
          <a:xfrm>
            <a:off x="4864608" y="1280160"/>
            <a:ext cx="3950208" cy="1042416"/>
          </a:xfrm>
          <a:prstGeom prst="rect">
            <a:avLst/>
          </a:prstGeom>
          <a:noFill/>
          <a:ln/>
        </p:spPr>
        <p:txBody>
          <a:bodyPr wrap="square" lIns="0" tIns="0" rIns="0" bIns="0" rtlCol="0" anchor="ctr"/>
          <a:lstStyle/>
          <a:p>
            <a:r>
              <a:rPr sz="1100">
                <a:solidFill>
                  <a:srgbClr val="2C3E50"/>
                </a:solidFill>
                <a:latin typeface="Aptos"/>
              </a:rPr>
              <a:t>allow_anonymous false · password_file bcrypt</a:t>
            </a:r>
          </a:p>
          <a:p>
            <a:r>
              <a:rPr sz="1100">
                <a:solidFill>
                  <a:srgbClr val="2C3E50"/>
                </a:solidFill>
                <a:latin typeface="Aptos"/>
              </a:rPr>
              <a:t>listeners 1883/9001 locaux · acl_file par rôle</a:t>
            </a:r>
          </a:p>
          <a:p>
            <a:endParaRPr sz="1100">
              <a:solidFill>
                <a:srgbClr val="2C3E50"/>
              </a:solidFill>
              <a:latin typeface="Aptos"/>
            </a:endParaRPr>
          </a:p>
          <a:p>
            <a:r>
              <a:rPr sz="1100">
                <a:solidFill>
                  <a:srgbClr val="2C3E50"/>
                </a:solidFill>
                <a:latin typeface="Aptos"/>
              </a:rPr>
              <a:t>simulator → write ehpad/residents/# et zones/#</a:t>
            </a:r>
          </a:p>
          <a:p>
            <a:r>
              <a:rPr sz="1100">
                <a:solidFill>
                  <a:srgbClr val="2C3E50"/>
                </a:solidFill>
                <a:latin typeface="Aptos"/>
              </a:rPr>
              <a:t>backend → read ehpad/# + write control/#</a:t>
            </a:r>
          </a:p>
          <a:p>
            <a:r>
              <a:rPr sz="1100">
                <a:solidFill>
                  <a:srgbClr val="2C3E50"/>
                </a:solidFill>
                <a:latin typeface="Aptos"/>
              </a:rPr>
              <a:t>TLS 8883 = évolution production</a:t>
            </a:r>
          </a:p>
        </p:txBody>
      </p:sp>
      <p:sp>
        <p:nvSpPr>
          <p:cNvPr id="17" name="Text 14"/>
          <p:cNvSpPr/>
          <p:nvPr/>
        </p:nvSpPr>
        <p:spPr>
          <a:xfrm>
            <a:off x="201168" y="2560320"/>
            <a:ext cx="8741664"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Autres mesures appliquées</a:t>
            </a:r>
            <a:endParaRPr lang="en-US" sz="1200" dirty="0"/>
          </a:p>
        </p:txBody>
      </p:sp>
      <p:sp>
        <p:nvSpPr>
          <p:cNvPr id="18" name="Shape 15"/>
          <p:cNvSpPr/>
          <p:nvPr/>
        </p:nvSpPr>
        <p:spPr>
          <a:xfrm>
            <a:off x="201168" y="2907792"/>
            <a:ext cx="4206240" cy="82296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9" name="Shape 16"/>
          <p:cNvSpPr/>
          <p:nvPr/>
        </p:nvSpPr>
        <p:spPr>
          <a:xfrm>
            <a:off x="201168" y="2907792"/>
            <a:ext cx="54864" cy="822960"/>
          </a:xfrm>
          <a:prstGeom prst="rect">
            <a:avLst/>
          </a:prstGeom>
          <a:solidFill>
            <a:srgbClr val="1D9E75"/>
          </a:solidFill>
          <a:ln w="12700">
            <a:solidFill>
              <a:srgbClr val="1D9E75"/>
            </a:solidFill>
            <a:prstDash val="solid"/>
          </a:ln>
        </p:spPr>
        <p:txBody>
          <a:bodyPr/>
          <a:lstStyle/>
          <a:p>
            <a:endParaRPr lang="fr-FR"/>
          </a:p>
        </p:txBody>
      </p:sp>
      <p:pic>
        <p:nvPicPr>
          <p:cNvPr id="20" name="Image 1" descr="preencoded.png"/>
          <p:cNvPicPr>
            <a:picLocks noChangeAspect="1"/>
          </p:cNvPicPr>
          <p:nvPr/>
        </p:nvPicPr>
        <p:blipFill>
          <a:blip r:embed="rId4"/>
          <a:stretch>
            <a:fillRect/>
          </a:stretch>
        </p:blipFill>
        <p:spPr>
          <a:xfrm>
            <a:off x="329184" y="3090672"/>
            <a:ext cx="365760" cy="365760"/>
          </a:xfrm>
          <a:prstGeom prst="rect">
            <a:avLst/>
          </a:prstGeom>
        </p:spPr>
      </p:pic>
      <p:sp>
        <p:nvSpPr>
          <p:cNvPr id="21" name="Text 17"/>
          <p:cNvSpPr/>
          <p:nvPr/>
        </p:nvSpPr>
        <p:spPr>
          <a:xfrm>
            <a:off x="795528" y="3017520"/>
            <a:ext cx="3511296"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Auth HMAC-SHA256</a:t>
            </a:r>
            <a:endParaRPr lang="en-US" sz="1100" dirty="0"/>
          </a:p>
        </p:txBody>
      </p:sp>
      <p:sp>
        <p:nvSpPr>
          <p:cNvPr id="22" name="Text 18"/>
          <p:cNvSpPr/>
          <p:nvPr/>
        </p:nvSpPr>
        <p:spPr>
          <a:xfrm>
            <a:off x="795528" y="3291840"/>
            <a:ext cx="3511296" cy="34747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Tokens personnel + famille distincts · rate limiting 5/min · bris de glace audité</a:t>
            </a:r>
            <a:endParaRPr lang="en-US" sz="900" dirty="0"/>
          </a:p>
        </p:txBody>
      </p:sp>
      <p:sp>
        <p:nvSpPr>
          <p:cNvPr id="23" name="Shape 19"/>
          <p:cNvSpPr/>
          <p:nvPr/>
        </p:nvSpPr>
        <p:spPr>
          <a:xfrm>
            <a:off x="4672584" y="2907792"/>
            <a:ext cx="4206240" cy="82296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4" name="Shape 20"/>
          <p:cNvSpPr/>
          <p:nvPr/>
        </p:nvSpPr>
        <p:spPr>
          <a:xfrm>
            <a:off x="4672584" y="2907792"/>
            <a:ext cx="54864" cy="822960"/>
          </a:xfrm>
          <a:prstGeom prst="rect">
            <a:avLst/>
          </a:prstGeom>
          <a:solidFill>
            <a:srgbClr val="028090"/>
          </a:solidFill>
          <a:ln w="12700">
            <a:solidFill>
              <a:srgbClr val="028090"/>
            </a:solidFill>
            <a:prstDash val="solid"/>
          </a:ln>
        </p:spPr>
        <p:txBody>
          <a:bodyPr/>
          <a:lstStyle/>
          <a:p>
            <a:endParaRPr lang="fr-FR"/>
          </a:p>
        </p:txBody>
      </p:sp>
      <p:pic>
        <p:nvPicPr>
          <p:cNvPr id="25" name="Image 2" descr="preencoded.png"/>
          <p:cNvPicPr>
            <a:picLocks noChangeAspect="1"/>
          </p:cNvPicPr>
          <p:nvPr/>
        </p:nvPicPr>
        <p:blipFill>
          <a:blip r:embed="rId5"/>
          <a:stretch>
            <a:fillRect/>
          </a:stretch>
        </p:blipFill>
        <p:spPr>
          <a:xfrm>
            <a:off x="4800600" y="3090672"/>
            <a:ext cx="365760" cy="365760"/>
          </a:xfrm>
          <a:prstGeom prst="rect">
            <a:avLst/>
          </a:prstGeom>
        </p:spPr>
      </p:pic>
      <p:sp>
        <p:nvSpPr>
          <p:cNvPr id="26" name="Text 21"/>
          <p:cNvSpPr/>
          <p:nvPr/>
        </p:nvSpPr>
        <p:spPr>
          <a:xfrm>
            <a:off x="5266944" y="3017520"/>
            <a:ext cx="3511296"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Ports restreints</a:t>
            </a:r>
            <a:endParaRPr lang="en-US" sz="1100" dirty="0"/>
          </a:p>
        </p:txBody>
      </p:sp>
      <p:sp>
        <p:nvSpPr>
          <p:cNvPr id="27" name="Text 22"/>
          <p:cNvSpPr/>
          <p:nvPr/>
        </p:nvSpPr>
        <p:spPr>
          <a:xfrm>
            <a:off x="5266944" y="3291840"/>
            <a:ext cx="3511296" cy="34747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Redis/InfluxDB/MQTT sur 127.0.0.1 seulement · pas d'exposition publique</a:t>
            </a:r>
            <a:endParaRPr lang="en-US" sz="900" dirty="0"/>
          </a:p>
        </p:txBody>
      </p:sp>
      <p:sp>
        <p:nvSpPr>
          <p:cNvPr id="28" name="Shape 23"/>
          <p:cNvSpPr/>
          <p:nvPr/>
        </p:nvSpPr>
        <p:spPr>
          <a:xfrm>
            <a:off x="201168" y="3877056"/>
            <a:ext cx="4206240" cy="82296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9" name="Shape 24"/>
          <p:cNvSpPr/>
          <p:nvPr/>
        </p:nvSpPr>
        <p:spPr>
          <a:xfrm>
            <a:off x="201168" y="3877056"/>
            <a:ext cx="54864" cy="822960"/>
          </a:xfrm>
          <a:prstGeom prst="rect">
            <a:avLst/>
          </a:prstGeom>
          <a:solidFill>
            <a:srgbClr val="6B48A8"/>
          </a:solidFill>
          <a:ln w="12700">
            <a:solidFill>
              <a:srgbClr val="6B48A8"/>
            </a:solidFill>
            <a:prstDash val="solid"/>
          </a:ln>
        </p:spPr>
        <p:txBody>
          <a:bodyPr/>
          <a:lstStyle/>
          <a:p>
            <a:endParaRPr lang="fr-FR"/>
          </a:p>
        </p:txBody>
      </p:sp>
      <p:pic>
        <p:nvPicPr>
          <p:cNvPr id="30" name="Image 3" descr="preencoded.png"/>
          <p:cNvPicPr>
            <a:picLocks noChangeAspect="1"/>
          </p:cNvPicPr>
          <p:nvPr/>
        </p:nvPicPr>
        <p:blipFill>
          <a:blip r:embed="rId6"/>
          <a:stretch>
            <a:fillRect/>
          </a:stretch>
        </p:blipFill>
        <p:spPr>
          <a:xfrm>
            <a:off x="329184" y="4059936"/>
            <a:ext cx="365760" cy="365760"/>
          </a:xfrm>
          <a:prstGeom prst="rect">
            <a:avLst/>
          </a:prstGeom>
        </p:spPr>
      </p:pic>
      <p:sp>
        <p:nvSpPr>
          <p:cNvPr id="31" name="Text 25"/>
          <p:cNvSpPr/>
          <p:nvPr/>
        </p:nvSpPr>
        <p:spPr>
          <a:xfrm>
            <a:off x="795528" y="3986784"/>
            <a:ext cx="3511296"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Secrets externalisés</a:t>
            </a:r>
            <a:endParaRPr lang="en-US" sz="1100" dirty="0"/>
          </a:p>
        </p:txBody>
      </p:sp>
      <p:sp>
        <p:nvSpPr>
          <p:cNvPr id="32" name="Text 26"/>
          <p:cNvSpPr/>
          <p:nvPr/>
        </p:nvSpPr>
        <p:spPr>
          <a:xfrm>
            <a:off x="795528" y="4261104"/>
            <a:ext cx="3511296" cy="34747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VAPID keys hors docker-compose · .env.example sans vraies valeurs · .gitignore complet</a:t>
            </a:r>
            <a:endParaRPr lang="en-US" sz="900" dirty="0"/>
          </a:p>
        </p:txBody>
      </p:sp>
      <p:sp>
        <p:nvSpPr>
          <p:cNvPr id="33" name="Shape 27"/>
          <p:cNvSpPr/>
          <p:nvPr/>
        </p:nvSpPr>
        <p:spPr>
          <a:xfrm>
            <a:off x="4672584" y="3877056"/>
            <a:ext cx="4206240" cy="82296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4" name="Shape 28"/>
          <p:cNvSpPr/>
          <p:nvPr/>
        </p:nvSpPr>
        <p:spPr>
          <a:xfrm>
            <a:off x="4672584" y="3877056"/>
            <a:ext cx="54864" cy="822960"/>
          </a:xfrm>
          <a:prstGeom prst="rect">
            <a:avLst/>
          </a:prstGeom>
          <a:solidFill>
            <a:srgbClr val="BA7517"/>
          </a:solidFill>
          <a:ln w="12700">
            <a:solidFill>
              <a:srgbClr val="BA7517"/>
            </a:solidFill>
            <a:prstDash val="solid"/>
          </a:ln>
        </p:spPr>
        <p:txBody>
          <a:bodyPr/>
          <a:lstStyle/>
          <a:p>
            <a:endParaRPr lang="fr-FR"/>
          </a:p>
        </p:txBody>
      </p:sp>
      <p:pic>
        <p:nvPicPr>
          <p:cNvPr id="35" name="Image 4" descr="preencoded.png"/>
          <p:cNvPicPr>
            <a:picLocks noChangeAspect="1"/>
          </p:cNvPicPr>
          <p:nvPr/>
        </p:nvPicPr>
        <p:blipFill>
          <a:blip r:embed="rId7"/>
          <a:stretch>
            <a:fillRect/>
          </a:stretch>
        </p:blipFill>
        <p:spPr>
          <a:xfrm>
            <a:off x="4800600" y="4059936"/>
            <a:ext cx="365760" cy="365760"/>
          </a:xfrm>
          <a:prstGeom prst="rect">
            <a:avLst/>
          </a:prstGeom>
        </p:spPr>
      </p:pic>
      <p:sp>
        <p:nvSpPr>
          <p:cNvPr id="36" name="Text 29"/>
          <p:cNvSpPr/>
          <p:nvPr/>
        </p:nvSpPr>
        <p:spPr>
          <a:xfrm>
            <a:off x="5266944" y="3986784"/>
            <a:ext cx="3511296"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Redis lock distribué</a:t>
            </a:r>
            <a:endParaRPr lang="en-US" sz="1100" dirty="0"/>
          </a:p>
        </p:txBody>
      </p:sp>
      <p:sp>
        <p:nvSpPr>
          <p:cNvPr id="37" name="Text 30"/>
          <p:cNvSpPr/>
          <p:nvPr/>
        </p:nvSpPr>
        <p:spPr>
          <a:xfrm>
            <a:off x="5266944" y="4261104"/>
            <a:ext cx="3511296" cy="34747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nx=True sur llm:daily:lock:{date} · évite double génération LLM entre backend et worker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Scénario de Démo</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201168" y="62179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6"/>
          <p:cNvSpPr/>
          <p:nvPr/>
        </p:nvSpPr>
        <p:spPr>
          <a:xfrm>
            <a:off x="201168" y="621792"/>
            <a:ext cx="54864" cy="1920240"/>
          </a:xfrm>
          <a:prstGeom prst="rect">
            <a:avLst/>
          </a:prstGeom>
          <a:solidFill>
            <a:srgbClr val="1D9E75"/>
          </a:solidFill>
          <a:ln w="12700">
            <a:solidFill>
              <a:srgbClr val="1D9E75"/>
            </a:solidFill>
            <a:prstDash val="solid"/>
          </a:ln>
        </p:spPr>
        <p:txBody>
          <a:bodyPr/>
          <a:lstStyle/>
          <a:p>
            <a:endParaRPr lang="fr-FR"/>
          </a:p>
        </p:txBody>
      </p:sp>
      <p:sp>
        <p:nvSpPr>
          <p:cNvPr id="10" name="Shape 7"/>
          <p:cNvSpPr/>
          <p:nvPr/>
        </p:nvSpPr>
        <p:spPr>
          <a:xfrm>
            <a:off x="310896" y="749808"/>
            <a:ext cx="384048" cy="384048"/>
          </a:xfrm>
          <a:prstGeom prst="rect">
            <a:avLst/>
          </a:prstGeom>
          <a:solidFill>
            <a:srgbClr val="1D9E75"/>
          </a:solidFill>
          <a:ln w="12700">
            <a:solidFill>
              <a:srgbClr val="1D9E75"/>
            </a:solidFill>
            <a:prstDash val="solid"/>
          </a:ln>
        </p:spPr>
        <p:txBody>
          <a:bodyPr/>
          <a:lstStyle/>
          <a:p>
            <a:endParaRPr lang="fr-FR"/>
          </a:p>
        </p:txBody>
      </p:sp>
      <p:sp>
        <p:nvSpPr>
          <p:cNvPr id="11" name="Text 8"/>
          <p:cNvSpPr/>
          <p:nvPr/>
        </p:nvSpPr>
        <p:spPr>
          <a:xfrm>
            <a:off x="310896" y="7498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2" name="Text 9"/>
          <p:cNvSpPr/>
          <p:nvPr/>
        </p:nvSpPr>
        <p:spPr>
          <a:xfrm>
            <a:off x="795528" y="786384"/>
            <a:ext cx="2103120" cy="31089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Résident sain</a:t>
            </a:r>
            <a:endParaRPr lang="en-US" sz="1100" dirty="0"/>
          </a:p>
        </p:txBody>
      </p:sp>
      <p:sp>
        <p:nvSpPr>
          <p:cNvPr id="13" name="Text 10"/>
          <p:cNvSpPr/>
          <p:nvPr/>
        </p:nvSpPr>
        <p:spPr>
          <a:xfrm>
            <a:off x="329184" y="1243584"/>
            <a:ext cx="2578608" cy="1170432"/>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R001 stable · baseline FC/SpO2 dans les normes · dashboard nominal</a:t>
            </a:r>
            <a:endParaRPr lang="en-US" sz="950" dirty="0"/>
          </a:p>
        </p:txBody>
      </p:sp>
      <p:sp>
        <p:nvSpPr>
          <p:cNvPr id="14" name="Shape 11"/>
          <p:cNvSpPr/>
          <p:nvPr/>
        </p:nvSpPr>
        <p:spPr>
          <a:xfrm>
            <a:off x="3182112" y="62179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5" name="Shape 12"/>
          <p:cNvSpPr/>
          <p:nvPr/>
        </p:nvSpPr>
        <p:spPr>
          <a:xfrm>
            <a:off x="3182112" y="621792"/>
            <a:ext cx="54864" cy="1920240"/>
          </a:xfrm>
          <a:prstGeom prst="rect">
            <a:avLst/>
          </a:prstGeom>
          <a:solidFill>
            <a:srgbClr val="028090"/>
          </a:solidFill>
          <a:ln w="12700">
            <a:solidFill>
              <a:srgbClr val="028090"/>
            </a:solidFill>
            <a:prstDash val="solid"/>
          </a:ln>
        </p:spPr>
        <p:txBody>
          <a:bodyPr/>
          <a:lstStyle/>
          <a:p>
            <a:endParaRPr lang="fr-FR"/>
          </a:p>
        </p:txBody>
      </p:sp>
      <p:sp>
        <p:nvSpPr>
          <p:cNvPr id="16" name="Shape 13"/>
          <p:cNvSpPr/>
          <p:nvPr/>
        </p:nvSpPr>
        <p:spPr>
          <a:xfrm>
            <a:off x="3291840" y="749808"/>
            <a:ext cx="384048" cy="384048"/>
          </a:xfrm>
          <a:prstGeom prst="rect">
            <a:avLst/>
          </a:prstGeom>
          <a:solidFill>
            <a:srgbClr val="028090"/>
          </a:solidFill>
          <a:ln w="12700">
            <a:solidFill>
              <a:srgbClr val="028090"/>
            </a:solidFill>
            <a:prstDash val="solid"/>
          </a:ln>
        </p:spPr>
        <p:txBody>
          <a:bodyPr/>
          <a:lstStyle/>
          <a:p>
            <a:endParaRPr lang="fr-FR"/>
          </a:p>
        </p:txBody>
      </p:sp>
      <p:sp>
        <p:nvSpPr>
          <p:cNvPr id="17" name="Text 14"/>
          <p:cNvSpPr/>
          <p:nvPr/>
        </p:nvSpPr>
        <p:spPr>
          <a:xfrm>
            <a:off x="3291840" y="7498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Text 15"/>
          <p:cNvSpPr/>
          <p:nvPr/>
        </p:nvSpPr>
        <p:spPr>
          <a:xfrm>
            <a:off x="3776472" y="786384"/>
            <a:ext cx="2103120" cy="31089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Scénario SCN003</a:t>
            </a:r>
            <a:endParaRPr lang="en-US" sz="1100" dirty="0"/>
          </a:p>
        </p:txBody>
      </p:sp>
      <p:sp>
        <p:nvSpPr>
          <p:cNvPr id="19" name="Text 16"/>
          <p:cNvSpPr/>
          <p:nvPr/>
        </p:nvSpPr>
        <p:spPr>
          <a:xfrm>
            <a:off x="3310128" y="1243584"/>
            <a:ext cx="2578608" cy="1170432"/>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SpO2 ↓ progressif chez résident BPCO · trigger_rule 120s → agent hémodynamique alerte N3</a:t>
            </a:r>
            <a:endParaRPr lang="en-US" sz="950" dirty="0"/>
          </a:p>
        </p:txBody>
      </p:sp>
      <p:sp>
        <p:nvSpPr>
          <p:cNvPr id="20" name="Shape 17"/>
          <p:cNvSpPr/>
          <p:nvPr/>
        </p:nvSpPr>
        <p:spPr>
          <a:xfrm>
            <a:off x="6163056" y="62179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1" name="Shape 18"/>
          <p:cNvSpPr/>
          <p:nvPr/>
        </p:nvSpPr>
        <p:spPr>
          <a:xfrm>
            <a:off x="6163056" y="621792"/>
            <a:ext cx="54864" cy="1920240"/>
          </a:xfrm>
          <a:prstGeom prst="rect">
            <a:avLst/>
          </a:prstGeom>
          <a:solidFill>
            <a:srgbClr val="E07B39"/>
          </a:solidFill>
          <a:ln w="12700">
            <a:solidFill>
              <a:srgbClr val="E07B39"/>
            </a:solidFill>
            <a:prstDash val="solid"/>
          </a:ln>
        </p:spPr>
        <p:txBody>
          <a:bodyPr/>
          <a:lstStyle/>
          <a:p>
            <a:endParaRPr lang="fr-FR"/>
          </a:p>
        </p:txBody>
      </p:sp>
      <p:sp>
        <p:nvSpPr>
          <p:cNvPr id="22" name="Shape 19"/>
          <p:cNvSpPr/>
          <p:nvPr/>
        </p:nvSpPr>
        <p:spPr>
          <a:xfrm>
            <a:off x="6272784" y="749808"/>
            <a:ext cx="384048" cy="384048"/>
          </a:xfrm>
          <a:prstGeom prst="rect">
            <a:avLst/>
          </a:prstGeom>
          <a:solidFill>
            <a:srgbClr val="E07B39"/>
          </a:solidFill>
          <a:ln w="12700">
            <a:solidFill>
              <a:srgbClr val="E07B39"/>
            </a:solidFill>
            <a:prstDash val="solid"/>
          </a:ln>
        </p:spPr>
        <p:txBody>
          <a:bodyPr/>
          <a:lstStyle/>
          <a:p>
            <a:endParaRPr lang="fr-FR"/>
          </a:p>
        </p:txBody>
      </p:sp>
      <p:sp>
        <p:nvSpPr>
          <p:cNvPr id="23" name="Text 20"/>
          <p:cNvSpPr/>
          <p:nvPr/>
        </p:nvSpPr>
        <p:spPr>
          <a:xfrm>
            <a:off x="6272784" y="7498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4" name="Text 21"/>
          <p:cNvSpPr/>
          <p:nvPr/>
        </p:nvSpPr>
        <p:spPr>
          <a:xfrm>
            <a:off x="6757416" y="786384"/>
            <a:ext cx="2103120" cy="31089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Escalade A2A</a:t>
            </a:r>
            <a:endParaRPr lang="en-US" sz="1100" dirty="0"/>
          </a:p>
        </p:txBody>
      </p:sp>
      <p:sp>
        <p:nvSpPr>
          <p:cNvPr id="25" name="Text 22"/>
          <p:cNvSpPr/>
          <p:nvPr/>
        </p:nvSpPr>
        <p:spPr>
          <a:xfrm>
            <a:off x="6291072" y="1243584"/>
            <a:ext cx="2578608" cy="1170432"/>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Agent antécédents : BPCO + corticoïdes → CAT spécifique. Agent comportement : inactivité 45min</a:t>
            </a:r>
            <a:endParaRPr lang="en-US" sz="950" dirty="0"/>
          </a:p>
        </p:txBody>
      </p:sp>
      <p:sp>
        <p:nvSpPr>
          <p:cNvPr id="26" name="Shape 23"/>
          <p:cNvSpPr/>
          <p:nvPr/>
        </p:nvSpPr>
        <p:spPr>
          <a:xfrm>
            <a:off x="201168" y="272491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7" name="Shape 24"/>
          <p:cNvSpPr/>
          <p:nvPr/>
        </p:nvSpPr>
        <p:spPr>
          <a:xfrm>
            <a:off x="201168" y="2724912"/>
            <a:ext cx="54864" cy="1920240"/>
          </a:xfrm>
          <a:prstGeom prst="rect">
            <a:avLst/>
          </a:prstGeom>
          <a:solidFill>
            <a:srgbClr val="6B48A8"/>
          </a:solidFill>
          <a:ln w="12700">
            <a:solidFill>
              <a:srgbClr val="6B48A8"/>
            </a:solidFill>
            <a:prstDash val="solid"/>
          </a:ln>
        </p:spPr>
        <p:txBody>
          <a:bodyPr/>
          <a:lstStyle/>
          <a:p>
            <a:endParaRPr lang="fr-FR"/>
          </a:p>
        </p:txBody>
      </p:sp>
      <p:sp>
        <p:nvSpPr>
          <p:cNvPr id="28" name="Shape 25"/>
          <p:cNvSpPr/>
          <p:nvPr/>
        </p:nvSpPr>
        <p:spPr>
          <a:xfrm>
            <a:off x="310896" y="2852928"/>
            <a:ext cx="384048" cy="384048"/>
          </a:xfrm>
          <a:prstGeom prst="rect">
            <a:avLst/>
          </a:prstGeom>
          <a:solidFill>
            <a:srgbClr val="6B48A8"/>
          </a:solidFill>
          <a:ln w="12700">
            <a:solidFill>
              <a:srgbClr val="6B48A8"/>
            </a:solidFill>
            <a:prstDash val="solid"/>
          </a:ln>
        </p:spPr>
        <p:txBody>
          <a:bodyPr/>
          <a:lstStyle/>
          <a:p>
            <a:endParaRPr lang="fr-FR"/>
          </a:p>
        </p:txBody>
      </p:sp>
      <p:sp>
        <p:nvSpPr>
          <p:cNvPr id="29" name="Text 26"/>
          <p:cNvSpPr/>
          <p:nvPr/>
        </p:nvSpPr>
        <p:spPr>
          <a:xfrm>
            <a:off x="310896" y="28529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30" name="Text 27"/>
          <p:cNvSpPr/>
          <p:nvPr/>
        </p:nvSpPr>
        <p:spPr>
          <a:xfrm>
            <a:off x="795528" y="2889504"/>
            <a:ext cx="2103120" cy="31089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Prédiction 30-60 min</a:t>
            </a:r>
            <a:endParaRPr lang="en-US" sz="1100" dirty="0"/>
          </a:p>
        </p:txBody>
      </p:sp>
      <p:sp>
        <p:nvSpPr>
          <p:cNvPr id="31" name="Text 28"/>
          <p:cNvSpPr/>
          <p:nvPr/>
        </p:nvSpPr>
        <p:spPr>
          <a:xfrm>
            <a:off x="329184" y="3346704"/>
            <a:ext cx="2578608" cy="1170432"/>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risk_30min = 68% · risk_60min = 74% · label : Risque élevé. Trend : hausse_rapide</a:t>
            </a:r>
            <a:endParaRPr lang="en-US" sz="950" dirty="0"/>
          </a:p>
        </p:txBody>
      </p:sp>
      <p:sp>
        <p:nvSpPr>
          <p:cNvPr id="32" name="Shape 29"/>
          <p:cNvSpPr/>
          <p:nvPr/>
        </p:nvSpPr>
        <p:spPr>
          <a:xfrm>
            <a:off x="3182112" y="272491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3" name="Shape 30"/>
          <p:cNvSpPr/>
          <p:nvPr/>
        </p:nvSpPr>
        <p:spPr>
          <a:xfrm>
            <a:off x="3182112" y="2724912"/>
            <a:ext cx="54864" cy="1920240"/>
          </a:xfrm>
          <a:prstGeom prst="rect">
            <a:avLst/>
          </a:prstGeom>
          <a:solidFill>
            <a:srgbClr val="BA7517"/>
          </a:solidFill>
          <a:ln w="12700">
            <a:solidFill>
              <a:srgbClr val="BA7517"/>
            </a:solidFill>
            <a:prstDash val="solid"/>
          </a:ln>
        </p:spPr>
        <p:txBody>
          <a:bodyPr/>
          <a:lstStyle/>
          <a:p>
            <a:endParaRPr lang="fr-FR"/>
          </a:p>
        </p:txBody>
      </p:sp>
      <p:sp>
        <p:nvSpPr>
          <p:cNvPr id="34" name="Shape 31"/>
          <p:cNvSpPr/>
          <p:nvPr/>
        </p:nvSpPr>
        <p:spPr>
          <a:xfrm>
            <a:off x="3291840" y="2852928"/>
            <a:ext cx="384048" cy="384048"/>
          </a:xfrm>
          <a:prstGeom prst="rect">
            <a:avLst/>
          </a:prstGeom>
          <a:solidFill>
            <a:srgbClr val="BA7517"/>
          </a:solidFill>
          <a:ln w="12700">
            <a:solidFill>
              <a:srgbClr val="BA7517"/>
            </a:solidFill>
            <a:prstDash val="solid"/>
          </a:ln>
        </p:spPr>
        <p:txBody>
          <a:bodyPr/>
          <a:lstStyle/>
          <a:p>
            <a:endParaRPr lang="fr-FR"/>
          </a:p>
        </p:txBody>
      </p:sp>
      <p:sp>
        <p:nvSpPr>
          <p:cNvPr id="35" name="Text 32"/>
          <p:cNvSpPr/>
          <p:nvPr/>
        </p:nvSpPr>
        <p:spPr>
          <a:xfrm>
            <a:off x="3291840" y="28529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36" name="Text 33"/>
          <p:cNvSpPr/>
          <p:nvPr/>
        </p:nvSpPr>
        <p:spPr>
          <a:xfrm>
            <a:off x="3776472" y="2889504"/>
            <a:ext cx="2103120" cy="31089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LLM Routing</a:t>
            </a:r>
            <a:endParaRPr lang="en-US" sz="1100" dirty="0"/>
          </a:p>
        </p:txBody>
      </p:sp>
      <p:sp>
        <p:nvSpPr>
          <p:cNvPr id="37" name="Text 34"/>
          <p:cNvSpPr/>
          <p:nvPr/>
        </p:nvSpPr>
        <p:spPr>
          <a:xfrm>
            <a:off x="3310128" y="3346704"/>
            <a:ext cx="2578608" cy="1170432"/>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LLM local optionnel : hypothèses JSON, résumé soignant, message famille bienveillant</a:t>
            </a:r>
            <a:endParaRPr lang="en-US" sz="950" dirty="0"/>
          </a:p>
        </p:txBody>
      </p:sp>
      <p:sp>
        <p:nvSpPr>
          <p:cNvPr id="38" name="Shape 35"/>
          <p:cNvSpPr/>
          <p:nvPr/>
        </p:nvSpPr>
        <p:spPr>
          <a:xfrm>
            <a:off x="6163056" y="272491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9" name="Shape 36"/>
          <p:cNvSpPr/>
          <p:nvPr/>
        </p:nvSpPr>
        <p:spPr>
          <a:xfrm>
            <a:off x="6163056" y="2724912"/>
            <a:ext cx="54864" cy="1920240"/>
          </a:xfrm>
          <a:prstGeom prst="rect">
            <a:avLst/>
          </a:prstGeom>
          <a:solidFill>
            <a:srgbClr val="1B3A5C"/>
          </a:solidFill>
          <a:ln w="12700">
            <a:solidFill>
              <a:srgbClr val="1B3A5C"/>
            </a:solidFill>
            <a:prstDash val="solid"/>
          </a:ln>
        </p:spPr>
        <p:txBody>
          <a:bodyPr/>
          <a:lstStyle/>
          <a:p>
            <a:endParaRPr lang="fr-FR"/>
          </a:p>
        </p:txBody>
      </p:sp>
      <p:sp>
        <p:nvSpPr>
          <p:cNvPr id="40" name="Shape 37"/>
          <p:cNvSpPr/>
          <p:nvPr/>
        </p:nvSpPr>
        <p:spPr>
          <a:xfrm>
            <a:off x="6272784" y="2852928"/>
            <a:ext cx="384048" cy="384048"/>
          </a:xfrm>
          <a:prstGeom prst="rect">
            <a:avLst/>
          </a:prstGeom>
          <a:solidFill>
            <a:srgbClr val="1B3A5C"/>
          </a:solidFill>
          <a:ln w="12700">
            <a:solidFill>
              <a:srgbClr val="1B3A5C"/>
            </a:solidFill>
            <a:prstDash val="solid"/>
          </a:ln>
        </p:spPr>
        <p:txBody>
          <a:bodyPr/>
          <a:lstStyle/>
          <a:p>
            <a:endParaRPr lang="fr-FR"/>
          </a:p>
        </p:txBody>
      </p:sp>
      <p:sp>
        <p:nvSpPr>
          <p:cNvPr id="41" name="Text 38"/>
          <p:cNvSpPr/>
          <p:nvPr/>
        </p:nvSpPr>
        <p:spPr>
          <a:xfrm>
            <a:off x="6272784" y="28529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42" name="Text 39"/>
          <p:cNvSpPr/>
          <p:nvPr/>
        </p:nvSpPr>
        <p:spPr>
          <a:xfrm>
            <a:off x="6757416" y="2889504"/>
            <a:ext cx="2103120" cy="31089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Rapport LLM quotidien</a:t>
            </a:r>
            <a:endParaRPr lang="en-US" sz="1100" dirty="0"/>
          </a:p>
        </p:txBody>
      </p:sp>
      <p:sp>
        <p:nvSpPr>
          <p:cNvPr id="43" name="Text 40"/>
          <p:cNvSpPr/>
          <p:nvPr/>
        </p:nvSpPr>
        <p:spPr>
          <a:xfrm>
            <a:off x="6291072" y="3346704"/>
            <a:ext cx="2578608" cy="1170432"/>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Rapport quotidien optionnel : contexte A2A pré-calculé · fiche transmission PDF</a:t>
            </a:r>
            <a:endParaRPr lang="en-US" sz="950" dirty="0"/>
          </a:p>
        </p:txBody>
      </p:sp>
      <p:sp>
        <p:nvSpPr>
          <p:cNvPr id="44" name="Shape 41"/>
          <p:cNvSpPr/>
          <p:nvPr/>
        </p:nvSpPr>
        <p:spPr>
          <a:xfrm>
            <a:off x="201168" y="4663440"/>
            <a:ext cx="8741664" cy="347472"/>
          </a:xfrm>
          <a:prstGeom prst="rect">
            <a:avLst/>
          </a:prstGeom>
          <a:solidFill>
            <a:srgbClr val="0D1B2A"/>
          </a:solidFill>
          <a:ln w="12700">
            <a:solidFill>
              <a:srgbClr val="0D1B2A"/>
            </a:solidFill>
            <a:prstDash val="solid"/>
          </a:ln>
        </p:spPr>
        <p:txBody>
          <a:bodyPr/>
          <a:lstStyle/>
          <a:p>
            <a:endParaRPr lang="fr-FR"/>
          </a:p>
        </p:txBody>
      </p:sp>
      <p:sp>
        <p:nvSpPr>
          <p:cNvPr id="45" name="Text 42"/>
          <p:cNvSpPr/>
          <p:nvPr/>
        </p:nvSpPr>
        <p:spPr>
          <a:xfrm>
            <a:off x="347472" y="4663440"/>
            <a:ext cx="8449056" cy="347472"/>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 docker compose up --build   →   stack complète · 7 services Compose · ouvrir http://localhost:3002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Fonctionnalités Clés</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182880" y="640080"/>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6"/>
          <p:cNvSpPr/>
          <p:nvPr/>
        </p:nvSpPr>
        <p:spPr>
          <a:xfrm>
            <a:off x="182880" y="640080"/>
            <a:ext cx="54864" cy="1920240"/>
          </a:xfrm>
          <a:prstGeom prst="rect">
            <a:avLst/>
          </a:prstGeom>
          <a:solidFill>
            <a:srgbClr val="028090"/>
          </a:solidFill>
          <a:ln w="12700">
            <a:solidFill>
              <a:srgbClr val="028090"/>
            </a:solidFill>
            <a:prstDash val="solid"/>
          </a:ln>
        </p:spPr>
        <p:txBody>
          <a:bodyPr/>
          <a:lstStyle/>
          <a:p>
            <a:endParaRPr lang="fr-FR"/>
          </a:p>
        </p:txBody>
      </p:sp>
      <p:pic>
        <p:nvPicPr>
          <p:cNvPr id="10" name="Image 1" descr="preencoded.png"/>
          <p:cNvPicPr>
            <a:picLocks noChangeAspect="1"/>
          </p:cNvPicPr>
          <p:nvPr/>
        </p:nvPicPr>
        <p:blipFill>
          <a:blip r:embed="rId4"/>
          <a:stretch>
            <a:fillRect/>
          </a:stretch>
        </p:blipFill>
        <p:spPr>
          <a:xfrm>
            <a:off x="310896" y="877824"/>
            <a:ext cx="402336" cy="402336"/>
          </a:xfrm>
          <a:prstGeom prst="rect">
            <a:avLst/>
          </a:prstGeom>
        </p:spPr>
      </p:pic>
      <p:sp>
        <p:nvSpPr>
          <p:cNvPr id="11" name="Shape 7"/>
          <p:cNvSpPr/>
          <p:nvPr/>
        </p:nvSpPr>
        <p:spPr>
          <a:xfrm>
            <a:off x="841248" y="822960"/>
            <a:ext cx="841248" cy="182880"/>
          </a:xfrm>
          <a:prstGeom prst="rect">
            <a:avLst/>
          </a:prstGeom>
          <a:solidFill>
            <a:srgbClr val="028090"/>
          </a:solidFill>
          <a:ln w="12700">
            <a:solidFill>
              <a:srgbClr val="028090"/>
            </a:solidFill>
            <a:prstDash val="solid"/>
          </a:ln>
        </p:spPr>
        <p:txBody>
          <a:bodyPr/>
          <a:lstStyle/>
          <a:p>
            <a:endParaRPr lang="fr-FR"/>
          </a:p>
        </p:txBody>
      </p:sp>
      <p:sp>
        <p:nvSpPr>
          <p:cNvPr id="12" name="Text 8"/>
          <p:cNvSpPr/>
          <p:nvPr/>
        </p:nvSpPr>
        <p:spPr>
          <a:xfrm>
            <a:off x="841248" y="822960"/>
            <a:ext cx="8412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IA · AGENTS</a:t>
            </a:r>
            <a:endParaRPr lang="en-US" sz="700" dirty="0"/>
          </a:p>
        </p:txBody>
      </p:sp>
      <p:sp>
        <p:nvSpPr>
          <p:cNvPr id="13" name="Text 9"/>
          <p:cNvSpPr/>
          <p:nvPr/>
        </p:nvSpPr>
        <p:spPr>
          <a:xfrm>
            <a:off x="841248" y="1042416"/>
            <a:ext cx="2029968"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Pipeline A2A complet</a:t>
            </a:r>
            <a:endParaRPr lang="en-US" sz="1100" dirty="0"/>
          </a:p>
        </p:txBody>
      </p:sp>
      <p:sp>
        <p:nvSpPr>
          <p:cNvPr id="14" name="Text 10"/>
          <p:cNvSpPr/>
          <p:nvPr/>
        </p:nvSpPr>
        <p:spPr>
          <a:xfrm>
            <a:off x="310896" y="1444752"/>
            <a:ext cx="2578608" cy="10058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7 agents chaînés · KB 15 scénarios HAS/RCP · score correspondance scénario · synergies ml_rule_weights</a:t>
            </a:r>
            <a:endParaRPr lang="en-US" sz="900" dirty="0"/>
          </a:p>
        </p:txBody>
      </p:sp>
      <p:sp>
        <p:nvSpPr>
          <p:cNvPr id="15" name="Shape 11"/>
          <p:cNvSpPr/>
          <p:nvPr/>
        </p:nvSpPr>
        <p:spPr>
          <a:xfrm>
            <a:off x="3172968" y="640080"/>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6" name="Shape 12"/>
          <p:cNvSpPr/>
          <p:nvPr/>
        </p:nvSpPr>
        <p:spPr>
          <a:xfrm>
            <a:off x="3172968" y="640080"/>
            <a:ext cx="54864" cy="1920240"/>
          </a:xfrm>
          <a:prstGeom prst="rect">
            <a:avLst/>
          </a:prstGeom>
          <a:solidFill>
            <a:srgbClr val="6B48A8"/>
          </a:solidFill>
          <a:ln w="12700">
            <a:solidFill>
              <a:srgbClr val="6B48A8"/>
            </a:solidFill>
            <a:prstDash val="solid"/>
          </a:ln>
        </p:spPr>
        <p:txBody>
          <a:bodyPr/>
          <a:lstStyle/>
          <a:p>
            <a:endParaRPr lang="fr-FR"/>
          </a:p>
        </p:txBody>
      </p:sp>
      <p:pic>
        <p:nvPicPr>
          <p:cNvPr id="17" name="Image 2" descr="preencoded.png"/>
          <p:cNvPicPr>
            <a:picLocks noChangeAspect="1"/>
          </p:cNvPicPr>
          <p:nvPr/>
        </p:nvPicPr>
        <p:blipFill>
          <a:blip r:embed="rId5"/>
          <a:stretch>
            <a:fillRect/>
          </a:stretch>
        </p:blipFill>
        <p:spPr>
          <a:xfrm>
            <a:off x="3300984" y="877824"/>
            <a:ext cx="402336" cy="402336"/>
          </a:xfrm>
          <a:prstGeom prst="rect">
            <a:avLst/>
          </a:prstGeom>
        </p:spPr>
      </p:pic>
      <p:sp>
        <p:nvSpPr>
          <p:cNvPr id="18" name="Shape 13"/>
          <p:cNvSpPr/>
          <p:nvPr/>
        </p:nvSpPr>
        <p:spPr>
          <a:xfrm>
            <a:off x="3831336" y="822960"/>
            <a:ext cx="841248" cy="182880"/>
          </a:xfrm>
          <a:prstGeom prst="rect">
            <a:avLst/>
          </a:prstGeom>
          <a:solidFill>
            <a:srgbClr val="6B48A8"/>
          </a:solidFill>
          <a:ln w="12700">
            <a:solidFill>
              <a:srgbClr val="6B48A8"/>
            </a:solidFill>
            <a:prstDash val="solid"/>
          </a:ln>
        </p:spPr>
        <p:txBody>
          <a:bodyPr/>
          <a:lstStyle/>
          <a:p>
            <a:endParaRPr lang="fr-FR"/>
          </a:p>
        </p:txBody>
      </p:sp>
      <p:sp>
        <p:nvSpPr>
          <p:cNvPr id="19" name="Text 14"/>
          <p:cNvSpPr/>
          <p:nvPr/>
        </p:nvSpPr>
        <p:spPr>
          <a:xfrm>
            <a:off x="3831336" y="822960"/>
            <a:ext cx="8412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LLM</a:t>
            </a:r>
            <a:endParaRPr lang="en-US" sz="700" dirty="0"/>
          </a:p>
        </p:txBody>
      </p:sp>
      <p:sp>
        <p:nvSpPr>
          <p:cNvPr id="20" name="Text 15"/>
          <p:cNvSpPr/>
          <p:nvPr/>
        </p:nvSpPr>
        <p:spPr>
          <a:xfrm>
            <a:off x="3831336" y="1042416"/>
            <a:ext cx="2029968"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Synthèse locale optionnelle</a:t>
            </a:r>
            <a:endParaRPr lang="en-US" sz="1100" dirty="0"/>
          </a:p>
        </p:txBody>
      </p:sp>
      <p:sp>
        <p:nvSpPr>
          <p:cNvPr id="21" name="Text 16"/>
          <p:cNvSpPr/>
          <p:nvPr/>
        </p:nvSpPr>
        <p:spPr>
          <a:xfrm>
            <a:off x="3300984" y="1444752"/>
            <a:ext cx="2578608" cy="10058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Ollama optionnel : résumé soignant, message famille, rapport quotidien</a:t>
            </a:r>
            <a:endParaRPr lang="en-US" sz="900" dirty="0"/>
          </a:p>
        </p:txBody>
      </p:sp>
      <p:sp>
        <p:nvSpPr>
          <p:cNvPr id="22" name="Shape 17"/>
          <p:cNvSpPr/>
          <p:nvPr/>
        </p:nvSpPr>
        <p:spPr>
          <a:xfrm>
            <a:off x="6163056" y="640080"/>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3" name="Shape 18"/>
          <p:cNvSpPr/>
          <p:nvPr/>
        </p:nvSpPr>
        <p:spPr>
          <a:xfrm>
            <a:off x="6163056" y="640080"/>
            <a:ext cx="54864" cy="1920240"/>
          </a:xfrm>
          <a:prstGeom prst="rect">
            <a:avLst/>
          </a:prstGeom>
          <a:solidFill>
            <a:srgbClr val="E07B39"/>
          </a:solidFill>
          <a:ln w="12700">
            <a:solidFill>
              <a:srgbClr val="E07B39"/>
            </a:solidFill>
            <a:prstDash val="solid"/>
          </a:ln>
        </p:spPr>
        <p:txBody>
          <a:bodyPr/>
          <a:lstStyle/>
          <a:p>
            <a:endParaRPr lang="fr-FR"/>
          </a:p>
        </p:txBody>
      </p:sp>
      <p:pic>
        <p:nvPicPr>
          <p:cNvPr id="24" name="Image 3" descr="preencoded.png"/>
          <p:cNvPicPr>
            <a:picLocks noChangeAspect="1"/>
          </p:cNvPicPr>
          <p:nvPr/>
        </p:nvPicPr>
        <p:blipFill>
          <a:blip r:embed="rId6"/>
          <a:stretch>
            <a:fillRect/>
          </a:stretch>
        </p:blipFill>
        <p:spPr>
          <a:xfrm>
            <a:off x="6291072" y="877824"/>
            <a:ext cx="402336" cy="402336"/>
          </a:xfrm>
          <a:prstGeom prst="rect">
            <a:avLst/>
          </a:prstGeom>
        </p:spPr>
      </p:pic>
      <p:sp>
        <p:nvSpPr>
          <p:cNvPr id="25" name="Shape 19"/>
          <p:cNvSpPr/>
          <p:nvPr/>
        </p:nvSpPr>
        <p:spPr>
          <a:xfrm>
            <a:off x="6821424" y="822960"/>
            <a:ext cx="841248" cy="182880"/>
          </a:xfrm>
          <a:prstGeom prst="rect">
            <a:avLst/>
          </a:prstGeom>
          <a:solidFill>
            <a:srgbClr val="E07B39"/>
          </a:solidFill>
          <a:ln w="12700">
            <a:solidFill>
              <a:srgbClr val="E07B39"/>
            </a:solidFill>
            <a:prstDash val="solid"/>
          </a:ln>
        </p:spPr>
        <p:txBody>
          <a:bodyPr/>
          <a:lstStyle/>
          <a:p>
            <a:endParaRPr lang="fr-FR"/>
          </a:p>
        </p:txBody>
      </p:sp>
      <p:sp>
        <p:nvSpPr>
          <p:cNvPr id="26" name="Text 20"/>
          <p:cNvSpPr/>
          <p:nvPr/>
        </p:nvSpPr>
        <p:spPr>
          <a:xfrm>
            <a:off x="6821424" y="822960"/>
            <a:ext cx="8412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DATA</a:t>
            </a:r>
            <a:endParaRPr lang="en-US" sz="700" dirty="0"/>
          </a:p>
        </p:txBody>
      </p:sp>
      <p:sp>
        <p:nvSpPr>
          <p:cNvPr id="27" name="Text 21"/>
          <p:cNvSpPr/>
          <p:nvPr/>
        </p:nvSpPr>
        <p:spPr>
          <a:xfrm>
            <a:off x="6821424" y="1042416"/>
            <a:ext cx="2029968"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Historique 30j + tendances</a:t>
            </a:r>
            <a:endParaRPr lang="en-US" sz="1100" dirty="0"/>
          </a:p>
        </p:txBody>
      </p:sp>
      <p:sp>
        <p:nvSpPr>
          <p:cNvPr id="28" name="Text 22"/>
          <p:cNvSpPr/>
          <p:nvPr/>
        </p:nvSpPr>
        <p:spPr>
          <a:xfrm>
            <a:off x="6291072" y="1444752"/>
            <a:ext cx="2578608" cy="10058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Graphes J0/24h/6h/1h · baseline comportementale · z-score routine_engine · données patients pré-générées</a:t>
            </a:r>
            <a:endParaRPr lang="en-US" sz="900" dirty="0"/>
          </a:p>
        </p:txBody>
      </p:sp>
      <p:sp>
        <p:nvSpPr>
          <p:cNvPr id="29" name="Shape 23"/>
          <p:cNvSpPr/>
          <p:nvPr/>
        </p:nvSpPr>
        <p:spPr>
          <a:xfrm>
            <a:off x="182880" y="272491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0" name="Shape 24"/>
          <p:cNvSpPr/>
          <p:nvPr/>
        </p:nvSpPr>
        <p:spPr>
          <a:xfrm>
            <a:off x="182880" y="2724912"/>
            <a:ext cx="54864" cy="1920240"/>
          </a:xfrm>
          <a:prstGeom prst="rect">
            <a:avLst/>
          </a:prstGeom>
          <a:solidFill>
            <a:srgbClr val="1D9E75"/>
          </a:solidFill>
          <a:ln w="12700">
            <a:solidFill>
              <a:srgbClr val="1D9E75"/>
            </a:solidFill>
            <a:prstDash val="solid"/>
          </a:ln>
        </p:spPr>
        <p:txBody>
          <a:bodyPr/>
          <a:lstStyle/>
          <a:p>
            <a:endParaRPr lang="fr-FR"/>
          </a:p>
        </p:txBody>
      </p:sp>
      <p:pic>
        <p:nvPicPr>
          <p:cNvPr id="31" name="Image 4" descr="preencoded.png"/>
          <p:cNvPicPr>
            <a:picLocks noChangeAspect="1"/>
          </p:cNvPicPr>
          <p:nvPr/>
        </p:nvPicPr>
        <p:blipFill>
          <a:blip r:embed="rId7"/>
          <a:stretch>
            <a:fillRect/>
          </a:stretch>
        </p:blipFill>
        <p:spPr>
          <a:xfrm>
            <a:off x="310896" y="2962656"/>
            <a:ext cx="402336" cy="402336"/>
          </a:xfrm>
          <a:prstGeom prst="rect">
            <a:avLst/>
          </a:prstGeom>
        </p:spPr>
      </p:pic>
      <p:sp>
        <p:nvSpPr>
          <p:cNvPr id="32" name="Shape 25"/>
          <p:cNvSpPr/>
          <p:nvPr/>
        </p:nvSpPr>
        <p:spPr>
          <a:xfrm>
            <a:off x="841248" y="2907792"/>
            <a:ext cx="841248" cy="182880"/>
          </a:xfrm>
          <a:prstGeom prst="rect">
            <a:avLst/>
          </a:prstGeom>
          <a:solidFill>
            <a:srgbClr val="1D9E75"/>
          </a:solidFill>
          <a:ln w="12700">
            <a:solidFill>
              <a:srgbClr val="1D9E75"/>
            </a:solidFill>
            <a:prstDash val="solid"/>
          </a:ln>
        </p:spPr>
        <p:txBody>
          <a:bodyPr/>
          <a:lstStyle/>
          <a:p>
            <a:endParaRPr lang="fr-FR"/>
          </a:p>
        </p:txBody>
      </p:sp>
      <p:sp>
        <p:nvSpPr>
          <p:cNvPr id="33" name="Text 26"/>
          <p:cNvSpPr/>
          <p:nvPr/>
        </p:nvSpPr>
        <p:spPr>
          <a:xfrm>
            <a:off x="841248" y="2907792"/>
            <a:ext cx="8412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RGPD</a:t>
            </a:r>
            <a:endParaRPr lang="en-US" sz="700" dirty="0"/>
          </a:p>
        </p:txBody>
      </p:sp>
      <p:sp>
        <p:nvSpPr>
          <p:cNvPr id="34" name="Text 27"/>
          <p:cNvSpPr/>
          <p:nvPr/>
        </p:nvSpPr>
        <p:spPr>
          <a:xfrm>
            <a:off x="841248" y="3127248"/>
            <a:ext cx="2029968"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Espace famille RGPD</a:t>
            </a:r>
            <a:endParaRPr lang="en-US" sz="1100" dirty="0"/>
          </a:p>
        </p:txBody>
      </p:sp>
      <p:sp>
        <p:nvSpPr>
          <p:cNvPr id="35" name="Text 28"/>
          <p:cNvSpPr/>
          <p:nvPr/>
        </p:nvSpPr>
        <p:spPr>
          <a:xfrm>
            <a:off x="310896" y="3529584"/>
            <a:ext cx="2578608" cy="10058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Vue filtrée sans vitaux · message LLM bienveillant automatique · bris de glace audité · tokens séparés</a:t>
            </a:r>
            <a:endParaRPr lang="en-US" sz="900" dirty="0"/>
          </a:p>
        </p:txBody>
      </p:sp>
      <p:sp>
        <p:nvSpPr>
          <p:cNvPr id="36" name="Shape 29"/>
          <p:cNvSpPr/>
          <p:nvPr/>
        </p:nvSpPr>
        <p:spPr>
          <a:xfrm>
            <a:off x="3172968" y="272491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7" name="Shape 30"/>
          <p:cNvSpPr/>
          <p:nvPr/>
        </p:nvSpPr>
        <p:spPr>
          <a:xfrm>
            <a:off x="3172968" y="2724912"/>
            <a:ext cx="54864" cy="1920240"/>
          </a:xfrm>
          <a:prstGeom prst="rect">
            <a:avLst/>
          </a:prstGeom>
          <a:solidFill>
            <a:srgbClr val="00A896"/>
          </a:solidFill>
          <a:ln w="12700">
            <a:solidFill>
              <a:srgbClr val="00A896"/>
            </a:solidFill>
            <a:prstDash val="solid"/>
          </a:ln>
        </p:spPr>
        <p:txBody>
          <a:bodyPr/>
          <a:lstStyle/>
          <a:p>
            <a:endParaRPr lang="fr-FR"/>
          </a:p>
        </p:txBody>
      </p:sp>
      <p:pic>
        <p:nvPicPr>
          <p:cNvPr id="38" name="Image 5" descr="preencoded.png"/>
          <p:cNvPicPr>
            <a:picLocks noChangeAspect="1"/>
          </p:cNvPicPr>
          <p:nvPr/>
        </p:nvPicPr>
        <p:blipFill>
          <a:blip r:embed="rId8"/>
          <a:stretch>
            <a:fillRect/>
          </a:stretch>
        </p:blipFill>
        <p:spPr>
          <a:xfrm>
            <a:off x="3300984" y="2962656"/>
            <a:ext cx="402336" cy="402336"/>
          </a:xfrm>
          <a:prstGeom prst="rect">
            <a:avLst/>
          </a:prstGeom>
        </p:spPr>
      </p:pic>
      <p:sp>
        <p:nvSpPr>
          <p:cNvPr id="39" name="Shape 31"/>
          <p:cNvSpPr/>
          <p:nvPr/>
        </p:nvSpPr>
        <p:spPr>
          <a:xfrm>
            <a:off x="3831336" y="2907792"/>
            <a:ext cx="841248" cy="182880"/>
          </a:xfrm>
          <a:prstGeom prst="rect">
            <a:avLst/>
          </a:prstGeom>
          <a:solidFill>
            <a:srgbClr val="00A896"/>
          </a:solidFill>
          <a:ln w="12700">
            <a:solidFill>
              <a:srgbClr val="00A896"/>
            </a:solidFill>
            <a:prstDash val="solid"/>
          </a:ln>
        </p:spPr>
        <p:txBody>
          <a:bodyPr/>
          <a:lstStyle/>
          <a:p>
            <a:endParaRPr lang="fr-FR"/>
          </a:p>
        </p:txBody>
      </p:sp>
      <p:sp>
        <p:nvSpPr>
          <p:cNvPr id="40" name="Text 32"/>
          <p:cNvSpPr/>
          <p:nvPr/>
        </p:nvSpPr>
        <p:spPr>
          <a:xfrm>
            <a:off x="3831336" y="2907792"/>
            <a:ext cx="8412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SÉCURITÉ</a:t>
            </a:r>
            <a:endParaRPr lang="en-US" sz="700" dirty="0"/>
          </a:p>
        </p:txBody>
      </p:sp>
      <p:sp>
        <p:nvSpPr>
          <p:cNvPr id="41" name="Text 33"/>
          <p:cNvSpPr/>
          <p:nvPr/>
        </p:nvSpPr>
        <p:spPr>
          <a:xfrm>
            <a:off x="3831336" y="3127248"/>
            <a:ext cx="2029968"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Sécurité multicouche</a:t>
            </a:r>
            <a:endParaRPr lang="en-US" sz="1100" dirty="0"/>
          </a:p>
        </p:txBody>
      </p:sp>
      <p:sp>
        <p:nvSpPr>
          <p:cNvPr id="42" name="Text 34"/>
          <p:cNvSpPr/>
          <p:nvPr/>
        </p:nvSpPr>
        <p:spPr>
          <a:xfrm>
            <a:off x="3300984" y="3529584"/>
            <a:ext cx="2578608" cy="10058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MQTT auth + ACL · ports restreints 127.0.0.1 · Redis lock · VAPID externalisé · bcrypt passwords</a:t>
            </a:r>
            <a:endParaRPr lang="en-US" sz="900" dirty="0"/>
          </a:p>
        </p:txBody>
      </p:sp>
      <p:sp>
        <p:nvSpPr>
          <p:cNvPr id="43" name="Shape 35"/>
          <p:cNvSpPr/>
          <p:nvPr/>
        </p:nvSpPr>
        <p:spPr>
          <a:xfrm>
            <a:off x="6163056" y="2724912"/>
            <a:ext cx="2816352" cy="1920240"/>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44" name="Shape 36"/>
          <p:cNvSpPr/>
          <p:nvPr/>
        </p:nvSpPr>
        <p:spPr>
          <a:xfrm>
            <a:off x="6163056" y="2724912"/>
            <a:ext cx="54864" cy="1920240"/>
          </a:xfrm>
          <a:prstGeom prst="rect">
            <a:avLst/>
          </a:prstGeom>
          <a:solidFill>
            <a:srgbClr val="1B3A5C"/>
          </a:solidFill>
          <a:ln w="12700">
            <a:solidFill>
              <a:srgbClr val="1B3A5C"/>
            </a:solidFill>
            <a:prstDash val="solid"/>
          </a:ln>
        </p:spPr>
        <p:txBody>
          <a:bodyPr/>
          <a:lstStyle/>
          <a:p>
            <a:endParaRPr lang="fr-FR"/>
          </a:p>
        </p:txBody>
      </p:sp>
      <p:pic>
        <p:nvPicPr>
          <p:cNvPr id="45" name="Image 6" descr="preencoded.png"/>
          <p:cNvPicPr>
            <a:picLocks noChangeAspect="1"/>
          </p:cNvPicPr>
          <p:nvPr/>
        </p:nvPicPr>
        <p:blipFill>
          <a:blip r:embed="rId9"/>
          <a:stretch>
            <a:fillRect/>
          </a:stretch>
        </p:blipFill>
        <p:spPr>
          <a:xfrm>
            <a:off x="6291072" y="2962656"/>
            <a:ext cx="402336" cy="402336"/>
          </a:xfrm>
          <a:prstGeom prst="rect">
            <a:avLst/>
          </a:prstGeom>
        </p:spPr>
      </p:pic>
      <p:sp>
        <p:nvSpPr>
          <p:cNvPr id="46" name="Shape 37"/>
          <p:cNvSpPr/>
          <p:nvPr/>
        </p:nvSpPr>
        <p:spPr>
          <a:xfrm>
            <a:off x="6821424" y="2907792"/>
            <a:ext cx="841248" cy="182880"/>
          </a:xfrm>
          <a:prstGeom prst="rect">
            <a:avLst/>
          </a:prstGeom>
          <a:solidFill>
            <a:srgbClr val="1B3A5C"/>
          </a:solidFill>
          <a:ln w="12700">
            <a:solidFill>
              <a:srgbClr val="1B3A5C"/>
            </a:solidFill>
            <a:prstDash val="solid"/>
          </a:ln>
        </p:spPr>
        <p:txBody>
          <a:bodyPr/>
          <a:lstStyle/>
          <a:p>
            <a:endParaRPr lang="fr-FR"/>
          </a:p>
        </p:txBody>
      </p:sp>
      <p:sp>
        <p:nvSpPr>
          <p:cNvPr id="47" name="Text 38"/>
          <p:cNvSpPr/>
          <p:nvPr/>
        </p:nvSpPr>
        <p:spPr>
          <a:xfrm>
            <a:off x="6821424" y="2907792"/>
            <a:ext cx="8412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DOCS</a:t>
            </a:r>
            <a:endParaRPr lang="en-US" sz="700" dirty="0"/>
          </a:p>
        </p:txBody>
      </p:sp>
      <p:sp>
        <p:nvSpPr>
          <p:cNvPr id="48" name="Text 39"/>
          <p:cNvSpPr/>
          <p:nvPr/>
        </p:nvSpPr>
        <p:spPr>
          <a:xfrm>
            <a:off x="6821424" y="3127248"/>
            <a:ext cx="2029968"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Rapports &amp; Transmission</a:t>
            </a:r>
            <a:endParaRPr lang="en-US" sz="1100" dirty="0"/>
          </a:p>
        </p:txBody>
      </p:sp>
      <p:sp>
        <p:nvSpPr>
          <p:cNvPr id="49" name="Text 40"/>
          <p:cNvSpPr/>
          <p:nvPr/>
        </p:nvSpPr>
        <p:spPr>
          <a:xfrm>
            <a:off x="6291072" y="3529584"/>
            <a:ext cx="2578608" cy="100584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DailyReportService · fiche transmission · benchmark scalabilité · guide de démonstration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Limites du Projet</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182880" y="640080"/>
            <a:ext cx="4315968" cy="126187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6"/>
          <p:cNvSpPr/>
          <p:nvPr/>
        </p:nvSpPr>
        <p:spPr>
          <a:xfrm>
            <a:off x="182880" y="640080"/>
            <a:ext cx="4315968" cy="219456"/>
          </a:xfrm>
          <a:prstGeom prst="rect">
            <a:avLst/>
          </a:prstGeom>
          <a:solidFill>
            <a:srgbClr val="F8FAFC"/>
          </a:solidFill>
          <a:ln w="6350">
            <a:solidFill>
              <a:srgbClr val="E2E8F0"/>
            </a:solidFill>
            <a:prstDash val="solid"/>
          </a:ln>
        </p:spPr>
        <p:txBody>
          <a:bodyPr/>
          <a:lstStyle/>
          <a:p>
            <a:endParaRPr lang="fr-FR"/>
          </a:p>
        </p:txBody>
      </p:sp>
      <p:sp>
        <p:nvSpPr>
          <p:cNvPr id="10" name="Shape 7"/>
          <p:cNvSpPr/>
          <p:nvPr/>
        </p:nvSpPr>
        <p:spPr>
          <a:xfrm>
            <a:off x="182880" y="640080"/>
            <a:ext cx="64008" cy="1261872"/>
          </a:xfrm>
          <a:prstGeom prst="rect">
            <a:avLst/>
          </a:prstGeom>
          <a:solidFill>
            <a:srgbClr val="64748B"/>
          </a:solidFill>
          <a:ln w="12700">
            <a:solidFill>
              <a:srgbClr val="64748B"/>
            </a:solidFill>
            <a:prstDash val="solid"/>
          </a:ln>
        </p:spPr>
        <p:txBody>
          <a:bodyPr/>
          <a:lstStyle/>
          <a:p>
            <a:endParaRPr lang="fr-FR"/>
          </a:p>
        </p:txBody>
      </p:sp>
      <p:sp>
        <p:nvSpPr>
          <p:cNvPr id="11" name="Shape 8"/>
          <p:cNvSpPr/>
          <p:nvPr/>
        </p:nvSpPr>
        <p:spPr>
          <a:xfrm>
            <a:off x="320040" y="667512"/>
            <a:ext cx="1005840" cy="164592"/>
          </a:xfrm>
          <a:prstGeom prst="rect">
            <a:avLst/>
          </a:prstGeom>
          <a:solidFill>
            <a:srgbClr val="64748B"/>
          </a:solidFill>
          <a:ln w="12700">
            <a:solidFill>
              <a:srgbClr val="64748B"/>
            </a:solidFill>
            <a:prstDash val="solid"/>
          </a:ln>
        </p:spPr>
        <p:txBody>
          <a:bodyPr/>
          <a:lstStyle/>
          <a:p>
            <a:endParaRPr lang="fr-FR"/>
          </a:p>
        </p:txBody>
      </p:sp>
      <p:sp>
        <p:nvSpPr>
          <p:cNvPr id="12" name="Text 9"/>
          <p:cNvSpPr/>
          <p:nvPr/>
        </p:nvSpPr>
        <p:spPr>
          <a:xfrm>
            <a:off x="320040" y="667512"/>
            <a:ext cx="1005840"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DONNÉES SIMULÉES</a:t>
            </a:r>
            <a:endParaRPr lang="en-US" sz="700" dirty="0"/>
          </a:p>
        </p:txBody>
      </p:sp>
      <p:pic>
        <p:nvPicPr>
          <p:cNvPr id="13" name="Image 1" descr="preencoded.png"/>
          <p:cNvPicPr>
            <a:picLocks noChangeAspect="1"/>
          </p:cNvPicPr>
          <p:nvPr/>
        </p:nvPicPr>
        <p:blipFill>
          <a:blip r:embed="rId4"/>
          <a:stretch>
            <a:fillRect/>
          </a:stretch>
        </p:blipFill>
        <p:spPr>
          <a:xfrm>
            <a:off x="310896" y="1060704"/>
            <a:ext cx="347472" cy="347472"/>
          </a:xfrm>
          <a:prstGeom prst="rect">
            <a:avLst/>
          </a:prstGeom>
        </p:spPr>
      </p:pic>
      <p:sp>
        <p:nvSpPr>
          <p:cNvPr id="14" name="Text 10"/>
          <p:cNvSpPr/>
          <p:nvPr/>
        </p:nvSpPr>
        <p:spPr>
          <a:xfrm>
            <a:off x="786384" y="914400"/>
            <a:ext cx="3584448"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Pas de vrais capteurs IoT</a:t>
            </a:r>
            <a:endParaRPr lang="en-US" sz="1100" dirty="0"/>
          </a:p>
        </p:txBody>
      </p:sp>
      <p:sp>
        <p:nvSpPr>
          <p:cNvPr id="15" name="Text 11"/>
          <p:cNvSpPr/>
          <p:nvPr/>
        </p:nvSpPr>
        <p:spPr>
          <a:xfrm>
            <a:off x="786384" y="1207008"/>
            <a:ext cx="3584448" cy="58521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Constantes générées par algorithme déterministe (hash résident+date). Aucun oxymètre réel. Historique non cliniquement réaliste.</a:t>
            </a:r>
            <a:endParaRPr lang="en-US" sz="900" dirty="0"/>
          </a:p>
        </p:txBody>
      </p:sp>
      <p:sp>
        <p:nvSpPr>
          <p:cNvPr id="16" name="Shape 12"/>
          <p:cNvSpPr/>
          <p:nvPr/>
        </p:nvSpPr>
        <p:spPr>
          <a:xfrm>
            <a:off x="4663440" y="640080"/>
            <a:ext cx="4315968" cy="126187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7" name="Shape 13"/>
          <p:cNvSpPr/>
          <p:nvPr/>
        </p:nvSpPr>
        <p:spPr>
          <a:xfrm>
            <a:off x="4663440" y="640080"/>
            <a:ext cx="4315968" cy="219456"/>
          </a:xfrm>
          <a:prstGeom prst="rect">
            <a:avLst/>
          </a:prstGeom>
          <a:solidFill>
            <a:srgbClr val="F8FAFC"/>
          </a:solidFill>
          <a:ln w="6350">
            <a:solidFill>
              <a:srgbClr val="E2E8F0"/>
            </a:solidFill>
            <a:prstDash val="solid"/>
          </a:ln>
        </p:spPr>
        <p:txBody>
          <a:bodyPr/>
          <a:lstStyle/>
          <a:p>
            <a:endParaRPr lang="fr-FR"/>
          </a:p>
        </p:txBody>
      </p:sp>
      <p:sp>
        <p:nvSpPr>
          <p:cNvPr id="18" name="Shape 14"/>
          <p:cNvSpPr/>
          <p:nvPr/>
        </p:nvSpPr>
        <p:spPr>
          <a:xfrm>
            <a:off x="4663440" y="640080"/>
            <a:ext cx="64008" cy="1261872"/>
          </a:xfrm>
          <a:prstGeom prst="rect">
            <a:avLst/>
          </a:prstGeom>
          <a:solidFill>
            <a:srgbClr val="E07B39"/>
          </a:solidFill>
          <a:ln w="12700">
            <a:solidFill>
              <a:srgbClr val="E07B39"/>
            </a:solidFill>
            <a:prstDash val="solid"/>
          </a:ln>
        </p:spPr>
        <p:txBody>
          <a:bodyPr/>
          <a:lstStyle/>
          <a:p>
            <a:endParaRPr lang="fr-FR"/>
          </a:p>
        </p:txBody>
      </p:sp>
      <p:sp>
        <p:nvSpPr>
          <p:cNvPr id="19" name="Shape 15"/>
          <p:cNvSpPr/>
          <p:nvPr/>
        </p:nvSpPr>
        <p:spPr>
          <a:xfrm>
            <a:off x="4800600" y="667512"/>
            <a:ext cx="1005840" cy="164592"/>
          </a:xfrm>
          <a:prstGeom prst="rect">
            <a:avLst/>
          </a:prstGeom>
          <a:solidFill>
            <a:srgbClr val="E07B39"/>
          </a:solidFill>
          <a:ln w="12700">
            <a:solidFill>
              <a:srgbClr val="E07B39"/>
            </a:solidFill>
            <a:prstDash val="solid"/>
          </a:ln>
        </p:spPr>
        <p:txBody>
          <a:bodyPr/>
          <a:lstStyle/>
          <a:p>
            <a:endParaRPr lang="fr-FR"/>
          </a:p>
        </p:txBody>
      </p:sp>
      <p:sp>
        <p:nvSpPr>
          <p:cNvPr id="20" name="Text 16"/>
          <p:cNvSpPr/>
          <p:nvPr/>
        </p:nvSpPr>
        <p:spPr>
          <a:xfrm>
            <a:off x="4800600" y="667512"/>
            <a:ext cx="1005840"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PATIENTS FICTIFS</a:t>
            </a:r>
            <a:endParaRPr lang="en-US" sz="700" dirty="0"/>
          </a:p>
        </p:txBody>
      </p:sp>
      <p:pic>
        <p:nvPicPr>
          <p:cNvPr id="21" name="Image 2" descr="preencoded.png"/>
          <p:cNvPicPr>
            <a:picLocks noChangeAspect="1"/>
          </p:cNvPicPr>
          <p:nvPr/>
        </p:nvPicPr>
        <p:blipFill>
          <a:blip r:embed="rId5"/>
          <a:stretch>
            <a:fillRect/>
          </a:stretch>
        </p:blipFill>
        <p:spPr>
          <a:xfrm>
            <a:off x="4791456" y="1060704"/>
            <a:ext cx="347472" cy="347472"/>
          </a:xfrm>
          <a:prstGeom prst="rect">
            <a:avLst/>
          </a:prstGeom>
        </p:spPr>
      </p:pic>
      <p:sp>
        <p:nvSpPr>
          <p:cNvPr id="22" name="Text 17"/>
          <p:cNvSpPr/>
          <p:nvPr/>
        </p:nvSpPr>
        <p:spPr>
          <a:xfrm>
            <a:off x="5266944" y="914400"/>
            <a:ext cx="3584448"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Pas de données cliniques réelles</a:t>
            </a:r>
            <a:endParaRPr lang="en-US" sz="1100" dirty="0"/>
          </a:p>
        </p:txBody>
      </p:sp>
      <p:sp>
        <p:nvSpPr>
          <p:cNvPr id="23" name="Text 18"/>
          <p:cNvSpPr/>
          <p:nvPr/>
        </p:nvSpPr>
        <p:spPr>
          <a:xfrm>
            <a:off x="5266944" y="1207008"/>
            <a:ext cx="3584448" cy="58521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25 profils JSON seeds. Pas de validation sur cohortes réelles ni de protocole éthique médical. ML non certifié dispositif médical.</a:t>
            </a:r>
            <a:endParaRPr lang="en-US" sz="900" dirty="0"/>
          </a:p>
        </p:txBody>
      </p:sp>
      <p:sp>
        <p:nvSpPr>
          <p:cNvPr id="24" name="Shape 19"/>
          <p:cNvSpPr/>
          <p:nvPr/>
        </p:nvSpPr>
        <p:spPr>
          <a:xfrm>
            <a:off x="182880" y="2057400"/>
            <a:ext cx="4315968" cy="126187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5" name="Shape 20"/>
          <p:cNvSpPr/>
          <p:nvPr/>
        </p:nvSpPr>
        <p:spPr>
          <a:xfrm>
            <a:off x="182880" y="2057400"/>
            <a:ext cx="4315968" cy="219456"/>
          </a:xfrm>
          <a:prstGeom prst="rect">
            <a:avLst/>
          </a:prstGeom>
          <a:solidFill>
            <a:srgbClr val="F8FAFC"/>
          </a:solidFill>
          <a:ln w="6350">
            <a:solidFill>
              <a:srgbClr val="E2E8F0"/>
            </a:solidFill>
            <a:prstDash val="solid"/>
          </a:ln>
        </p:spPr>
        <p:txBody>
          <a:bodyPr/>
          <a:lstStyle/>
          <a:p>
            <a:endParaRPr lang="fr-FR"/>
          </a:p>
        </p:txBody>
      </p:sp>
      <p:sp>
        <p:nvSpPr>
          <p:cNvPr id="26" name="Shape 21"/>
          <p:cNvSpPr/>
          <p:nvPr/>
        </p:nvSpPr>
        <p:spPr>
          <a:xfrm>
            <a:off x="182880" y="2057400"/>
            <a:ext cx="64008" cy="1261872"/>
          </a:xfrm>
          <a:prstGeom prst="rect">
            <a:avLst/>
          </a:prstGeom>
          <a:solidFill>
            <a:srgbClr val="E24B4A"/>
          </a:solidFill>
          <a:ln w="12700">
            <a:solidFill>
              <a:srgbClr val="E24B4A"/>
            </a:solidFill>
            <a:prstDash val="solid"/>
          </a:ln>
        </p:spPr>
        <p:txBody>
          <a:bodyPr/>
          <a:lstStyle/>
          <a:p>
            <a:endParaRPr lang="fr-FR"/>
          </a:p>
        </p:txBody>
      </p:sp>
      <p:sp>
        <p:nvSpPr>
          <p:cNvPr id="27" name="Shape 22"/>
          <p:cNvSpPr/>
          <p:nvPr/>
        </p:nvSpPr>
        <p:spPr>
          <a:xfrm>
            <a:off x="320040" y="2084832"/>
            <a:ext cx="1005840" cy="164592"/>
          </a:xfrm>
          <a:prstGeom prst="rect">
            <a:avLst/>
          </a:prstGeom>
          <a:solidFill>
            <a:srgbClr val="E24B4A"/>
          </a:solidFill>
          <a:ln w="12700">
            <a:solidFill>
              <a:srgbClr val="E24B4A"/>
            </a:solidFill>
            <a:prstDash val="solid"/>
          </a:ln>
        </p:spPr>
        <p:txBody>
          <a:bodyPr/>
          <a:lstStyle/>
          <a:p>
            <a:endParaRPr lang="fr-FR"/>
          </a:p>
        </p:txBody>
      </p:sp>
      <p:sp>
        <p:nvSpPr>
          <p:cNvPr id="28" name="Text 23"/>
          <p:cNvSpPr/>
          <p:nvPr/>
        </p:nvSpPr>
        <p:spPr>
          <a:xfrm>
            <a:off x="320040" y="2084832"/>
            <a:ext cx="1005840"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SÉCURITÉ PARTIELLE</a:t>
            </a:r>
            <a:endParaRPr lang="en-US" sz="700" dirty="0"/>
          </a:p>
        </p:txBody>
      </p:sp>
      <p:pic>
        <p:nvPicPr>
          <p:cNvPr id="29" name="Image 3" descr="preencoded.png"/>
          <p:cNvPicPr>
            <a:picLocks noChangeAspect="1"/>
          </p:cNvPicPr>
          <p:nvPr/>
        </p:nvPicPr>
        <p:blipFill>
          <a:blip r:embed="rId6"/>
          <a:stretch>
            <a:fillRect/>
          </a:stretch>
        </p:blipFill>
        <p:spPr>
          <a:xfrm>
            <a:off x="310896" y="2478024"/>
            <a:ext cx="347472" cy="347472"/>
          </a:xfrm>
          <a:prstGeom prst="rect">
            <a:avLst/>
          </a:prstGeom>
        </p:spPr>
      </p:pic>
      <p:sp>
        <p:nvSpPr>
          <p:cNvPr id="30" name="Text 24"/>
          <p:cNvSpPr/>
          <p:nvPr/>
        </p:nvSpPr>
        <p:spPr>
          <a:xfrm>
            <a:off x="786384" y="2331720"/>
            <a:ext cx="3584448"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SHA-256 → bcrypt recommandé</a:t>
            </a:r>
            <a:endParaRPr lang="en-US" sz="1100" dirty="0"/>
          </a:p>
        </p:txBody>
      </p:sp>
      <p:sp>
        <p:nvSpPr>
          <p:cNvPr id="31" name="Text 25"/>
          <p:cNvSpPr/>
          <p:nvPr/>
        </p:nvSpPr>
        <p:spPr>
          <a:xfrm>
            <a:off x="786384" y="2624328"/>
            <a:ext cx="3584448" cy="58521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Mots de passe personnels en SHA-256 (trop rapide vs brute-force). Production : migrer vers bcrypt ou argon2. JWT à ajouter.</a:t>
            </a:r>
            <a:endParaRPr lang="en-US" sz="900" dirty="0"/>
          </a:p>
        </p:txBody>
      </p:sp>
      <p:sp>
        <p:nvSpPr>
          <p:cNvPr id="32" name="Shape 26"/>
          <p:cNvSpPr/>
          <p:nvPr/>
        </p:nvSpPr>
        <p:spPr>
          <a:xfrm>
            <a:off x="4663440" y="2057400"/>
            <a:ext cx="4315968" cy="126187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3" name="Shape 27"/>
          <p:cNvSpPr/>
          <p:nvPr/>
        </p:nvSpPr>
        <p:spPr>
          <a:xfrm>
            <a:off x="4663440" y="2057400"/>
            <a:ext cx="4315968" cy="219456"/>
          </a:xfrm>
          <a:prstGeom prst="rect">
            <a:avLst/>
          </a:prstGeom>
          <a:solidFill>
            <a:srgbClr val="F8FAFC"/>
          </a:solidFill>
          <a:ln w="6350">
            <a:solidFill>
              <a:srgbClr val="E2E8F0"/>
            </a:solidFill>
            <a:prstDash val="solid"/>
          </a:ln>
        </p:spPr>
        <p:txBody>
          <a:bodyPr/>
          <a:lstStyle/>
          <a:p>
            <a:endParaRPr lang="fr-FR"/>
          </a:p>
        </p:txBody>
      </p:sp>
      <p:sp>
        <p:nvSpPr>
          <p:cNvPr id="34" name="Shape 28"/>
          <p:cNvSpPr/>
          <p:nvPr/>
        </p:nvSpPr>
        <p:spPr>
          <a:xfrm>
            <a:off x="4663440" y="2057400"/>
            <a:ext cx="64008" cy="1261872"/>
          </a:xfrm>
          <a:prstGeom prst="rect">
            <a:avLst/>
          </a:prstGeom>
          <a:solidFill>
            <a:srgbClr val="64748B"/>
          </a:solidFill>
          <a:ln w="12700">
            <a:solidFill>
              <a:srgbClr val="64748B"/>
            </a:solidFill>
            <a:prstDash val="solid"/>
          </a:ln>
        </p:spPr>
        <p:txBody>
          <a:bodyPr/>
          <a:lstStyle/>
          <a:p>
            <a:endParaRPr lang="fr-FR"/>
          </a:p>
        </p:txBody>
      </p:sp>
      <p:sp>
        <p:nvSpPr>
          <p:cNvPr id="35" name="Shape 29"/>
          <p:cNvSpPr/>
          <p:nvPr/>
        </p:nvSpPr>
        <p:spPr>
          <a:xfrm>
            <a:off x="4800600" y="2084832"/>
            <a:ext cx="1005840" cy="164592"/>
          </a:xfrm>
          <a:prstGeom prst="rect">
            <a:avLst/>
          </a:prstGeom>
          <a:solidFill>
            <a:srgbClr val="64748B"/>
          </a:solidFill>
          <a:ln w="12700">
            <a:solidFill>
              <a:srgbClr val="64748B"/>
            </a:solidFill>
            <a:prstDash val="solid"/>
          </a:ln>
        </p:spPr>
        <p:txBody>
          <a:bodyPr/>
          <a:lstStyle/>
          <a:p>
            <a:endParaRPr lang="fr-FR"/>
          </a:p>
        </p:txBody>
      </p:sp>
      <p:sp>
        <p:nvSpPr>
          <p:cNvPr id="36" name="Text 30"/>
          <p:cNvSpPr/>
          <p:nvPr/>
        </p:nvSpPr>
        <p:spPr>
          <a:xfrm>
            <a:off x="4800600" y="2084832"/>
            <a:ext cx="1005840"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SCALABILITÉ</a:t>
            </a:r>
            <a:endParaRPr lang="en-US" sz="700" dirty="0"/>
          </a:p>
        </p:txBody>
      </p:sp>
      <p:pic>
        <p:nvPicPr>
          <p:cNvPr id="37" name="Image 4" descr="preencoded.png"/>
          <p:cNvPicPr>
            <a:picLocks noChangeAspect="1"/>
          </p:cNvPicPr>
          <p:nvPr/>
        </p:nvPicPr>
        <p:blipFill>
          <a:blip r:embed="rId7"/>
          <a:stretch>
            <a:fillRect/>
          </a:stretch>
        </p:blipFill>
        <p:spPr>
          <a:xfrm>
            <a:off x="4791456" y="2478024"/>
            <a:ext cx="347472" cy="347472"/>
          </a:xfrm>
          <a:prstGeom prst="rect">
            <a:avLst/>
          </a:prstGeom>
        </p:spPr>
      </p:pic>
      <p:sp>
        <p:nvSpPr>
          <p:cNvPr id="38" name="Text 31"/>
          <p:cNvSpPr/>
          <p:nvPr/>
        </p:nvSpPr>
        <p:spPr>
          <a:xfrm>
            <a:off x="5266944" y="2331720"/>
            <a:ext cx="3584448"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Stack mono-machine</a:t>
            </a:r>
            <a:endParaRPr lang="en-US" sz="1100" dirty="0"/>
          </a:p>
        </p:txBody>
      </p:sp>
      <p:sp>
        <p:nvSpPr>
          <p:cNvPr id="39" name="Text 32"/>
          <p:cNvSpPr/>
          <p:nvPr/>
        </p:nvSpPr>
        <p:spPr>
          <a:xfrm>
            <a:off x="5266944" y="2624328"/>
            <a:ext cx="3584448" cy="58521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Docker Compose sur un seul hôte. Pas de Kubernetes ni haute disponibilité. Redis non clusterisé.</a:t>
            </a:r>
            <a:endParaRPr lang="en-US" sz="900" dirty="0"/>
          </a:p>
        </p:txBody>
      </p:sp>
      <p:sp>
        <p:nvSpPr>
          <p:cNvPr id="40" name="Shape 33"/>
          <p:cNvSpPr/>
          <p:nvPr/>
        </p:nvSpPr>
        <p:spPr>
          <a:xfrm>
            <a:off x="182880" y="3474720"/>
            <a:ext cx="4315968" cy="126187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41" name="Shape 34"/>
          <p:cNvSpPr/>
          <p:nvPr/>
        </p:nvSpPr>
        <p:spPr>
          <a:xfrm>
            <a:off x="182880" y="3474720"/>
            <a:ext cx="4315968" cy="219456"/>
          </a:xfrm>
          <a:prstGeom prst="rect">
            <a:avLst/>
          </a:prstGeom>
          <a:solidFill>
            <a:srgbClr val="F8FAFC"/>
          </a:solidFill>
          <a:ln w="6350">
            <a:solidFill>
              <a:srgbClr val="E2E8F0"/>
            </a:solidFill>
            <a:prstDash val="solid"/>
          </a:ln>
        </p:spPr>
        <p:txBody>
          <a:bodyPr/>
          <a:lstStyle/>
          <a:p>
            <a:endParaRPr lang="fr-FR"/>
          </a:p>
        </p:txBody>
      </p:sp>
      <p:sp>
        <p:nvSpPr>
          <p:cNvPr id="42" name="Shape 35"/>
          <p:cNvSpPr/>
          <p:nvPr/>
        </p:nvSpPr>
        <p:spPr>
          <a:xfrm>
            <a:off x="182880" y="3474720"/>
            <a:ext cx="64008" cy="1261872"/>
          </a:xfrm>
          <a:prstGeom prst="rect">
            <a:avLst/>
          </a:prstGeom>
          <a:solidFill>
            <a:srgbClr val="6B48A8"/>
          </a:solidFill>
          <a:ln w="12700">
            <a:solidFill>
              <a:srgbClr val="6B48A8"/>
            </a:solidFill>
            <a:prstDash val="solid"/>
          </a:ln>
        </p:spPr>
        <p:txBody>
          <a:bodyPr/>
          <a:lstStyle/>
          <a:p>
            <a:endParaRPr lang="fr-FR"/>
          </a:p>
        </p:txBody>
      </p:sp>
      <p:sp>
        <p:nvSpPr>
          <p:cNvPr id="43" name="Shape 36"/>
          <p:cNvSpPr/>
          <p:nvPr/>
        </p:nvSpPr>
        <p:spPr>
          <a:xfrm>
            <a:off x="320040" y="3502152"/>
            <a:ext cx="1005840" cy="164592"/>
          </a:xfrm>
          <a:prstGeom prst="rect">
            <a:avLst/>
          </a:prstGeom>
          <a:solidFill>
            <a:srgbClr val="6B48A8"/>
          </a:solidFill>
          <a:ln w="12700">
            <a:solidFill>
              <a:srgbClr val="6B48A8"/>
            </a:solidFill>
            <a:prstDash val="solid"/>
          </a:ln>
        </p:spPr>
        <p:txBody>
          <a:bodyPr/>
          <a:lstStyle/>
          <a:p>
            <a:endParaRPr lang="fr-FR"/>
          </a:p>
        </p:txBody>
      </p:sp>
      <p:sp>
        <p:nvSpPr>
          <p:cNvPr id="44" name="Text 37"/>
          <p:cNvSpPr/>
          <p:nvPr/>
        </p:nvSpPr>
        <p:spPr>
          <a:xfrm>
            <a:off x="320040" y="3502152"/>
            <a:ext cx="1005840"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IA / ML</a:t>
            </a:r>
            <a:endParaRPr lang="en-US" sz="700" dirty="0"/>
          </a:p>
        </p:txBody>
      </p:sp>
      <p:pic>
        <p:nvPicPr>
          <p:cNvPr id="45" name="Image 5" descr="preencoded.png"/>
          <p:cNvPicPr>
            <a:picLocks noChangeAspect="1"/>
          </p:cNvPicPr>
          <p:nvPr/>
        </p:nvPicPr>
        <p:blipFill>
          <a:blip r:embed="rId8"/>
          <a:stretch>
            <a:fillRect/>
          </a:stretch>
        </p:blipFill>
        <p:spPr>
          <a:xfrm>
            <a:off x="310896" y="3895344"/>
            <a:ext cx="347472" cy="347472"/>
          </a:xfrm>
          <a:prstGeom prst="rect">
            <a:avLst/>
          </a:prstGeom>
        </p:spPr>
      </p:pic>
      <p:sp>
        <p:nvSpPr>
          <p:cNvPr id="46" name="Text 38"/>
          <p:cNvSpPr/>
          <p:nvPr/>
        </p:nvSpPr>
        <p:spPr>
          <a:xfrm>
            <a:off x="786384" y="3749040"/>
            <a:ext cx="3584448"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Modèles non certifiés</a:t>
            </a:r>
            <a:endParaRPr lang="en-US" sz="1100" dirty="0"/>
          </a:p>
        </p:txBody>
      </p:sp>
      <p:sp>
        <p:nvSpPr>
          <p:cNvPr id="47" name="Text 39"/>
          <p:cNvSpPr/>
          <p:nvPr/>
        </p:nvSpPr>
        <p:spPr>
          <a:xfrm>
            <a:off x="786384" y="4041648"/>
            <a:ext cx="3584448" cy="58521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GradientBoost et LLM locaux ne sont pas des dispositifs médicaux CE/FDA. Sorties indicatives uniquement.</a:t>
            </a:r>
            <a:endParaRPr lang="en-US" sz="900" dirty="0"/>
          </a:p>
        </p:txBody>
      </p:sp>
      <p:sp>
        <p:nvSpPr>
          <p:cNvPr id="48" name="Shape 40"/>
          <p:cNvSpPr/>
          <p:nvPr/>
        </p:nvSpPr>
        <p:spPr>
          <a:xfrm>
            <a:off x="4663440" y="3474720"/>
            <a:ext cx="4315968" cy="1261872"/>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49" name="Shape 41"/>
          <p:cNvSpPr/>
          <p:nvPr/>
        </p:nvSpPr>
        <p:spPr>
          <a:xfrm>
            <a:off x="4663440" y="3474720"/>
            <a:ext cx="4315968" cy="219456"/>
          </a:xfrm>
          <a:prstGeom prst="rect">
            <a:avLst/>
          </a:prstGeom>
          <a:solidFill>
            <a:srgbClr val="F8FAFC"/>
          </a:solidFill>
          <a:ln w="6350">
            <a:solidFill>
              <a:srgbClr val="E2E8F0"/>
            </a:solidFill>
            <a:prstDash val="solid"/>
          </a:ln>
        </p:spPr>
        <p:txBody>
          <a:bodyPr/>
          <a:lstStyle/>
          <a:p>
            <a:endParaRPr lang="fr-FR"/>
          </a:p>
        </p:txBody>
      </p:sp>
      <p:sp>
        <p:nvSpPr>
          <p:cNvPr id="50" name="Shape 42"/>
          <p:cNvSpPr/>
          <p:nvPr/>
        </p:nvSpPr>
        <p:spPr>
          <a:xfrm>
            <a:off x="4663440" y="3474720"/>
            <a:ext cx="64008" cy="1261872"/>
          </a:xfrm>
          <a:prstGeom prst="rect">
            <a:avLst/>
          </a:prstGeom>
          <a:solidFill>
            <a:srgbClr val="028090"/>
          </a:solidFill>
          <a:ln w="12700">
            <a:solidFill>
              <a:srgbClr val="028090"/>
            </a:solidFill>
            <a:prstDash val="solid"/>
          </a:ln>
        </p:spPr>
        <p:txBody>
          <a:bodyPr/>
          <a:lstStyle/>
          <a:p>
            <a:endParaRPr lang="fr-FR"/>
          </a:p>
        </p:txBody>
      </p:sp>
      <p:sp>
        <p:nvSpPr>
          <p:cNvPr id="51" name="Shape 43"/>
          <p:cNvSpPr/>
          <p:nvPr/>
        </p:nvSpPr>
        <p:spPr>
          <a:xfrm>
            <a:off x="4800600" y="3502152"/>
            <a:ext cx="1005840" cy="164592"/>
          </a:xfrm>
          <a:prstGeom prst="rect">
            <a:avLst/>
          </a:prstGeom>
          <a:solidFill>
            <a:srgbClr val="028090"/>
          </a:solidFill>
          <a:ln w="12700">
            <a:solidFill>
              <a:srgbClr val="028090"/>
            </a:solidFill>
            <a:prstDash val="solid"/>
          </a:ln>
        </p:spPr>
        <p:txBody>
          <a:bodyPr/>
          <a:lstStyle/>
          <a:p>
            <a:endParaRPr lang="fr-FR"/>
          </a:p>
        </p:txBody>
      </p:sp>
      <p:sp>
        <p:nvSpPr>
          <p:cNvPr id="52" name="Text 44"/>
          <p:cNvSpPr/>
          <p:nvPr/>
        </p:nvSpPr>
        <p:spPr>
          <a:xfrm>
            <a:off x="4800600" y="3502152"/>
            <a:ext cx="1005840"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UX TERRAIN</a:t>
            </a:r>
            <a:endParaRPr lang="en-US" sz="700" dirty="0"/>
          </a:p>
        </p:txBody>
      </p:sp>
      <p:pic>
        <p:nvPicPr>
          <p:cNvPr id="53" name="Image 6" descr="preencoded.png"/>
          <p:cNvPicPr>
            <a:picLocks noChangeAspect="1"/>
          </p:cNvPicPr>
          <p:nvPr/>
        </p:nvPicPr>
        <p:blipFill>
          <a:blip r:embed="rId9"/>
          <a:stretch>
            <a:fillRect/>
          </a:stretch>
        </p:blipFill>
        <p:spPr>
          <a:xfrm>
            <a:off x="4791456" y="3895344"/>
            <a:ext cx="347472" cy="347472"/>
          </a:xfrm>
          <a:prstGeom prst="rect">
            <a:avLst/>
          </a:prstGeom>
        </p:spPr>
      </p:pic>
      <p:sp>
        <p:nvSpPr>
          <p:cNvPr id="54" name="Text 45"/>
          <p:cNvSpPr/>
          <p:nvPr/>
        </p:nvSpPr>
        <p:spPr>
          <a:xfrm>
            <a:off x="5266944" y="3749040"/>
            <a:ext cx="3584448"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Dashboard web-only</a:t>
            </a:r>
            <a:endParaRPr lang="en-US" sz="1100" dirty="0"/>
          </a:p>
        </p:txBody>
      </p:sp>
      <p:sp>
        <p:nvSpPr>
          <p:cNvPr id="55" name="Text 46"/>
          <p:cNvSpPr/>
          <p:nvPr/>
        </p:nvSpPr>
        <p:spPr>
          <a:xfrm>
            <a:off x="5266944" y="4041648"/>
            <a:ext cx="3584448" cy="58521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Non optimisé mobile. Pas d'app native patient. Web Push VAPID partiel (keys demo).</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Choix d'Architecture — Pourquoi ces Décisions ?</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Text 5"/>
          <p:cNvSpPr/>
          <p:nvPr/>
        </p:nvSpPr>
        <p:spPr>
          <a:xfrm>
            <a:off x="201168" y="603504"/>
            <a:ext cx="8741664" cy="219456"/>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Des choix délibérés, pas des oublis.</a:t>
            </a:r>
            <a:endParaRPr lang="en-US" sz="1000" dirty="0"/>
          </a:p>
        </p:txBody>
      </p:sp>
      <p:sp>
        <p:nvSpPr>
          <p:cNvPr id="9" name="Shape 6"/>
          <p:cNvSpPr/>
          <p:nvPr/>
        </p:nvSpPr>
        <p:spPr>
          <a:xfrm>
            <a:off x="182880" y="914400"/>
            <a:ext cx="8778240" cy="1225296"/>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10" name="Shape 7"/>
          <p:cNvSpPr/>
          <p:nvPr/>
        </p:nvSpPr>
        <p:spPr>
          <a:xfrm>
            <a:off x="182880" y="914400"/>
            <a:ext cx="54864" cy="1225296"/>
          </a:xfrm>
          <a:prstGeom prst="rect">
            <a:avLst/>
          </a:prstGeom>
          <a:solidFill>
            <a:srgbClr val="028090"/>
          </a:solidFill>
          <a:ln w="12700">
            <a:solidFill>
              <a:srgbClr val="028090"/>
            </a:solidFill>
            <a:prstDash val="solid"/>
          </a:ln>
        </p:spPr>
        <p:txBody>
          <a:bodyPr/>
          <a:lstStyle/>
          <a:p>
            <a:endParaRPr lang="fr-FR"/>
          </a:p>
        </p:txBody>
      </p:sp>
      <p:sp>
        <p:nvSpPr>
          <p:cNvPr id="11" name="Shape 8"/>
          <p:cNvSpPr/>
          <p:nvPr/>
        </p:nvSpPr>
        <p:spPr>
          <a:xfrm>
            <a:off x="182880" y="914400"/>
            <a:ext cx="384048" cy="1225296"/>
          </a:xfrm>
          <a:prstGeom prst="rect">
            <a:avLst/>
          </a:prstGeom>
          <a:solidFill>
            <a:srgbClr val="028090"/>
          </a:solidFill>
          <a:ln w="12700">
            <a:solidFill>
              <a:srgbClr val="028090"/>
            </a:solidFill>
            <a:prstDash val="solid"/>
          </a:ln>
        </p:spPr>
        <p:txBody>
          <a:bodyPr/>
          <a:lstStyle/>
          <a:p>
            <a:endParaRPr lang="fr-FR"/>
          </a:p>
        </p:txBody>
      </p:sp>
      <p:sp>
        <p:nvSpPr>
          <p:cNvPr id="12" name="Text 9"/>
          <p:cNvSpPr/>
          <p:nvPr/>
        </p:nvSpPr>
        <p:spPr>
          <a:xfrm>
            <a:off x="182880" y="914400"/>
            <a:ext cx="384048" cy="122529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0"/>
          <p:cNvSpPr/>
          <p:nvPr/>
        </p:nvSpPr>
        <p:spPr>
          <a:xfrm>
            <a:off x="676656" y="987552"/>
            <a:ext cx="8156448"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Règles KB explicites — pas de ML pur pour les alertes</a:t>
            </a:r>
            <a:endParaRPr lang="en-US" sz="1150" dirty="0"/>
          </a:p>
        </p:txBody>
      </p:sp>
      <p:sp>
        <p:nvSpPr>
          <p:cNvPr id="14" name="Shape 11"/>
          <p:cNvSpPr/>
          <p:nvPr/>
        </p:nvSpPr>
        <p:spPr>
          <a:xfrm>
            <a:off x="731520" y="1335024"/>
            <a:ext cx="54864" cy="54864"/>
          </a:xfrm>
          <a:prstGeom prst="rect">
            <a:avLst/>
          </a:prstGeom>
          <a:solidFill>
            <a:srgbClr val="028090"/>
          </a:solidFill>
          <a:ln w="12700">
            <a:solidFill>
              <a:srgbClr val="028090"/>
            </a:solidFill>
            <a:prstDash val="solid"/>
          </a:ln>
        </p:spPr>
        <p:txBody>
          <a:bodyPr/>
          <a:lstStyle/>
          <a:p>
            <a:endParaRPr lang="fr-FR"/>
          </a:p>
        </p:txBody>
      </p:sp>
      <p:sp>
        <p:nvSpPr>
          <p:cNvPr id="15" name="Text 12"/>
          <p:cNvSpPr/>
          <p:nvPr/>
        </p:nvSpPr>
        <p:spPr>
          <a:xfrm>
            <a:off x="877824" y="1280160"/>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alert_engine lit ml_rule_weights.json → 1 source de vérité (synergy_bonus, trigger_rules)</a:t>
            </a:r>
            <a:endParaRPr lang="en-US" sz="900" dirty="0"/>
          </a:p>
        </p:txBody>
      </p:sp>
      <p:sp>
        <p:nvSpPr>
          <p:cNvPr id="16" name="Shape 13"/>
          <p:cNvSpPr/>
          <p:nvPr/>
        </p:nvSpPr>
        <p:spPr>
          <a:xfrm>
            <a:off x="731520" y="1527048"/>
            <a:ext cx="54864" cy="54864"/>
          </a:xfrm>
          <a:prstGeom prst="rect">
            <a:avLst/>
          </a:prstGeom>
          <a:solidFill>
            <a:srgbClr val="028090"/>
          </a:solidFill>
          <a:ln w="12700">
            <a:solidFill>
              <a:srgbClr val="028090"/>
            </a:solidFill>
            <a:prstDash val="solid"/>
          </a:ln>
        </p:spPr>
        <p:txBody>
          <a:bodyPr/>
          <a:lstStyle/>
          <a:p>
            <a:endParaRPr lang="fr-FR"/>
          </a:p>
        </p:txBody>
      </p:sp>
      <p:sp>
        <p:nvSpPr>
          <p:cNvPr id="17" name="Text 14"/>
          <p:cNvSpPr/>
          <p:nvPr/>
        </p:nvSpPr>
        <p:spPr>
          <a:xfrm>
            <a:off x="877824" y="1472184"/>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Auditabilité totale : chaque alerte tracée à un scénario KB avec ID et source HAS/RCP</a:t>
            </a:r>
            <a:endParaRPr lang="en-US" sz="900" dirty="0"/>
          </a:p>
        </p:txBody>
      </p:sp>
      <p:sp>
        <p:nvSpPr>
          <p:cNvPr id="18" name="Shape 15"/>
          <p:cNvSpPr/>
          <p:nvPr/>
        </p:nvSpPr>
        <p:spPr>
          <a:xfrm>
            <a:off x="731520" y="1719072"/>
            <a:ext cx="54864" cy="54864"/>
          </a:xfrm>
          <a:prstGeom prst="rect">
            <a:avLst/>
          </a:prstGeom>
          <a:solidFill>
            <a:srgbClr val="028090"/>
          </a:solidFill>
          <a:ln w="12700">
            <a:solidFill>
              <a:srgbClr val="028090"/>
            </a:solidFill>
            <a:prstDash val="solid"/>
          </a:ln>
        </p:spPr>
        <p:txBody>
          <a:bodyPr/>
          <a:lstStyle/>
          <a:p>
            <a:endParaRPr lang="fr-FR"/>
          </a:p>
        </p:txBody>
      </p:sp>
      <p:sp>
        <p:nvSpPr>
          <p:cNvPr id="19" name="Text 16"/>
          <p:cNvSpPr/>
          <p:nvPr/>
        </p:nvSpPr>
        <p:spPr>
          <a:xfrm>
            <a:off x="877824" y="1664208"/>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Pas de dérive silencieuse : comportement identique entre deux lancements</a:t>
            </a:r>
            <a:endParaRPr lang="en-US" sz="900" dirty="0"/>
          </a:p>
        </p:txBody>
      </p:sp>
      <p:sp>
        <p:nvSpPr>
          <p:cNvPr id="20" name="Shape 17"/>
          <p:cNvSpPr/>
          <p:nvPr/>
        </p:nvSpPr>
        <p:spPr>
          <a:xfrm>
            <a:off x="731520" y="1911096"/>
            <a:ext cx="54864" cy="54864"/>
          </a:xfrm>
          <a:prstGeom prst="rect">
            <a:avLst/>
          </a:prstGeom>
          <a:solidFill>
            <a:srgbClr val="028090"/>
          </a:solidFill>
          <a:ln w="12700">
            <a:solidFill>
              <a:srgbClr val="028090"/>
            </a:solidFill>
            <a:prstDash val="solid"/>
          </a:ln>
        </p:spPr>
        <p:txBody>
          <a:bodyPr/>
          <a:lstStyle/>
          <a:p>
            <a:endParaRPr lang="fr-FR"/>
          </a:p>
        </p:txBody>
      </p:sp>
      <p:sp>
        <p:nvSpPr>
          <p:cNvPr id="21" name="Text 18"/>
          <p:cNvSpPr/>
          <p:nvPr/>
        </p:nvSpPr>
        <p:spPr>
          <a:xfrm>
            <a:off x="877824" y="1856232"/>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Demo-safe : impossible qu'un modèle génère une alerte incohérente en direct</a:t>
            </a:r>
            <a:endParaRPr lang="en-US" sz="900" dirty="0"/>
          </a:p>
        </p:txBody>
      </p:sp>
      <p:sp>
        <p:nvSpPr>
          <p:cNvPr id="22" name="Shape 19"/>
          <p:cNvSpPr/>
          <p:nvPr/>
        </p:nvSpPr>
        <p:spPr>
          <a:xfrm>
            <a:off x="182880" y="2249424"/>
            <a:ext cx="8778240" cy="1225296"/>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3" name="Shape 20"/>
          <p:cNvSpPr/>
          <p:nvPr/>
        </p:nvSpPr>
        <p:spPr>
          <a:xfrm>
            <a:off x="182880" y="2249424"/>
            <a:ext cx="54864" cy="1225296"/>
          </a:xfrm>
          <a:prstGeom prst="rect">
            <a:avLst/>
          </a:prstGeom>
          <a:solidFill>
            <a:srgbClr val="6B48A8"/>
          </a:solidFill>
          <a:ln w="12700">
            <a:solidFill>
              <a:srgbClr val="6B48A8"/>
            </a:solidFill>
            <a:prstDash val="solid"/>
          </a:ln>
        </p:spPr>
        <p:txBody>
          <a:bodyPr/>
          <a:lstStyle/>
          <a:p>
            <a:endParaRPr lang="fr-FR"/>
          </a:p>
        </p:txBody>
      </p:sp>
      <p:sp>
        <p:nvSpPr>
          <p:cNvPr id="24" name="Shape 21"/>
          <p:cNvSpPr/>
          <p:nvPr/>
        </p:nvSpPr>
        <p:spPr>
          <a:xfrm>
            <a:off x="182880" y="2249424"/>
            <a:ext cx="384048" cy="1225296"/>
          </a:xfrm>
          <a:prstGeom prst="rect">
            <a:avLst/>
          </a:prstGeom>
          <a:solidFill>
            <a:srgbClr val="6B48A8"/>
          </a:solidFill>
          <a:ln w="12700">
            <a:solidFill>
              <a:srgbClr val="6B48A8"/>
            </a:solidFill>
            <a:prstDash val="solid"/>
          </a:ln>
        </p:spPr>
        <p:txBody>
          <a:bodyPr/>
          <a:lstStyle/>
          <a:p>
            <a:endParaRPr lang="fr-FR"/>
          </a:p>
        </p:txBody>
      </p:sp>
      <p:sp>
        <p:nvSpPr>
          <p:cNvPr id="25" name="Text 22"/>
          <p:cNvSpPr/>
          <p:nvPr/>
        </p:nvSpPr>
        <p:spPr>
          <a:xfrm>
            <a:off x="182880" y="2249424"/>
            <a:ext cx="384048" cy="122529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6" name="Text 23"/>
          <p:cNvSpPr/>
          <p:nvPr/>
        </p:nvSpPr>
        <p:spPr>
          <a:xfrm>
            <a:off x="676656" y="2322576"/>
            <a:ext cx="8156448"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LLM reformule — il ne décide pas</a:t>
            </a:r>
            <a:endParaRPr lang="en-US" sz="1150" dirty="0"/>
          </a:p>
        </p:txBody>
      </p:sp>
      <p:sp>
        <p:nvSpPr>
          <p:cNvPr id="27" name="Shape 24"/>
          <p:cNvSpPr/>
          <p:nvPr/>
        </p:nvSpPr>
        <p:spPr>
          <a:xfrm>
            <a:off x="731520" y="2670048"/>
            <a:ext cx="54864" cy="54864"/>
          </a:xfrm>
          <a:prstGeom prst="rect">
            <a:avLst/>
          </a:prstGeom>
          <a:solidFill>
            <a:srgbClr val="6B48A8"/>
          </a:solidFill>
          <a:ln w="12700">
            <a:solidFill>
              <a:srgbClr val="6B48A8"/>
            </a:solidFill>
            <a:prstDash val="solid"/>
          </a:ln>
        </p:spPr>
        <p:txBody>
          <a:bodyPr/>
          <a:lstStyle/>
          <a:p>
            <a:endParaRPr lang="fr-FR"/>
          </a:p>
        </p:txBody>
      </p:sp>
      <p:sp>
        <p:nvSpPr>
          <p:cNvPr id="28" name="Text 25"/>
          <p:cNvSpPr/>
          <p:nvPr/>
        </p:nvSpPr>
        <p:spPr>
          <a:xfrm>
            <a:off x="877824" y="2615184"/>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Agent synthèse (A2A) pré-calcule le contexte complet → LLM reçoit un contexte enrichi</a:t>
            </a:r>
            <a:endParaRPr lang="en-US" sz="900" dirty="0"/>
          </a:p>
        </p:txBody>
      </p:sp>
      <p:sp>
        <p:nvSpPr>
          <p:cNvPr id="29" name="Shape 26"/>
          <p:cNvSpPr/>
          <p:nvPr/>
        </p:nvSpPr>
        <p:spPr>
          <a:xfrm>
            <a:off x="731520" y="2862072"/>
            <a:ext cx="54864" cy="54864"/>
          </a:xfrm>
          <a:prstGeom prst="rect">
            <a:avLst/>
          </a:prstGeom>
          <a:solidFill>
            <a:srgbClr val="6B48A8"/>
          </a:solidFill>
          <a:ln w="12700">
            <a:solidFill>
              <a:srgbClr val="6B48A8"/>
            </a:solidFill>
            <a:prstDash val="solid"/>
          </a:ln>
        </p:spPr>
        <p:txBody>
          <a:bodyPr/>
          <a:lstStyle/>
          <a:p>
            <a:endParaRPr lang="fr-FR"/>
          </a:p>
        </p:txBody>
      </p:sp>
      <p:sp>
        <p:nvSpPr>
          <p:cNvPr id="30" name="Text 27"/>
          <p:cNvSpPr/>
          <p:nvPr/>
        </p:nvSpPr>
        <p:spPr>
          <a:xfrm>
            <a:off x="877824" y="2807208"/>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LLM = explication clinique / règles KB = décision d'alerte. Séparation stricte</a:t>
            </a:r>
            <a:endParaRPr lang="en-US" sz="900" dirty="0"/>
          </a:p>
        </p:txBody>
      </p:sp>
      <p:sp>
        <p:nvSpPr>
          <p:cNvPr id="31" name="Shape 28"/>
          <p:cNvSpPr/>
          <p:nvPr/>
        </p:nvSpPr>
        <p:spPr>
          <a:xfrm>
            <a:off x="731520" y="3054096"/>
            <a:ext cx="54864" cy="54864"/>
          </a:xfrm>
          <a:prstGeom prst="rect">
            <a:avLst/>
          </a:prstGeom>
          <a:solidFill>
            <a:srgbClr val="6B48A8"/>
          </a:solidFill>
          <a:ln w="12700">
            <a:solidFill>
              <a:srgbClr val="6B48A8"/>
            </a:solidFill>
            <a:prstDash val="solid"/>
          </a:ln>
        </p:spPr>
        <p:txBody>
          <a:bodyPr/>
          <a:lstStyle/>
          <a:p>
            <a:endParaRPr lang="fr-FR"/>
          </a:p>
        </p:txBody>
      </p:sp>
      <p:sp>
        <p:nvSpPr>
          <p:cNvPr id="32" name="Text 29"/>
          <p:cNvSpPr/>
          <p:nvPr/>
        </p:nvSpPr>
        <p:spPr>
          <a:xfrm>
            <a:off x="877824" y="2999232"/>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Une erreur de prompt ne peut pas modifier les alertes ni les trajectoires patients</a:t>
            </a:r>
            <a:endParaRPr lang="en-US" sz="900" dirty="0"/>
          </a:p>
        </p:txBody>
      </p:sp>
      <p:sp>
        <p:nvSpPr>
          <p:cNvPr id="33" name="Shape 30"/>
          <p:cNvSpPr/>
          <p:nvPr/>
        </p:nvSpPr>
        <p:spPr>
          <a:xfrm>
            <a:off x="731520" y="3246120"/>
            <a:ext cx="54864" cy="54864"/>
          </a:xfrm>
          <a:prstGeom prst="rect">
            <a:avLst/>
          </a:prstGeom>
          <a:solidFill>
            <a:srgbClr val="6B48A8"/>
          </a:solidFill>
          <a:ln w="12700">
            <a:solidFill>
              <a:srgbClr val="6B48A8"/>
            </a:solidFill>
            <a:prstDash val="solid"/>
          </a:ln>
        </p:spPr>
        <p:txBody>
          <a:bodyPr/>
          <a:lstStyle/>
          <a:p>
            <a:endParaRPr lang="fr-FR"/>
          </a:p>
        </p:txBody>
      </p:sp>
      <p:sp>
        <p:nvSpPr>
          <p:cNvPr id="34" name="Text 31"/>
          <p:cNvSpPr/>
          <p:nvPr/>
        </p:nvSpPr>
        <p:spPr>
          <a:xfrm>
            <a:off x="877824" y="3191256"/>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LLM local optionnel : résumé, JSON, rapport. Décision côté règles/KB + ML.</a:t>
            </a:r>
            <a:endParaRPr lang="en-US" sz="900" dirty="0"/>
          </a:p>
        </p:txBody>
      </p:sp>
      <p:sp>
        <p:nvSpPr>
          <p:cNvPr id="35" name="Shape 32"/>
          <p:cNvSpPr/>
          <p:nvPr/>
        </p:nvSpPr>
        <p:spPr>
          <a:xfrm>
            <a:off x="182880" y="3584448"/>
            <a:ext cx="8778240" cy="1225296"/>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36" name="Shape 33"/>
          <p:cNvSpPr/>
          <p:nvPr/>
        </p:nvSpPr>
        <p:spPr>
          <a:xfrm>
            <a:off x="182880" y="3584448"/>
            <a:ext cx="54864" cy="1225296"/>
          </a:xfrm>
          <a:prstGeom prst="rect">
            <a:avLst/>
          </a:prstGeom>
          <a:solidFill>
            <a:srgbClr val="E07B39"/>
          </a:solidFill>
          <a:ln w="12700">
            <a:solidFill>
              <a:srgbClr val="E07B39"/>
            </a:solidFill>
            <a:prstDash val="solid"/>
          </a:ln>
        </p:spPr>
        <p:txBody>
          <a:bodyPr/>
          <a:lstStyle/>
          <a:p>
            <a:endParaRPr lang="fr-FR"/>
          </a:p>
        </p:txBody>
      </p:sp>
      <p:sp>
        <p:nvSpPr>
          <p:cNvPr id="37" name="Shape 34"/>
          <p:cNvSpPr/>
          <p:nvPr/>
        </p:nvSpPr>
        <p:spPr>
          <a:xfrm>
            <a:off x="182880" y="3584448"/>
            <a:ext cx="384048" cy="1225296"/>
          </a:xfrm>
          <a:prstGeom prst="rect">
            <a:avLst/>
          </a:prstGeom>
          <a:solidFill>
            <a:srgbClr val="E07B39"/>
          </a:solidFill>
          <a:ln w="12700">
            <a:solidFill>
              <a:srgbClr val="E07B39"/>
            </a:solidFill>
            <a:prstDash val="solid"/>
          </a:ln>
        </p:spPr>
        <p:txBody>
          <a:bodyPr/>
          <a:lstStyle/>
          <a:p>
            <a:endParaRPr lang="fr-FR"/>
          </a:p>
        </p:txBody>
      </p:sp>
      <p:sp>
        <p:nvSpPr>
          <p:cNvPr id="38" name="Text 35"/>
          <p:cNvSpPr/>
          <p:nvPr/>
        </p:nvSpPr>
        <p:spPr>
          <a:xfrm>
            <a:off x="182880" y="3584448"/>
            <a:ext cx="384048" cy="122529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9" name="Text 36"/>
          <p:cNvSpPr/>
          <p:nvPr/>
        </p:nvSpPr>
        <p:spPr>
          <a:xfrm>
            <a:off x="676656" y="3657600"/>
            <a:ext cx="8156448"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Redis synchrone → migration async planifiée</a:t>
            </a:r>
            <a:endParaRPr lang="en-US" sz="1150" dirty="0"/>
          </a:p>
        </p:txBody>
      </p:sp>
      <p:sp>
        <p:nvSpPr>
          <p:cNvPr id="40" name="Shape 37"/>
          <p:cNvSpPr/>
          <p:nvPr/>
        </p:nvSpPr>
        <p:spPr>
          <a:xfrm>
            <a:off x="731520" y="4005072"/>
            <a:ext cx="54864" cy="54864"/>
          </a:xfrm>
          <a:prstGeom prst="rect">
            <a:avLst/>
          </a:prstGeom>
          <a:solidFill>
            <a:srgbClr val="E07B39"/>
          </a:solidFill>
          <a:ln w="12700">
            <a:solidFill>
              <a:srgbClr val="E07B39"/>
            </a:solidFill>
            <a:prstDash val="solid"/>
          </a:ln>
        </p:spPr>
        <p:txBody>
          <a:bodyPr/>
          <a:lstStyle/>
          <a:p>
            <a:endParaRPr lang="fr-FR"/>
          </a:p>
        </p:txBody>
      </p:sp>
      <p:sp>
        <p:nvSpPr>
          <p:cNvPr id="41" name="Text 38"/>
          <p:cNvSpPr/>
          <p:nvPr/>
        </p:nvSpPr>
        <p:spPr>
          <a:xfrm>
            <a:off x="877824" y="3950208"/>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redis.Redis synchrone dans handlers async FastAPI : bloque l'event loop ~0.5-2ms par appel</a:t>
            </a:r>
            <a:endParaRPr lang="en-US" sz="900" dirty="0"/>
          </a:p>
        </p:txBody>
      </p:sp>
      <p:sp>
        <p:nvSpPr>
          <p:cNvPr id="42" name="Shape 39"/>
          <p:cNvSpPr/>
          <p:nvPr/>
        </p:nvSpPr>
        <p:spPr>
          <a:xfrm>
            <a:off x="731520" y="4197096"/>
            <a:ext cx="54864" cy="54864"/>
          </a:xfrm>
          <a:prstGeom prst="rect">
            <a:avLst/>
          </a:prstGeom>
          <a:solidFill>
            <a:srgbClr val="E07B39"/>
          </a:solidFill>
          <a:ln w="12700">
            <a:solidFill>
              <a:srgbClr val="E07B39"/>
            </a:solidFill>
            <a:prstDash val="solid"/>
          </a:ln>
        </p:spPr>
        <p:txBody>
          <a:bodyPr/>
          <a:lstStyle/>
          <a:p>
            <a:endParaRPr lang="fr-FR"/>
          </a:p>
        </p:txBody>
      </p:sp>
      <p:sp>
        <p:nvSpPr>
          <p:cNvPr id="43" name="Text 40"/>
          <p:cNvSpPr/>
          <p:nvPr/>
        </p:nvSpPr>
        <p:spPr>
          <a:xfrm>
            <a:off x="877824" y="4142232"/>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Sur 25 résidents × 1 msg/s = pression progressive en production</a:t>
            </a:r>
            <a:endParaRPr lang="en-US" sz="900" dirty="0"/>
          </a:p>
        </p:txBody>
      </p:sp>
      <p:sp>
        <p:nvSpPr>
          <p:cNvPr id="44" name="Shape 41"/>
          <p:cNvSpPr/>
          <p:nvPr/>
        </p:nvSpPr>
        <p:spPr>
          <a:xfrm>
            <a:off x="731520" y="4389120"/>
            <a:ext cx="54864" cy="54864"/>
          </a:xfrm>
          <a:prstGeom prst="rect">
            <a:avLst/>
          </a:prstGeom>
          <a:solidFill>
            <a:srgbClr val="E07B39"/>
          </a:solidFill>
          <a:ln w="12700">
            <a:solidFill>
              <a:srgbClr val="E07B39"/>
            </a:solidFill>
            <a:prstDash val="solid"/>
          </a:ln>
        </p:spPr>
        <p:txBody>
          <a:bodyPr/>
          <a:lstStyle/>
          <a:p>
            <a:endParaRPr lang="fr-FR"/>
          </a:p>
        </p:txBody>
      </p:sp>
      <p:sp>
        <p:nvSpPr>
          <p:cNvPr id="45" name="Text 42"/>
          <p:cNvSpPr/>
          <p:nvPr/>
        </p:nvSpPr>
        <p:spPr>
          <a:xfrm>
            <a:off x="877824" y="4334256"/>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Migration prévue vers redis.asyncio en Phase 3 (refacto APIRouter)</a:t>
            </a:r>
            <a:endParaRPr lang="en-US" sz="900" dirty="0"/>
          </a:p>
        </p:txBody>
      </p:sp>
      <p:sp>
        <p:nvSpPr>
          <p:cNvPr id="46" name="Shape 43"/>
          <p:cNvSpPr/>
          <p:nvPr/>
        </p:nvSpPr>
        <p:spPr>
          <a:xfrm>
            <a:off x="731520" y="4581144"/>
            <a:ext cx="54864" cy="54864"/>
          </a:xfrm>
          <a:prstGeom prst="rect">
            <a:avLst/>
          </a:prstGeom>
          <a:solidFill>
            <a:srgbClr val="E07B39"/>
          </a:solidFill>
          <a:ln w="12700">
            <a:solidFill>
              <a:srgbClr val="E07B39"/>
            </a:solidFill>
            <a:prstDash val="solid"/>
          </a:ln>
        </p:spPr>
        <p:txBody>
          <a:bodyPr/>
          <a:lstStyle/>
          <a:p>
            <a:endParaRPr lang="fr-FR"/>
          </a:p>
        </p:txBody>
      </p:sp>
      <p:sp>
        <p:nvSpPr>
          <p:cNvPr id="47" name="Text 44"/>
          <p:cNvSpPr/>
          <p:nvPr/>
        </p:nvSpPr>
        <p:spPr>
          <a:xfrm>
            <a:off x="877824" y="4526280"/>
            <a:ext cx="7900416"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Choix assumé pour la stabilité de la démo actuelle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8FAFC"/>
          </a:solidFill>
          <a:ln w="6350">
            <a:solidFill>
              <a:srgbClr val="E2E8F0"/>
            </a:solidFill>
            <a:prstDash val="solid"/>
          </a:ln>
        </p:spPr>
        <p:txBody>
          <a:bodyPr/>
          <a:lstStyle/>
          <a:p>
            <a:endParaRPr lang="fr-FR"/>
          </a:p>
        </p:txBody>
      </p:sp>
      <p:sp>
        <p:nvSpPr>
          <p:cNvPr id="3" name="Shape 1"/>
          <p:cNvSpPr/>
          <p:nvPr/>
        </p:nvSpPr>
        <p:spPr>
          <a:xfrm>
            <a:off x="320040" y="91440"/>
            <a:ext cx="54864" cy="32004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91440"/>
            <a:ext cx="5943600" cy="32004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Évolutions Possibles — Roadmap</a:t>
            </a:r>
            <a:endParaRPr lang="en-US" sz="1700" dirty="0"/>
          </a:p>
        </p:txBody>
      </p:sp>
      <p:pic>
        <p:nvPicPr>
          <p:cNvPr id="5" name="Image 0" descr="preencoded.png"/>
          <p:cNvPicPr>
            <a:picLocks noChangeAspect="1"/>
          </p:cNvPicPr>
          <p:nvPr/>
        </p:nvPicPr>
        <p:blipFill>
          <a:blip r:embed="rId3"/>
          <a:stretch>
            <a:fillRect/>
          </a:stretch>
        </p:blipFill>
        <p:spPr>
          <a:xfrm>
            <a:off x="5486400" y="64008"/>
            <a:ext cx="3474720" cy="384048"/>
          </a:xfrm>
          <a:prstGeom prst="rect">
            <a:avLst/>
          </a:prstGeom>
        </p:spPr>
      </p:pic>
      <p:sp>
        <p:nvSpPr>
          <p:cNvPr id="6" name="Shape 3"/>
          <p:cNvSpPr/>
          <p:nvPr/>
        </p:nvSpPr>
        <p:spPr>
          <a:xfrm>
            <a:off x="7772400" y="4800600"/>
            <a:ext cx="1234440" cy="228600"/>
          </a:xfrm>
          <a:prstGeom prst="rect">
            <a:avLst/>
          </a:prstGeom>
          <a:solidFill>
            <a:srgbClr val="028090"/>
          </a:solidFill>
          <a:ln w="12700">
            <a:solidFill>
              <a:srgbClr val="028090"/>
            </a:solidFill>
            <a:prstDash val="solid"/>
          </a:ln>
        </p:spPr>
        <p:txBody>
          <a:bodyPr/>
          <a:lstStyle/>
          <a:p>
            <a:endParaRPr lang="fr-FR"/>
          </a:p>
        </p:txBody>
      </p:sp>
      <p:sp>
        <p:nvSpPr>
          <p:cNvPr id="7" name="Text 4"/>
          <p:cNvSpPr/>
          <p:nvPr/>
        </p:nvSpPr>
        <p:spPr>
          <a:xfrm>
            <a:off x="7772400" y="4800600"/>
            <a:ext cx="1234440" cy="2286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EHPAD Monitor · V2</a:t>
            </a:r>
            <a:endParaRPr lang="en-US" sz="700" dirty="0"/>
          </a:p>
        </p:txBody>
      </p:sp>
      <p:sp>
        <p:nvSpPr>
          <p:cNvPr id="8" name="Shape 5"/>
          <p:cNvSpPr/>
          <p:nvPr/>
        </p:nvSpPr>
        <p:spPr>
          <a:xfrm>
            <a:off x="164592" y="603504"/>
            <a:ext cx="2816352" cy="4315968"/>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6"/>
          <p:cNvSpPr/>
          <p:nvPr/>
        </p:nvSpPr>
        <p:spPr>
          <a:xfrm>
            <a:off x="164592" y="603504"/>
            <a:ext cx="54864" cy="4315968"/>
          </a:xfrm>
          <a:prstGeom prst="rect">
            <a:avLst/>
          </a:prstGeom>
          <a:solidFill>
            <a:srgbClr val="028090"/>
          </a:solidFill>
          <a:ln w="12700">
            <a:solidFill>
              <a:srgbClr val="028090"/>
            </a:solidFill>
            <a:prstDash val="solid"/>
          </a:ln>
        </p:spPr>
        <p:txBody>
          <a:bodyPr/>
          <a:lstStyle/>
          <a:p>
            <a:endParaRPr lang="fr-FR"/>
          </a:p>
        </p:txBody>
      </p:sp>
      <p:sp>
        <p:nvSpPr>
          <p:cNvPr id="10" name="Shape 7"/>
          <p:cNvSpPr/>
          <p:nvPr/>
        </p:nvSpPr>
        <p:spPr>
          <a:xfrm>
            <a:off x="228600" y="603504"/>
            <a:ext cx="2752344" cy="530352"/>
          </a:xfrm>
          <a:prstGeom prst="rect">
            <a:avLst/>
          </a:prstGeom>
          <a:solidFill>
            <a:srgbClr val="028090"/>
          </a:solidFill>
          <a:ln w="12700">
            <a:solidFill>
              <a:srgbClr val="028090"/>
            </a:solidFill>
            <a:prstDash val="solid"/>
          </a:ln>
        </p:spPr>
        <p:txBody>
          <a:bodyPr/>
          <a:lstStyle/>
          <a:p>
            <a:endParaRPr lang="fr-FR"/>
          </a:p>
        </p:txBody>
      </p:sp>
      <p:sp>
        <p:nvSpPr>
          <p:cNvPr id="11" name="Text 8"/>
          <p:cNvSpPr/>
          <p:nvPr/>
        </p:nvSpPr>
        <p:spPr>
          <a:xfrm>
            <a:off x="292608" y="621792"/>
            <a:ext cx="261518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1 — Court terme</a:t>
            </a:r>
            <a:endParaRPr lang="en-US" sz="1100" dirty="0"/>
          </a:p>
        </p:txBody>
      </p:sp>
      <p:sp>
        <p:nvSpPr>
          <p:cNvPr id="12" name="Text 9"/>
          <p:cNvSpPr/>
          <p:nvPr/>
        </p:nvSpPr>
        <p:spPr>
          <a:xfrm>
            <a:off x="292608" y="896112"/>
            <a:ext cx="2615184" cy="182880"/>
          </a:xfrm>
          <a:prstGeom prst="rect">
            <a:avLst/>
          </a:prstGeom>
          <a:noFill/>
          <a:ln/>
        </p:spPr>
        <p:txBody>
          <a:bodyPr wrap="square" lIns="0" tIns="0" rIns="0" bIns="0" rtlCol="0" anchor="ctr"/>
          <a:lstStyle/>
          <a:p>
            <a:pPr marL="0" indent="0">
              <a:buNone/>
            </a:pPr>
            <a:r>
              <a:rPr lang="en-US" sz="900" dirty="0">
                <a:solidFill>
                  <a:srgbClr val="D8EDF5"/>
                </a:solidFill>
                <a:latin typeface="Calibri" pitchFamily="34" charset="0"/>
                <a:ea typeface="Calibri" pitchFamily="34" charset="-122"/>
                <a:cs typeface="Calibri" pitchFamily="34" charset="-120"/>
              </a:rPr>
              <a:t>0 – 3 mois</a:t>
            </a:r>
            <a:endParaRPr lang="en-US" sz="900" dirty="0"/>
          </a:p>
        </p:txBody>
      </p:sp>
      <p:sp>
        <p:nvSpPr>
          <p:cNvPr id="13" name="Shape 10"/>
          <p:cNvSpPr/>
          <p:nvPr/>
        </p:nvSpPr>
        <p:spPr>
          <a:xfrm>
            <a:off x="329184" y="1280160"/>
            <a:ext cx="91440" cy="91440"/>
          </a:xfrm>
          <a:prstGeom prst="rect">
            <a:avLst/>
          </a:prstGeom>
          <a:solidFill>
            <a:srgbClr val="028090"/>
          </a:solidFill>
          <a:ln w="12700">
            <a:solidFill>
              <a:srgbClr val="028090"/>
            </a:solidFill>
            <a:prstDash val="solid"/>
          </a:ln>
        </p:spPr>
        <p:txBody>
          <a:bodyPr/>
          <a:lstStyle/>
          <a:p>
            <a:endParaRPr lang="fr-FR"/>
          </a:p>
        </p:txBody>
      </p:sp>
      <p:sp>
        <p:nvSpPr>
          <p:cNvPr id="14" name="Text 11"/>
          <p:cNvSpPr/>
          <p:nvPr/>
        </p:nvSpPr>
        <p:spPr>
          <a:xfrm>
            <a:off x="512064" y="1207008"/>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Brancher ml_rule_weights.synergy_bonus dans agent_prediction</a:t>
            </a:r>
            <a:endParaRPr lang="en-US" sz="900" dirty="0"/>
          </a:p>
        </p:txBody>
      </p:sp>
      <p:sp>
        <p:nvSpPr>
          <p:cNvPr id="15" name="Shape 12"/>
          <p:cNvSpPr/>
          <p:nvPr/>
        </p:nvSpPr>
        <p:spPr>
          <a:xfrm>
            <a:off x="329184" y="1755648"/>
            <a:ext cx="91440" cy="91440"/>
          </a:xfrm>
          <a:prstGeom prst="rect">
            <a:avLst/>
          </a:prstGeom>
          <a:solidFill>
            <a:srgbClr val="028090"/>
          </a:solidFill>
          <a:ln w="12700">
            <a:solidFill>
              <a:srgbClr val="028090"/>
            </a:solidFill>
            <a:prstDash val="solid"/>
          </a:ln>
        </p:spPr>
        <p:txBody>
          <a:bodyPr/>
          <a:lstStyle/>
          <a:p>
            <a:endParaRPr lang="fr-FR"/>
          </a:p>
        </p:txBody>
      </p:sp>
      <p:sp>
        <p:nvSpPr>
          <p:cNvPr id="16" name="Text 13"/>
          <p:cNvSpPr/>
          <p:nvPr/>
        </p:nvSpPr>
        <p:spPr>
          <a:xfrm>
            <a:off x="512064" y="1682496"/>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Score correspondance scénario dans le dashboard</a:t>
            </a:r>
            <a:endParaRPr lang="en-US" sz="900" dirty="0"/>
          </a:p>
        </p:txBody>
      </p:sp>
      <p:sp>
        <p:nvSpPr>
          <p:cNvPr id="17" name="Shape 14"/>
          <p:cNvSpPr/>
          <p:nvPr/>
        </p:nvSpPr>
        <p:spPr>
          <a:xfrm>
            <a:off x="329184" y="2231136"/>
            <a:ext cx="91440" cy="91440"/>
          </a:xfrm>
          <a:prstGeom prst="rect">
            <a:avLst/>
          </a:prstGeom>
          <a:solidFill>
            <a:srgbClr val="028090"/>
          </a:solidFill>
          <a:ln w="12700">
            <a:solidFill>
              <a:srgbClr val="028090"/>
            </a:solidFill>
            <a:prstDash val="solid"/>
          </a:ln>
        </p:spPr>
        <p:txBody>
          <a:bodyPr/>
          <a:lstStyle/>
          <a:p>
            <a:endParaRPr lang="fr-FR"/>
          </a:p>
        </p:txBody>
      </p:sp>
      <p:sp>
        <p:nvSpPr>
          <p:cNvPr id="18" name="Text 15"/>
          <p:cNvSpPr/>
          <p:nvPr/>
        </p:nvSpPr>
        <p:spPr>
          <a:xfrm>
            <a:off x="512064" y="2157984"/>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bcrypt pour les mots de passe soignants</a:t>
            </a:r>
            <a:endParaRPr lang="en-US" sz="900" dirty="0"/>
          </a:p>
        </p:txBody>
      </p:sp>
      <p:sp>
        <p:nvSpPr>
          <p:cNvPr id="19" name="Shape 16"/>
          <p:cNvSpPr/>
          <p:nvPr/>
        </p:nvSpPr>
        <p:spPr>
          <a:xfrm>
            <a:off x="329184" y="2706624"/>
            <a:ext cx="91440" cy="91440"/>
          </a:xfrm>
          <a:prstGeom prst="rect">
            <a:avLst/>
          </a:prstGeom>
          <a:solidFill>
            <a:srgbClr val="028090"/>
          </a:solidFill>
          <a:ln w="12700">
            <a:solidFill>
              <a:srgbClr val="028090"/>
            </a:solidFill>
            <a:prstDash val="solid"/>
          </a:ln>
        </p:spPr>
        <p:txBody>
          <a:bodyPr/>
          <a:lstStyle/>
          <a:p>
            <a:endParaRPr lang="fr-FR"/>
          </a:p>
        </p:txBody>
      </p:sp>
      <p:sp>
        <p:nvSpPr>
          <p:cNvPr id="20" name="Text 17"/>
          <p:cNvSpPr/>
          <p:nvPr/>
        </p:nvSpPr>
        <p:spPr>
          <a:xfrm>
            <a:off x="512064" y="2633472"/>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MQTT allow_anonymous false + TLS 8883 en prod</a:t>
            </a:r>
            <a:endParaRPr lang="en-US" sz="900" dirty="0"/>
          </a:p>
        </p:txBody>
      </p:sp>
      <p:sp>
        <p:nvSpPr>
          <p:cNvPr id="21" name="Shape 18"/>
          <p:cNvSpPr/>
          <p:nvPr/>
        </p:nvSpPr>
        <p:spPr>
          <a:xfrm>
            <a:off x="329184" y="3182112"/>
            <a:ext cx="91440" cy="91440"/>
          </a:xfrm>
          <a:prstGeom prst="rect">
            <a:avLst/>
          </a:prstGeom>
          <a:solidFill>
            <a:srgbClr val="028090"/>
          </a:solidFill>
          <a:ln w="12700">
            <a:solidFill>
              <a:srgbClr val="028090"/>
            </a:solidFill>
            <a:prstDash val="solid"/>
          </a:ln>
        </p:spPr>
        <p:txBody>
          <a:bodyPr/>
          <a:lstStyle/>
          <a:p>
            <a:endParaRPr lang="fr-FR"/>
          </a:p>
        </p:txBody>
      </p:sp>
      <p:sp>
        <p:nvSpPr>
          <p:cNvPr id="22" name="Text 19"/>
          <p:cNvSpPr/>
          <p:nvPr/>
        </p:nvSpPr>
        <p:spPr>
          <a:xfrm>
            <a:off x="512064" y="3108960"/>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APIRouter par domaine (main.py ≈ 1044 lignes → objectif &lt; 300)</a:t>
            </a:r>
            <a:endParaRPr lang="en-US" sz="900" dirty="0"/>
          </a:p>
        </p:txBody>
      </p:sp>
      <p:sp>
        <p:nvSpPr>
          <p:cNvPr id="23" name="Shape 20"/>
          <p:cNvSpPr/>
          <p:nvPr/>
        </p:nvSpPr>
        <p:spPr>
          <a:xfrm>
            <a:off x="329184" y="3657600"/>
            <a:ext cx="91440" cy="91440"/>
          </a:xfrm>
          <a:prstGeom prst="rect">
            <a:avLst/>
          </a:prstGeom>
          <a:solidFill>
            <a:srgbClr val="028090"/>
          </a:solidFill>
          <a:ln w="12700">
            <a:solidFill>
              <a:srgbClr val="028090"/>
            </a:solidFill>
            <a:prstDash val="solid"/>
          </a:ln>
        </p:spPr>
        <p:txBody>
          <a:bodyPr/>
          <a:lstStyle/>
          <a:p>
            <a:endParaRPr lang="fr-FR"/>
          </a:p>
        </p:txBody>
      </p:sp>
      <p:sp>
        <p:nvSpPr>
          <p:cNvPr id="24" name="Text 21"/>
          <p:cNvSpPr/>
          <p:nvPr/>
        </p:nvSpPr>
        <p:spPr>
          <a:xfrm>
            <a:off x="512064" y="3584448"/>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Tests CI/CD automatisés</a:t>
            </a:r>
            <a:endParaRPr lang="en-US" sz="900" dirty="0"/>
          </a:p>
        </p:txBody>
      </p:sp>
      <p:sp>
        <p:nvSpPr>
          <p:cNvPr id="25" name="Shape 22"/>
          <p:cNvSpPr/>
          <p:nvPr/>
        </p:nvSpPr>
        <p:spPr>
          <a:xfrm>
            <a:off x="3154680" y="603504"/>
            <a:ext cx="2816352" cy="4315968"/>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26" name="Shape 23"/>
          <p:cNvSpPr/>
          <p:nvPr/>
        </p:nvSpPr>
        <p:spPr>
          <a:xfrm>
            <a:off x="3154680" y="603504"/>
            <a:ext cx="54864" cy="4315968"/>
          </a:xfrm>
          <a:prstGeom prst="rect">
            <a:avLst/>
          </a:prstGeom>
          <a:solidFill>
            <a:srgbClr val="6B48A8"/>
          </a:solidFill>
          <a:ln w="12700">
            <a:solidFill>
              <a:srgbClr val="6B48A8"/>
            </a:solidFill>
            <a:prstDash val="solid"/>
          </a:ln>
        </p:spPr>
        <p:txBody>
          <a:bodyPr/>
          <a:lstStyle/>
          <a:p>
            <a:endParaRPr lang="fr-FR"/>
          </a:p>
        </p:txBody>
      </p:sp>
      <p:sp>
        <p:nvSpPr>
          <p:cNvPr id="27" name="Shape 24"/>
          <p:cNvSpPr/>
          <p:nvPr/>
        </p:nvSpPr>
        <p:spPr>
          <a:xfrm>
            <a:off x="3218688" y="603504"/>
            <a:ext cx="2752344" cy="530352"/>
          </a:xfrm>
          <a:prstGeom prst="rect">
            <a:avLst/>
          </a:prstGeom>
          <a:solidFill>
            <a:srgbClr val="6B48A8"/>
          </a:solidFill>
          <a:ln w="12700">
            <a:solidFill>
              <a:srgbClr val="6B48A8"/>
            </a:solidFill>
            <a:prstDash val="solid"/>
          </a:ln>
        </p:spPr>
        <p:txBody>
          <a:bodyPr/>
          <a:lstStyle/>
          <a:p>
            <a:endParaRPr lang="fr-FR"/>
          </a:p>
        </p:txBody>
      </p:sp>
      <p:sp>
        <p:nvSpPr>
          <p:cNvPr id="28" name="Text 25"/>
          <p:cNvSpPr/>
          <p:nvPr/>
        </p:nvSpPr>
        <p:spPr>
          <a:xfrm>
            <a:off x="3282696" y="621792"/>
            <a:ext cx="261518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2 — Moyen terme</a:t>
            </a:r>
            <a:endParaRPr lang="en-US" sz="1100" dirty="0"/>
          </a:p>
        </p:txBody>
      </p:sp>
      <p:sp>
        <p:nvSpPr>
          <p:cNvPr id="29" name="Text 26"/>
          <p:cNvSpPr/>
          <p:nvPr/>
        </p:nvSpPr>
        <p:spPr>
          <a:xfrm>
            <a:off x="3282696" y="896112"/>
            <a:ext cx="2615184" cy="182880"/>
          </a:xfrm>
          <a:prstGeom prst="rect">
            <a:avLst/>
          </a:prstGeom>
          <a:noFill/>
          <a:ln/>
        </p:spPr>
        <p:txBody>
          <a:bodyPr wrap="square" lIns="0" tIns="0" rIns="0" bIns="0" rtlCol="0" anchor="ctr"/>
          <a:lstStyle/>
          <a:p>
            <a:pPr marL="0" indent="0">
              <a:buNone/>
            </a:pPr>
            <a:r>
              <a:rPr lang="en-US" sz="900" dirty="0">
                <a:solidFill>
                  <a:srgbClr val="D8EDF5"/>
                </a:solidFill>
                <a:latin typeface="Calibri" pitchFamily="34" charset="0"/>
                <a:ea typeface="Calibri" pitchFamily="34" charset="-122"/>
                <a:cs typeface="Calibri" pitchFamily="34" charset="-120"/>
              </a:rPr>
              <a:t>3 – 12 mois</a:t>
            </a:r>
            <a:endParaRPr lang="en-US" sz="900" dirty="0"/>
          </a:p>
        </p:txBody>
      </p:sp>
      <p:sp>
        <p:nvSpPr>
          <p:cNvPr id="30" name="Shape 27"/>
          <p:cNvSpPr/>
          <p:nvPr/>
        </p:nvSpPr>
        <p:spPr>
          <a:xfrm>
            <a:off x="3319272" y="1280160"/>
            <a:ext cx="91440" cy="91440"/>
          </a:xfrm>
          <a:prstGeom prst="rect">
            <a:avLst/>
          </a:prstGeom>
          <a:solidFill>
            <a:srgbClr val="6B48A8"/>
          </a:solidFill>
          <a:ln w="12700">
            <a:solidFill>
              <a:srgbClr val="6B48A8"/>
            </a:solidFill>
            <a:prstDash val="solid"/>
          </a:ln>
        </p:spPr>
        <p:txBody>
          <a:bodyPr/>
          <a:lstStyle/>
          <a:p>
            <a:endParaRPr lang="fr-FR"/>
          </a:p>
        </p:txBody>
      </p:sp>
      <p:sp>
        <p:nvSpPr>
          <p:cNvPr id="31" name="Text 28"/>
          <p:cNvSpPr/>
          <p:nvPr/>
        </p:nvSpPr>
        <p:spPr>
          <a:xfrm>
            <a:off x="3502152" y="1207008"/>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TriggerEvaluator : évaluation durée trigger_rules en temps réel</a:t>
            </a:r>
            <a:endParaRPr lang="en-US" sz="900" dirty="0"/>
          </a:p>
        </p:txBody>
      </p:sp>
      <p:sp>
        <p:nvSpPr>
          <p:cNvPr id="32" name="Shape 29"/>
          <p:cNvSpPr/>
          <p:nvPr/>
        </p:nvSpPr>
        <p:spPr>
          <a:xfrm>
            <a:off x="3319272" y="1755648"/>
            <a:ext cx="91440" cy="91440"/>
          </a:xfrm>
          <a:prstGeom prst="rect">
            <a:avLst/>
          </a:prstGeom>
          <a:solidFill>
            <a:srgbClr val="6B48A8"/>
          </a:solidFill>
          <a:ln w="12700">
            <a:solidFill>
              <a:srgbClr val="6B48A8"/>
            </a:solidFill>
            <a:prstDash val="solid"/>
          </a:ln>
        </p:spPr>
        <p:txBody>
          <a:bodyPr/>
          <a:lstStyle/>
          <a:p>
            <a:endParaRPr lang="fr-FR"/>
          </a:p>
        </p:txBody>
      </p:sp>
      <p:sp>
        <p:nvSpPr>
          <p:cNvPr id="33" name="Text 30"/>
          <p:cNvSpPr/>
          <p:nvPr/>
        </p:nvSpPr>
        <p:spPr>
          <a:xfrm>
            <a:off x="3502152" y="1682496"/>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Message famille automatique si scénario &gt; 60%</a:t>
            </a:r>
            <a:endParaRPr lang="en-US" sz="900" dirty="0"/>
          </a:p>
        </p:txBody>
      </p:sp>
      <p:sp>
        <p:nvSpPr>
          <p:cNvPr id="34" name="Shape 31"/>
          <p:cNvSpPr/>
          <p:nvPr/>
        </p:nvSpPr>
        <p:spPr>
          <a:xfrm>
            <a:off x="3319272" y="2231136"/>
            <a:ext cx="91440" cy="91440"/>
          </a:xfrm>
          <a:prstGeom prst="rect">
            <a:avLst/>
          </a:prstGeom>
          <a:solidFill>
            <a:srgbClr val="6B48A8"/>
          </a:solidFill>
          <a:ln w="12700">
            <a:solidFill>
              <a:srgbClr val="6B48A8"/>
            </a:solidFill>
            <a:prstDash val="solid"/>
          </a:ln>
        </p:spPr>
        <p:txBody>
          <a:bodyPr/>
          <a:lstStyle/>
          <a:p>
            <a:endParaRPr lang="fr-FR"/>
          </a:p>
        </p:txBody>
      </p:sp>
      <p:sp>
        <p:nvSpPr>
          <p:cNvPr id="35" name="Text 32"/>
          <p:cNvSpPr/>
          <p:nvPr/>
        </p:nvSpPr>
        <p:spPr>
          <a:xfrm>
            <a:off x="3502152" y="2157984"/>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Redis asyncio dans les handlers FastAPI</a:t>
            </a:r>
            <a:endParaRPr lang="en-US" sz="900" dirty="0"/>
          </a:p>
        </p:txBody>
      </p:sp>
      <p:sp>
        <p:nvSpPr>
          <p:cNvPr id="36" name="Shape 33"/>
          <p:cNvSpPr/>
          <p:nvPr/>
        </p:nvSpPr>
        <p:spPr>
          <a:xfrm>
            <a:off x="3319272" y="2706624"/>
            <a:ext cx="91440" cy="91440"/>
          </a:xfrm>
          <a:prstGeom prst="rect">
            <a:avLst/>
          </a:prstGeom>
          <a:solidFill>
            <a:srgbClr val="6B48A8"/>
          </a:solidFill>
          <a:ln w="12700">
            <a:solidFill>
              <a:srgbClr val="6B48A8"/>
            </a:solidFill>
            <a:prstDash val="solid"/>
          </a:ln>
        </p:spPr>
        <p:txBody>
          <a:bodyPr/>
          <a:lstStyle/>
          <a:p>
            <a:endParaRPr lang="fr-FR"/>
          </a:p>
        </p:txBody>
      </p:sp>
      <p:sp>
        <p:nvSpPr>
          <p:cNvPr id="37" name="Text 34"/>
          <p:cNvSpPr/>
          <p:nvPr/>
        </p:nvSpPr>
        <p:spPr>
          <a:xfrm>
            <a:off x="3502152" y="2633472"/>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Connexion capteurs IoT réels (BLE / Zigbee)</a:t>
            </a:r>
            <a:endParaRPr lang="en-US" sz="900" dirty="0"/>
          </a:p>
        </p:txBody>
      </p:sp>
      <p:sp>
        <p:nvSpPr>
          <p:cNvPr id="38" name="Shape 35"/>
          <p:cNvSpPr/>
          <p:nvPr/>
        </p:nvSpPr>
        <p:spPr>
          <a:xfrm>
            <a:off x="3319272" y="3182112"/>
            <a:ext cx="91440" cy="91440"/>
          </a:xfrm>
          <a:prstGeom prst="rect">
            <a:avLst/>
          </a:prstGeom>
          <a:solidFill>
            <a:srgbClr val="6B48A8"/>
          </a:solidFill>
          <a:ln w="12700">
            <a:solidFill>
              <a:srgbClr val="6B48A8"/>
            </a:solidFill>
            <a:prstDash val="solid"/>
          </a:ln>
        </p:spPr>
        <p:txBody>
          <a:bodyPr/>
          <a:lstStyle/>
          <a:p>
            <a:endParaRPr lang="fr-FR"/>
          </a:p>
        </p:txBody>
      </p:sp>
      <p:sp>
        <p:nvSpPr>
          <p:cNvPr id="39" name="Text 36"/>
          <p:cNvSpPr/>
          <p:nvPr/>
        </p:nvSpPr>
        <p:spPr>
          <a:xfrm>
            <a:off x="3502152" y="3108960"/>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Fine-tuning LLM sur données post-op réelles</a:t>
            </a:r>
            <a:endParaRPr lang="en-US" sz="900" dirty="0"/>
          </a:p>
        </p:txBody>
      </p:sp>
      <p:sp>
        <p:nvSpPr>
          <p:cNvPr id="40" name="Shape 37"/>
          <p:cNvSpPr/>
          <p:nvPr/>
        </p:nvSpPr>
        <p:spPr>
          <a:xfrm>
            <a:off x="3319272" y="3657600"/>
            <a:ext cx="91440" cy="91440"/>
          </a:xfrm>
          <a:prstGeom prst="rect">
            <a:avLst/>
          </a:prstGeom>
          <a:solidFill>
            <a:srgbClr val="6B48A8"/>
          </a:solidFill>
          <a:ln w="12700">
            <a:solidFill>
              <a:srgbClr val="6B48A8"/>
            </a:solidFill>
            <a:prstDash val="solid"/>
          </a:ln>
        </p:spPr>
        <p:txBody>
          <a:bodyPr/>
          <a:lstStyle/>
          <a:p>
            <a:endParaRPr lang="fr-FR"/>
          </a:p>
        </p:txBody>
      </p:sp>
      <p:sp>
        <p:nvSpPr>
          <p:cNvPr id="41" name="Text 38"/>
          <p:cNvSpPr/>
          <p:nvPr/>
        </p:nvSpPr>
        <p:spPr>
          <a:xfrm>
            <a:off x="3502152" y="3584448"/>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Conformité RGPD · pseudonymisation avancée</a:t>
            </a:r>
            <a:endParaRPr lang="en-US" sz="900" dirty="0"/>
          </a:p>
        </p:txBody>
      </p:sp>
      <p:sp>
        <p:nvSpPr>
          <p:cNvPr id="42" name="Shape 39"/>
          <p:cNvSpPr/>
          <p:nvPr/>
        </p:nvSpPr>
        <p:spPr>
          <a:xfrm>
            <a:off x="6144768" y="603504"/>
            <a:ext cx="2816352" cy="4315968"/>
          </a:xfrm>
          <a:prstGeom prst="rect">
            <a:avLst/>
          </a:prstGeom>
          <a:solidFill>
            <a:srgbClr val="FFFFFF"/>
          </a:solidFill>
          <a:ln w="6350">
            <a:solidFill>
              <a:srgbClr val="E2E8F0"/>
            </a:solidFill>
            <a:prstDash val="solid"/>
          </a:ln>
          <a:effectLst>
            <a:outerShdw blurRad="101600" dist="25400" dir="8100000" algn="bl" rotWithShape="0">
              <a:srgbClr val="000000">
                <a:alpha val="10000"/>
              </a:srgbClr>
            </a:outerShdw>
          </a:effectLst>
        </p:spPr>
        <p:txBody>
          <a:bodyPr/>
          <a:lstStyle/>
          <a:p>
            <a:endParaRPr lang="fr-FR"/>
          </a:p>
        </p:txBody>
      </p:sp>
      <p:sp>
        <p:nvSpPr>
          <p:cNvPr id="43" name="Shape 40"/>
          <p:cNvSpPr/>
          <p:nvPr/>
        </p:nvSpPr>
        <p:spPr>
          <a:xfrm>
            <a:off x="6144768" y="603504"/>
            <a:ext cx="54864" cy="4315968"/>
          </a:xfrm>
          <a:prstGeom prst="rect">
            <a:avLst/>
          </a:prstGeom>
          <a:solidFill>
            <a:srgbClr val="E07B39"/>
          </a:solidFill>
          <a:ln w="12700">
            <a:solidFill>
              <a:srgbClr val="E07B39"/>
            </a:solidFill>
            <a:prstDash val="solid"/>
          </a:ln>
        </p:spPr>
        <p:txBody>
          <a:bodyPr/>
          <a:lstStyle/>
          <a:p>
            <a:endParaRPr lang="fr-FR"/>
          </a:p>
        </p:txBody>
      </p:sp>
      <p:sp>
        <p:nvSpPr>
          <p:cNvPr id="44" name="Shape 41"/>
          <p:cNvSpPr/>
          <p:nvPr/>
        </p:nvSpPr>
        <p:spPr>
          <a:xfrm>
            <a:off x="6208776" y="603504"/>
            <a:ext cx="2752344" cy="530352"/>
          </a:xfrm>
          <a:prstGeom prst="rect">
            <a:avLst/>
          </a:prstGeom>
          <a:solidFill>
            <a:srgbClr val="E07B39"/>
          </a:solidFill>
          <a:ln w="12700">
            <a:solidFill>
              <a:srgbClr val="E07B39"/>
            </a:solidFill>
            <a:prstDash val="solid"/>
          </a:ln>
        </p:spPr>
        <p:txBody>
          <a:bodyPr/>
          <a:lstStyle/>
          <a:p>
            <a:endParaRPr lang="fr-FR"/>
          </a:p>
        </p:txBody>
      </p:sp>
      <p:sp>
        <p:nvSpPr>
          <p:cNvPr id="45" name="Text 42"/>
          <p:cNvSpPr/>
          <p:nvPr/>
        </p:nvSpPr>
        <p:spPr>
          <a:xfrm>
            <a:off x="6272784" y="621792"/>
            <a:ext cx="261518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3 — Long terme</a:t>
            </a:r>
            <a:endParaRPr lang="en-US" sz="1100" dirty="0"/>
          </a:p>
        </p:txBody>
      </p:sp>
      <p:sp>
        <p:nvSpPr>
          <p:cNvPr id="46" name="Text 43"/>
          <p:cNvSpPr/>
          <p:nvPr/>
        </p:nvSpPr>
        <p:spPr>
          <a:xfrm>
            <a:off x="6272784" y="896112"/>
            <a:ext cx="2615184" cy="182880"/>
          </a:xfrm>
          <a:prstGeom prst="rect">
            <a:avLst/>
          </a:prstGeom>
          <a:noFill/>
          <a:ln/>
        </p:spPr>
        <p:txBody>
          <a:bodyPr wrap="square" lIns="0" tIns="0" rIns="0" bIns="0" rtlCol="0" anchor="ctr"/>
          <a:lstStyle/>
          <a:p>
            <a:pPr marL="0" indent="0">
              <a:buNone/>
            </a:pPr>
            <a:r>
              <a:rPr lang="en-US" sz="900" dirty="0">
                <a:solidFill>
                  <a:srgbClr val="D8EDF5"/>
                </a:solidFill>
                <a:latin typeface="Calibri" pitchFamily="34" charset="0"/>
                <a:ea typeface="Calibri" pitchFamily="34" charset="-122"/>
                <a:cs typeface="Calibri" pitchFamily="34" charset="-120"/>
              </a:rPr>
              <a:t>12 mois +</a:t>
            </a:r>
            <a:endParaRPr lang="en-US" sz="900" dirty="0"/>
          </a:p>
        </p:txBody>
      </p:sp>
      <p:sp>
        <p:nvSpPr>
          <p:cNvPr id="47" name="Shape 44"/>
          <p:cNvSpPr/>
          <p:nvPr/>
        </p:nvSpPr>
        <p:spPr>
          <a:xfrm>
            <a:off x="6309360" y="1280160"/>
            <a:ext cx="91440" cy="91440"/>
          </a:xfrm>
          <a:prstGeom prst="rect">
            <a:avLst/>
          </a:prstGeom>
          <a:solidFill>
            <a:srgbClr val="E07B39"/>
          </a:solidFill>
          <a:ln w="12700">
            <a:solidFill>
              <a:srgbClr val="E07B39"/>
            </a:solidFill>
            <a:prstDash val="solid"/>
          </a:ln>
        </p:spPr>
        <p:txBody>
          <a:bodyPr/>
          <a:lstStyle/>
          <a:p>
            <a:endParaRPr lang="fr-FR"/>
          </a:p>
        </p:txBody>
      </p:sp>
      <p:sp>
        <p:nvSpPr>
          <p:cNvPr id="48" name="Text 45"/>
          <p:cNvSpPr/>
          <p:nvPr/>
        </p:nvSpPr>
        <p:spPr>
          <a:xfrm>
            <a:off x="6492240" y="1207008"/>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Certification dispositif médical (CE / FDA)</a:t>
            </a:r>
            <a:endParaRPr lang="en-US" sz="900" dirty="0"/>
          </a:p>
        </p:txBody>
      </p:sp>
      <p:sp>
        <p:nvSpPr>
          <p:cNvPr id="49" name="Shape 46"/>
          <p:cNvSpPr/>
          <p:nvPr/>
        </p:nvSpPr>
        <p:spPr>
          <a:xfrm>
            <a:off x="6309360" y="1755648"/>
            <a:ext cx="91440" cy="91440"/>
          </a:xfrm>
          <a:prstGeom prst="rect">
            <a:avLst/>
          </a:prstGeom>
          <a:solidFill>
            <a:srgbClr val="E07B39"/>
          </a:solidFill>
          <a:ln w="12700">
            <a:solidFill>
              <a:srgbClr val="E07B39"/>
            </a:solidFill>
            <a:prstDash val="solid"/>
          </a:ln>
        </p:spPr>
        <p:txBody>
          <a:bodyPr/>
          <a:lstStyle/>
          <a:p>
            <a:endParaRPr lang="fr-FR"/>
          </a:p>
        </p:txBody>
      </p:sp>
      <p:sp>
        <p:nvSpPr>
          <p:cNvPr id="50" name="Text 47"/>
          <p:cNvSpPr/>
          <p:nvPr/>
        </p:nvSpPr>
        <p:spPr>
          <a:xfrm>
            <a:off x="6492240" y="1682496"/>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Intégration DMP / HL7 FHIR</a:t>
            </a:r>
            <a:endParaRPr lang="en-US" sz="900" dirty="0"/>
          </a:p>
        </p:txBody>
      </p:sp>
      <p:sp>
        <p:nvSpPr>
          <p:cNvPr id="51" name="Shape 48"/>
          <p:cNvSpPr/>
          <p:nvPr/>
        </p:nvSpPr>
        <p:spPr>
          <a:xfrm>
            <a:off x="6309360" y="2231136"/>
            <a:ext cx="91440" cy="91440"/>
          </a:xfrm>
          <a:prstGeom prst="rect">
            <a:avLst/>
          </a:prstGeom>
          <a:solidFill>
            <a:srgbClr val="E07B39"/>
          </a:solidFill>
          <a:ln w="12700">
            <a:solidFill>
              <a:srgbClr val="E07B39"/>
            </a:solidFill>
            <a:prstDash val="solid"/>
          </a:ln>
        </p:spPr>
        <p:txBody>
          <a:bodyPr/>
          <a:lstStyle/>
          <a:p>
            <a:endParaRPr lang="fr-FR"/>
          </a:p>
        </p:txBody>
      </p:sp>
      <p:sp>
        <p:nvSpPr>
          <p:cNvPr id="52" name="Text 49"/>
          <p:cNvSpPr/>
          <p:nvPr/>
        </p:nvSpPr>
        <p:spPr>
          <a:xfrm>
            <a:off x="6492240" y="2157984"/>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IA prédictive : risque réhospitalisation J30</a:t>
            </a:r>
            <a:endParaRPr lang="en-US" sz="900" dirty="0"/>
          </a:p>
        </p:txBody>
      </p:sp>
      <p:sp>
        <p:nvSpPr>
          <p:cNvPr id="53" name="Shape 50"/>
          <p:cNvSpPr/>
          <p:nvPr/>
        </p:nvSpPr>
        <p:spPr>
          <a:xfrm>
            <a:off x="6309360" y="2706624"/>
            <a:ext cx="91440" cy="91440"/>
          </a:xfrm>
          <a:prstGeom prst="rect">
            <a:avLst/>
          </a:prstGeom>
          <a:solidFill>
            <a:srgbClr val="E07B39"/>
          </a:solidFill>
          <a:ln w="12700">
            <a:solidFill>
              <a:srgbClr val="E07B39"/>
            </a:solidFill>
            <a:prstDash val="solid"/>
          </a:ln>
        </p:spPr>
        <p:txBody>
          <a:bodyPr/>
          <a:lstStyle/>
          <a:p>
            <a:endParaRPr lang="fr-FR"/>
          </a:p>
        </p:txBody>
      </p:sp>
      <p:sp>
        <p:nvSpPr>
          <p:cNvPr id="54" name="Text 51"/>
          <p:cNvSpPr/>
          <p:nvPr/>
        </p:nvSpPr>
        <p:spPr>
          <a:xfrm>
            <a:off x="6492240" y="2633472"/>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Kubernetes pour haute disponibilité</a:t>
            </a:r>
            <a:endParaRPr lang="en-US" sz="900" dirty="0"/>
          </a:p>
        </p:txBody>
      </p:sp>
      <p:sp>
        <p:nvSpPr>
          <p:cNvPr id="55" name="Shape 52"/>
          <p:cNvSpPr/>
          <p:nvPr/>
        </p:nvSpPr>
        <p:spPr>
          <a:xfrm>
            <a:off x="6309360" y="3182112"/>
            <a:ext cx="91440" cy="91440"/>
          </a:xfrm>
          <a:prstGeom prst="rect">
            <a:avLst/>
          </a:prstGeom>
          <a:solidFill>
            <a:srgbClr val="E07B39"/>
          </a:solidFill>
          <a:ln w="12700">
            <a:solidFill>
              <a:srgbClr val="E07B39"/>
            </a:solidFill>
            <a:prstDash val="solid"/>
          </a:ln>
        </p:spPr>
        <p:txBody>
          <a:bodyPr/>
          <a:lstStyle/>
          <a:p>
            <a:endParaRPr lang="fr-FR"/>
          </a:p>
        </p:txBody>
      </p:sp>
      <p:sp>
        <p:nvSpPr>
          <p:cNvPr id="56" name="Text 53"/>
          <p:cNvSpPr/>
          <p:nvPr/>
        </p:nvSpPr>
        <p:spPr>
          <a:xfrm>
            <a:off x="6492240" y="3108960"/>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Téléconsultation intégrée au dashboard</a:t>
            </a:r>
            <a:endParaRPr lang="en-US" sz="900" dirty="0"/>
          </a:p>
        </p:txBody>
      </p:sp>
      <p:sp>
        <p:nvSpPr>
          <p:cNvPr id="57" name="Shape 54"/>
          <p:cNvSpPr/>
          <p:nvPr/>
        </p:nvSpPr>
        <p:spPr>
          <a:xfrm>
            <a:off x="6309360" y="3657600"/>
            <a:ext cx="91440" cy="91440"/>
          </a:xfrm>
          <a:prstGeom prst="rect">
            <a:avLst/>
          </a:prstGeom>
          <a:solidFill>
            <a:srgbClr val="E07B39"/>
          </a:solidFill>
          <a:ln w="12700">
            <a:solidFill>
              <a:srgbClr val="E07B39"/>
            </a:solidFill>
            <a:prstDash val="solid"/>
          </a:ln>
        </p:spPr>
        <p:txBody>
          <a:bodyPr/>
          <a:lstStyle/>
          <a:p>
            <a:endParaRPr lang="fr-FR"/>
          </a:p>
        </p:txBody>
      </p:sp>
      <p:sp>
        <p:nvSpPr>
          <p:cNvPr id="58" name="Text 55"/>
          <p:cNvSpPr/>
          <p:nvPr/>
        </p:nvSpPr>
        <p:spPr>
          <a:xfrm>
            <a:off x="6492240" y="3584448"/>
            <a:ext cx="2340864" cy="4206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App mobile PWA dédiée soignant + patient</a:t>
            </a:r>
            <a:endParaRPr lang="en-US" sz="900" dirty="0"/>
          </a:p>
        </p:txBody>
      </p:sp>
      <p:sp>
        <p:nvSpPr>
          <p:cNvPr id="59" name="Shape 56"/>
          <p:cNvSpPr/>
          <p:nvPr/>
        </p:nvSpPr>
        <p:spPr>
          <a:xfrm>
            <a:off x="0" y="4919472"/>
            <a:ext cx="9144000" cy="219456"/>
          </a:xfrm>
          <a:prstGeom prst="rect">
            <a:avLst/>
          </a:prstGeom>
          <a:solidFill>
            <a:srgbClr val="E2E8F0"/>
          </a:solidFill>
          <a:ln w="12700">
            <a:solidFill>
              <a:srgbClr val="E2E8F0"/>
            </a:solidFill>
            <a:prstDash val="solid"/>
          </a:ln>
        </p:spPr>
        <p:txBody>
          <a:bodyPr/>
          <a:lstStyle/>
          <a:p>
            <a:endParaRPr lang="fr-FR"/>
          </a:p>
        </p:txBody>
      </p:sp>
      <p:sp>
        <p:nvSpPr>
          <p:cNvPr id="60" name="Text 57"/>
          <p:cNvSpPr/>
          <p:nvPr/>
        </p:nvSpPr>
        <p:spPr>
          <a:xfrm>
            <a:off x="274320" y="4919472"/>
            <a:ext cx="8595360" cy="219456"/>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Chaque évolution suit la même architecture Docker — extensible sans refonte de la stack</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840480"/>
            <a:ext cx="9144000" cy="822960"/>
          </a:xfrm>
          <a:prstGeom prst="rect">
            <a:avLst/>
          </a:prstGeom>
        </p:spPr>
      </p:pic>
      <p:sp>
        <p:nvSpPr>
          <p:cNvPr id="3" name="Text 0"/>
          <p:cNvSpPr/>
          <p:nvPr/>
        </p:nvSpPr>
        <p:spPr>
          <a:xfrm>
            <a:off x="3200400" y="256032"/>
            <a:ext cx="2743200" cy="292608"/>
          </a:xfrm>
          <a:prstGeom prst="rect">
            <a:avLst/>
          </a:prstGeom>
          <a:noFill/>
          <a:ln/>
        </p:spPr>
        <p:txBody>
          <a:bodyPr wrap="square" lIns="0" tIns="0" rIns="0" bIns="0" rtlCol="0" anchor="ctr"/>
          <a:lstStyle/>
          <a:p>
            <a:pPr marL="0" indent="0" algn="ctr">
              <a:buNone/>
            </a:pPr>
            <a:r>
              <a:rPr lang="en-US" sz="1100" b="1" kern="0" spc="400" dirty="0">
                <a:solidFill>
                  <a:srgbClr val="00A896"/>
                </a:solidFill>
                <a:latin typeface="Calibri" pitchFamily="34" charset="0"/>
                <a:ea typeface="Calibri" pitchFamily="34" charset="-122"/>
                <a:cs typeface="Calibri" pitchFamily="34" charset="-120"/>
              </a:rPr>
              <a:t>EN RÉSUMÉ</a:t>
            </a:r>
            <a:endParaRPr lang="en-US" sz="1100" dirty="0"/>
          </a:p>
        </p:txBody>
      </p:sp>
      <p:sp>
        <p:nvSpPr>
          <p:cNvPr id="4" name="Text 1"/>
          <p:cNvSpPr/>
          <p:nvPr/>
        </p:nvSpPr>
        <p:spPr>
          <a:xfrm>
            <a:off x="1371600" y="621792"/>
            <a:ext cx="6400800" cy="8229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Un système complet,
prêt pour la démo.</a:t>
            </a:r>
            <a:endParaRPr lang="en-US" sz="2600" dirty="0"/>
          </a:p>
        </p:txBody>
      </p:sp>
      <p:sp>
        <p:nvSpPr>
          <p:cNvPr id="5" name="Shape 2"/>
          <p:cNvSpPr/>
          <p:nvPr/>
        </p:nvSpPr>
        <p:spPr>
          <a:xfrm>
            <a:off x="274320" y="1664208"/>
            <a:ext cx="4023360" cy="475488"/>
          </a:xfrm>
          <a:prstGeom prst="rect">
            <a:avLst/>
          </a:prstGeom>
          <a:solidFill>
            <a:srgbClr val="FFFFFF">
              <a:alpha val="8000"/>
            </a:srgbClr>
          </a:solidFill>
          <a:ln w="6350">
            <a:solidFill>
              <a:srgbClr val="028090"/>
            </a:solidFill>
            <a:prstDash val="solid"/>
          </a:ln>
        </p:spPr>
        <p:txBody>
          <a:bodyPr/>
          <a:lstStyle/>
          <a:p>
            <a:endParaRPr lang="fr-FR"/>
          </a:p>
        </p:txBody>
      </p:sp>
      <p:sp>
        <p:nvSpPr>
          <p:cNvPr id="6" name="Text 3"/>
          <p:cNvSpPr/>
          <p:nvPr/>
        </p:nvSpPr>
        <p:spPr>
          <a:xfrm>
            <a:off x="384048" y="1719072"/>
            <a:ext cx="3803904" cy="201168"/>
          </a:xfrm>
          <a:prstGeom prst="rect">
            <a:avLst/>
          </a:prstGeom>
          <a:noFill/>
          <a:ln/>
        </p:spPr>
        <p:txBody>
          <a:bodyPr wrap="square" lIns="0" tIns="0" rIns="0" bIns="0" rtlCol="0" anchor="ctr"/>
          <a:lstStyle/>
          <a:p>
            <a:pPr marL="0" indent="0">
              <a:buNone/>
            </a:pPr>
            <a:r>
              <a:rPr lang="en-US" sz="1050" b="1" dirty="0">
                <a:solidFill>
                  <a:srgbClr val="00A896"/>
                </a:solidFill>
                <a:latin typeface="Calibri" pitchFamily="34" charset="0"/>
                <a:ea typeface="Calibri" pitchFamily="34" charset="-122"/>
                <a:cs typeface="Calibri" pitchFamily="34" charset="-120"/>
              </a:rPr>
              <a:t>Stack full-Docker</a:t>
            </a:r>
            <a:endParaRPr lang="en-US" sz="1050" dirty="0"/>
          </a:p>
        </p:txBody>
      </p:sp>
      <p:sp>
        <p:nvSpPr>
          <p:cNvPr id="7" name="Text 4"/>
          <p:cNvSpPr/>
          <p:nvPr/>
        </p:nvSpPr>
        <p:spPr>
          <a:xfrm>
            <a:off x="384048" y="1920240"/>
            <a:ext cx="3803904" cy="182880"/>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7 services Compose + Ollama optionnel · lancement simple</a:t>
            </a:r>
            <a:endParaRPr lang="en-US" sz="900" dirty="0"/>
          </a:p>
        </p:txBody>
      </p:sp>
      <p:sp>
        <p:nvSpPr>
          <p:cNvPr id="8" name="Shape 5"/>
          <p:cNvSpPr/>
          <p:nvPr/>
        </p:nvSpPr>
        <p:spPr>
          <a:xfrm>
            <a:off x="4645152" y="1664208"/>
            <a:ext cx="4023360" cy="475488"/>
          </a:xfrm>
          <a:prstGeom prst="rect">
            <a:avLst/>
          </a:prstGeom>
          <a:solidFill>
            <a:srgbClr val="FFFFFF">
              <a:alpha val="8000"/>
            </a:srgbClr>
          </a:solidFill>
          <a:ln w="6350">
            <a:solidFill>
              <a:srgbClr val="028090"/>
            </a:solidFill>
            <a:prstDash val="solid"/>
          </a:ln>
        </p:spPr>
        <p:txBody>
          <a:bodyPr/>
          <a:lstStyle/>
          <a:p>
            <a:endParaRPr lang="fr-FR"/>
          </a:p>
        </p:txBody>
      </p:sp>
      <p:sp>
        <p:nvSpPr>
          <p:cNvPr id="9" name="Text 6"/>
          <p:cNvSpPr/>
          <p:nvPr/>
        </p:nvSpPr>
        <p:spPr>
          <a:xfrm>
            <a:off x="4754880" y="1719072"/>
            <a:ext cx="3803904" cy="201168"/>
          </a:xfrm>
          <a:prstGeom prst="rect">
            <a:avLst/>
          </a:prstGeom>
          <a:noFill/>
          <a:ln/>
        </p:spPr>
        <p:txBody>
          <a:bodyPr wrap="square" lIns="0" tIns="0" rIns="0" bIns="0" rtlCol="0" anchor="ctr"/>
          <a:lstStyle/>
          <a:p>
            <a:pPr marL="0" indent="0">
              <a:buNone/>
            </a:pPr>
            <a:r>
              <a:rPr lang="en-US" sz="1050" b="1" dirty="0">
                <a:solidFill>
                  <a:srgbClr val="00A896"/>
                </a:solidFill>
                <a:latin typeface="Calibri" pitchFamily="34" charset="0"/>
                <a:ea typeface="Calibri" pitchFamily="34" charset="-122"/>
                <a:cs typeface="Calibri" pitchFamily="34" charset="-120"/>
              </a:rPr>
              <a:t>25 résidents simulés</a:t>
            </a:r>
            <a:endParaRPr lang="en-US" sz="1050" dirty="0"/>
          </a:p>
        </p:txBody>
      </p:sp>
      <p:sp>
        <p:nvSpPr>
          <p:cNvPr id="10" name="Text 7"/>
          <p:cNvSpPr/>
          <p:nvPr/>
        </p:nvSpPr>
        <p:spPr>
          <a:xfrm>
            <a:off x="4754880" y="1920240"/>
            <a:ext cx="3803904" cy="182880"/>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6 constantes · 15 scénarios KB · temps réel</a:t>
            </a:r>
            <a:endParaRPr lang="en-US" sz="900" dirty="0"/>
          </a:p>
        </p:txBody>
      </p:sp>
      <p:sp>
        <p:nvSpPr>
          <p:cNvPr id="11" name="Shape 8"/>
          <p:cNvSpPr/>
          <p:nvPr/>
        </p:nvSpPr>
        <p:spPr>
          <a:xfrm>
            <a:off x="274320" y="2258568"/>
            <a:ext cx="4023360" cy="475488"/>
          </a:xfrm>
          <a:prstGeom prst="rect">
            <a:avLst/>
          </a:prstGeom>
          <a:solidFill>
            <a:srgbClr val="FFFFFF">
              <a:alpha val="8000"/>
            </a:srgbClr>
          </a:solidFill>
          <a:ln w="6350">
            <a:solidFill>
              <a:srgbClr val="028090"/>
            </a:solidFill>
            <a:prstDash val="solid"/>
          </a:ln>
        </p:spPr>
        <p:txBody>
          <a:bodyPr/>
          <a:lstStyle/>
          <a:p>
            <a:endParaRPr lang="fr-FR"/>
          </a:p>
        </p:txBody>
      </p:sp>
      <p:sp>
        <p:nvSpPr>
          <p:cNvPr id="12" name="Text 9"/>
          <p:cNvSpPr/>
          <p:nvPr/>
        </p:nvSpPr>
        <p:spPr>
          <a:xfrm>
            <a:off x="384048" y="2313432"/>
            <a:ext cx="3803904" cy="201168"/>
          </a:xfrm>
          <a:prstGeom prst="rect">
            <a:avLst/>
          </a:prstGeom>
          <a:noFill/>
          <a:ln/>
        </p:spPr>
        <p:txBody>
          <a:bodyPr wrap="square" lIns="0" tIns="0" rIns="0" bIns="0" rtlCol="0" anchor="ctr"/>
          <a:lstStyle/>
          <a:p>
            <a:pPr marL="0" indent="0">
              <a:buNone/>
            </a:pPr>
            <a:r>
              <a:rPr lang="en-US" sz="1050" b="1" dirty="0">
                <a:solidFill>
                  <a:srgbClr val="00A896"/>
                </a:solidFill>
                <a:latin typeface="Calibri" pitchFamily="34" charset="0"/>
                <a:ea typeface="Calibri" pitchFamily="34" charset="-122"/>
                <a:cs typeface="Calibri" pitchFamily="34" charset="-120"/>
              </a:rPr>
              <a:t>7 agents A2A</a:t>
            </a:r>
            <a:endParaRPr lang="en-US" sz="1050" dirty="0"/>
          </a:p>
        </p:txBody>
      </p:sp>
      <p:sp>
        <p:nvSpPr>
          <p:cNvPr id="13" name="Text 10"/>
          <p:cNvSpPr/>
          <p:nvPr/>
        </p:nvSpPr>
        <p:spPr>
          <a:xfrm>
            <a:off x="384048" y="2514600"/>
            <a:ext cx="3803904" cy="182880"/>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Pipeline clinique · KB HAS/RCP · NEWS2</a:t>
            </a:r>
            <a:endParaRPr lang="en-US" sz="900" dirty="0"/>
          </a:p>
        </p:txBody>
      </p:sp>
      <p:sp>
        <p:nvSpPr>
          <p:cNvPr id="14" name="Shape 11"/>
          <p:cNvSpPr/>
          <p:nvPr/>
        </p:nvSpPr>
        <p:spPr>
          <a:xfrm>
            <a:off x="4645152" y="2258568"/>
            <a:ext cx="4023360" cy="475488"/>
          </a:xfrm>
          <a:prstGeom prst="rect">
            <a:avLst/>
          </a:prstGeom>
          <a:solidFill>
            <a:srgbClr val="FFFFFF">
              <a:alpha val="8000"/>
            </a:srgbClr>
          </a:solidFill>
          <a:ln w="6350">
            <a:solidFill>
              <a:srgbClr val="028090"/>
            </a:solidFill>
            <a:prstDash val="solid"/>
          </a:ln>
        </p:spPr>
        <p:txBody>
          <a:bodyPr/>
          <a:lstStyle/>
          <a:p>
            <a:endParaRPr lang="fr-FR"/>
          </a:p>
        </p:txBody>
      </p:sp>
      <p:sp>
        <p:nvSpPr>
          <p:cNvPr id="15" name="Text 12"/>
          <p:cNvSpPr/>
          <p:nvPr/>
        </p:nvSpPr>
        <p:spPr>
          <a:xfrm>
            <a:off x="4754880" y="2313432"/>
            <a:ext cx="3803904" cy="201168"/>
          </a:xfrm>
          <a:prstGeom prst="rect">
            <a:avLst/>
          </a:prstGeom>
          <a:noFill/>
          <a:ln/>
        </p:spPr>
        <p:txBody>
          <a:bodyPr wrap="square" lIns="0" tIns="0" rIns="0" bIns="0" rtlCol="0" anchor="ctr"/>
          <a:lstStyle/>
          <a:p>
            <a:pPr marL="0" indent="0">
              <a:buNone/>
            </a:pPr>
            <a:r>
              <a:rPr lang="en-US" sz="1050" b="1" dirty="0">
                <a:solidFill>
                  <a:srgbClr val="00A896"/>
                </a:solidFill>
                <a:latin typeface="Calibri" pitchFamily="34" charset="0"/>
                <a:ea typeface="Calibri" pitchFamily="34" charset="-122"/>
                <a:cs typeface="Calibri" pitchFamily="34" charset="-120"/>
              </a:rPr>
              <a:t>LLM optionnel</a:t>
            </a:r>
            <a:endParaRPr lang="en-US" sz="1050" dirty="0"/>
          </a:p>
        </p:txBody>
      </p:sp>
      <p:sp>
        <p:nvSpPr>
          <p:cNvPr id="16" name="Text 13"/>
          <p:cNvSpPr/>
          <p:nvPr/>
        </p:nvSpPr>
        <p:spPr>
          <a:xfrm>
            <a:off x="4754880" y="2514600"/>
            <a:ext cx="3803904" cy="182880"/>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Ollama local — résumé, JSON, rapport quotidien</a:t>
            </a:r>
            <a:endParaRPr lang="en-US" sz="900" dirty="0"/>
          </a:p>
        </p:txBody>
      </p:sp>
      <p:sp>
        <p:nvSpPr>
          <p:cNvPr id="17" name="Shape 14"/>
          <p:cNvSpPr/>
          <p:nvPr/>
        </p:nvSpPr>
        <p:spPr>
          <a:xfrm>
            <a:off x="2468880" y="2889504"/>
            <a:ext cx="4206240" cy="475488"/>
          </a:xfrm>
          <a:prstGeom prst="rect">
            <a:avLst/>
          </a:prstGeom>
          <a:solidFill>
            <a:srgbClr val="FFFFFF">
              <a:alpha val="8000"/>
            </a:srgbClr>
          </a:solidFill>
          <a:ln w="6350">
            <a:solidFill>
              <a:srgbClr val="028090"/>
            </a:solidFill>
            <a:prstDash val="solid"/>
          </a:ln>
        </p:spPr>
        <p:txBody>
          <a:bodyPr/>
          <a:lstStyle/>
          <a:p>
            <a:endParaRPr lang="fr-FR"/>
          </a:p>
        </p:txBody>
      </p:sp>
      <p:sp>
        <p:nvSpPr>
          <p:cNvPr id="18" name="Text 15"/>
          <p:cNvSpPr/>
          <p:nvPr/>
        </p:nvSpPr>
        <p:spPr>
          <a:xfrm>
            <a:off x="2578608" y="2944368"/>
            <a:ext cx="3986784" cy="201168"/>
          </a:xfrm>
          <a:prstGeom prst="rect">
            <a:avLst/>
          </a:prstGeom>
          <a:noFill/>
          <a:ln/>
        </p:spPr>
        <p:txBody>
          <a:bodyPr wrap="square" lIns="0" tIns="0" rIns="0" bIns="0" rtlCol="0" anchor="ctr"/>
          <a:lstStyle/>
          <a:p>
            <a:pPr marL="0" indent="0">
              <a:buNone/>
            </a:pPr>
            <a:r>
              <a:rPr lang="en-US" sz="1050" b="1" dirty="0">
                <a:solidFill>
                  <a:srgbClr val="00A896"/>
                </a:solidFill>
                <a:latin typeface="Calibri" pitchFamily="34" charset="0"/>
                <a:ea typeface="Calibri" pitchFamily="34" charset="-122"/>
                <a:cs typeface="Calibri" pitchFamily="34" charset="-120"/>
              </a:rPr>
              <a:t>Sécurité défense</a:t>
            </a:r>
            <a:endParaRPr lang="en-US" sz="1050" dirty="0"/>
          </a:p>
        </p:txBody>
      </p:sp>
      <p:sp>
        <p:nvSpPr>
          <p:cNvPr id="19" name="Text 16"/>
          <p:cNvSpPr/>
          <p:nvPr/>
        </p:nvSpPr>
        <p:spPr>
          <a:xfrm>
            <a:off x="2578608" y="3145536"/>
            <a:ext cx="3986784" cy="182880"/>
          </a:xfrm>
          <a:prstGeom prst="rect">
            <a:avLst/>
          </a:prstGeom>
          <a:noFill/>
          <a:ln/>
        </p:spPr>
        <p:txBody>
          <a:bodyPr wrap="square" lIns="0" tIns="0" rIns="0" bIns="0" rtlCol="0" anchor="ctr"/>
          <a:lstStyle/>
          <a:p>
            <a:pPr marL="0" indent="0">
              <a:buNone/>
            </a:pPr>
            <a:r>
              <a:rPr lang="en-US" sz="900" dirty="0">
                <a:solidFill>
                  <a:srgbClr val="A8CADC"/>
                </a:solidFill>
                <a:latin typeface="Calibri" pitchFamily="34" charset="0"/>
                <a:ea typeface="Calibri" pitchFamily="34" charset="-122"/>
                <a:cs typeface="Calibri" pitchFamily="34" charset="-120"/>
              </a:rPr>
              <a:t>MQTT auth · ACL · ports restreints · Redis lock</a:t>
            </a:r>
            <a:endParaRPr lang="en-US" sz="900" dirty="0"/>
          </a:p>
        </p:txBody>
      </p:sp>
      <p:sp>
        <p:nvSpPr>
          <p:cNvPr id="20" name="Shape 17"/>
          <p:cNvSpPr/>
          <p:nvPr/>
        </p:nvSpPr>
        <p:spPr>
          <a:xfrm>
            <a:off x="914400" y="3493008"/>
            <a:ext cx="1463040" cy="603504"/>
          </a:xfrm>
          <a:prstGeom prst="rect">
            <a:avLst/>
          </a:prstGeom>
          <a:solidFill>
            <a:srgbClr val="FFFFFF">
              <a:alpha val="8000"/>
            </a:srgbClr>
          </a:solidFill>
          <a:ln w="6350">
            <a:solidFill>
              <a:srgbClr val="028090"/>
            </a:solidFill>
            <a:prstDash val="solid"/>
          </a:ln>
        </p:spPr>
        <p:txBody>
          <a:bodyPr/>
          <a:lstStyle/>
          <a:p>
            <a:endParaRPr lang="fr-FR"/>
          </a:p>
        </p:txBody>
      </p:sp>
      <p:sp>
        <p:nvSpPr>
          <p:cNvPr id="21" name="Text 18"/>
          <p:cNvSpPr/>
          <p:nvPr/>
        </p:nvSpPr>
        <p:spPr>
          <a:xfrm>
            <a:off x="914400" y="3511296"/>
            <a:ext cx="1463040" cy="310896"/>
          </a:xfrm>
          <a:prstGeom prst="rect">
            <a:avLst/>
          </a:prstGeom>
          <a:noFill/>
          <a:ln/>
        </p:spPr>
        <p:txBody>
          <a:bodyPr wrap="square" lIns="0" tIns="0" rIns="0" bIns="0"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25</a:t>
            </a:r>
            <a:endParaRPr lang="en-US" sz="2200" dirty="0"/>
          </a:p>
        </p:txBody>
      </p:sp>
      <p:sp>
        <p:nvSpPr>
          <p:cNvPr id="22" name="Text 19"/>
          <p:cNvSpPr/>
          <p:nvPr/>
        </p:nvSpPr>
        <p:spPr>
          <a:xfrm>
            <a:off x="914400" y="3803904"/>
            <a:ext cx="1463040" cy="219456"/>
          </a:xfrm>
          <a:prstGeom prst="rect">
            <a:avLst/>
          </a:prstGeom>
          <a:noFill/>
          <a:ln/>
        </p:spPr>
        <p:txBody>
          <a:bodyPr wrap="square" lIns="0" tIns="0" rIns="0" bIns="0" rtlCol="0" anchor="ctr"/>
          <a:lstStyle/>
          <a:p>
            <a:pPr marL="0" indent="0" algn="ctr">
              <a:buNone/>
            </a:pPr>
            <a:r>
              <a:rPr lang="en-US" sz="850" dirty="0">
                <a:solidFill>
                  <a:srgbClr val="A8CADC"/>
                </a:solidFill>
                <a:latin typeface="Calibri" pitchFamily="34" charset="0"/>
                <a:ea typeface="Calibri" pitchFamily="34" charset="-122"/>
                <a:cs typeface="Calibri" pitchFamily="34" charset="-120"/>
              </a:rPr>
              <a:t>Résidents</a:t>
            </a:r>
            <a:endParaRPr lang="en-US" sz="850" dirty="0"/>
          </a:p>
        </p:txBody>
      </p:sp>
      <p:sp>
        <p:nvSpPr>
          <p:cNvPr id="23" name="Shape 20"/>
          <p:cNvSpPr/>
          <p:nvPr/>
        </p:nvSpPr>
        <p:spPr>
          <a:xfrm>
            <a:off x="2743200" y="3493008"/>
            <a:ext cx="1463040" cy="603504"/>
          </a:xfrm>
          <a:prstGeom prst="rect">
            <a:avLst/>
          </a:prstGeom>
          <a:solidFill>
            <a:srgbClr val="FFFFFF">
              <a:alpha val="8000"/>
            </a:srgbClr>
          </a:solidFill>
          <a:ln w="6350">
            <a:solidFill>
              <a:srgbClr val="028090"/>
            </a:solidFill>
            <a:prstDash val="solid"/>
          </a:ln>
        </p:spPr>
        <p:txBody>
          <a:bodyPr/>
          <a:lstStyle/>
          <a:p>
            <a:endParaRPr lang="fr-FR"/>
          </a:p>
        </p:txBody>
      </p:sp>
      <p:sp>
        <p:nvSpPr>
          <p:cNvPr id="24" name="Text 21"/>
          <p:cNvSpPr/>
          <p:nvPr/>
        </p:nvSpPr>
        <p:spPr>
          <a:xfrm>
            <a:off x="2743200" y="3511296"/>
            <a:ext cx="1463040" cy="310896"/>
          </a:xfrm>
          <a:prstGeom prst="rect">
            <a:avLst/>
          </a:prstGeom>
          <a:noFill/>
          <a:ln/>
        </p:spPr>
        <p:txBody>
          <a:bodyPr wrap="square" lIns="0" tIns="0" rIns="0" bIns="0"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7</a:t>
            </a:r>
            <a:endParaRPr lang="en-US" sz="2200" dirty="0"/>
          </a:p>
        </p:txBody>
      </p:sp>
      <p:sp>
        <p:nvSpPr>
          <p:cNvPr id="25" name="Text 22"/>
          <p:cNvSpPr/>
          <p:nvPr/>
        </p:nvSpPr>
        <p:spPr>
          <a:xfrm>
            <a:off x="2743200" y="3803904"/>
            <a:ext cx="1463040" cy="219456"/>
          </a:xfrm>
          <a:prstGeom prst="rect">
            <a:avLst/>
          </a:prstGeom>
          <a:noFill/>
          <a:ln/>
        </p:spPr>
        <p:txBody>
          <a:bodyPr wrap="square" lIns="0" tIns="0" rIns="0" bIns="0" rtlCol="0" anchor="ctr"/>
          <a:lstStyle/>
          <a:p>
            <a:pPr marL="0" indent="0" algn="ctr">
              <a:buNone/>
            </a:pPr>
            <a:r>
              <a:rPr lang="en-US" sz="850" dirty="0">
                <a:solidFill>
                  <a:srgbClr val="A8CADC"/>
                </a:solidFill>
                <a:latin typeface="Calibri" pitchFamily="34" charset="0"/>
                <a:ea typeface="Calibri" pitchFamily="34" charset="-122"/>
                <a:cs typeface="Calibri" pitchFamily="34" charset="-120"/>
              </a:rPr>
              <a:t>Agents A2A</a:t>
            </a:r>
            <a:endParaRPr lang="en-US" sz="850" dirty="0"/>
          </a:p>
        </p:txBody>
      </p:sp>
      <p:sp>
        <p:nvSpPr>
          <p:cNvPr id="26" name="Shape 23"/>
          <p:cNvSpPr/>
          <p:nvPr/>
        </p:nvSpPr>
        <p:spPr>
          <a:xfrm>
            <a:off x="4572000" y="3493008"/>
            <a:ext cx="1463040" cy="603504"/>
          </a:xfrm>
          <a:prstGeom prst="rect">
            <a:avLst/>
          </a:prstGeom>
          <a:solidFill>
            <a:srgbClr val="FFFFFF">
              <a:alpha val="8000"/>
            </a:srgbClr>
          </a:solidFill>
          <a:ln w="6350">
            <a:solidFill>
              <a:srgbClr val="028090"/>
            </a:solidFill>
            <a:prstDash val="solid"/>
          </a:ln>
        </p:spPr>
        <p:txBody>
          <a:bodyPr/>
          <a:lstStyle/>
          <a:p>
            <a:endParaRPr lang="fr-FR"/>
          </a:p>
        </p:txBody>
      </p:sp>
      <p:sp>
        <p:nvSpPr>
          <p:cNvPr id="27" name="Text 24"/>
          <p:cNvSpPr/>
          <p:nvPr/>
        </p:nvSpPr>
        <p:spPr>
          <a:xfrm>
            <a:off x="4572000" y="3511296"/>
            <a:ext cx="1463040" cy="310896"/>
          </a:xfrm>
          <a:prstGeom prst="rect">
            <a:avLst/>
          </a:prstGeom>
          <a:noFill/>
          <a:ln/>
        </p:spPr>
        <p:txBody>
          <a:bodyPr wrap="square" lIns="0" tIns="0" rIns="0" bIns="0"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3</a:t>
            </a:r>
            <a:endParaRPr lang="en-US" sz="2200" dirty="0"/>
          </a:p>
        </p:txBody>
      </p:sp>
      <p:sp>
        <p:nvSpPr>
          <p:cNvPr id="28" name="Text 25"/>
          <p:cNvSpPr/>
          <p:nvPr/>
        </p:nvSpPr>
        <p:spPr>
          <a:xfrm>
            <a:off x="4572000" y="3803904"/>
            <a:ext cx="1463040" cy="219456"/>
          </a:xfrm>
          <a:prstGeom prst="rect">
            <a:avLst/>
          </a:prstGeom>
          <a:noFill/>
          <a:ln/>
        </p:spPr>
        <p:txBody>
          <a:bodyPr wrap="square" lIns="0" tIns="0" rIns="0" bIns="0" rtlCol="0" anchor="ctr"/>
          <a:lstStyle/>
          <a:p>
            <a:pPr marL="0" indent="0" algn="ctr">
              <a:buNone/>
            </a:pPr>
            <a:r>
              <a:rPr lang="en-US" sz="850" dirty="0">
                <a:solidFill>
                  <a:srgbClr val="A8CADC"/>
                </a:solidFill>
                <a:latin typeface="Calibri" pitchFamily="34" charset="0"/>
                <a:ea typeface="Calibri" pitchFamily="34" charset="-122"/>
                <a:cs typeface="Calibri" pitchFamily="34" charset="-120"/>
              </a:rPr>
              <a:t>usages</a:t>
            </a:r>
            <a:endParaRPr lang="en-US" sz="850" dirty="0"/>
          </a:p>
        </p:txBody>
      </p:sp>
      <p:sp>
        <p:nvSpPr>
          <p:cNvPr id="29" name="Shape 26"/>
          <p:cNvSpPr/>
          <p:nvPr/>
        </p:nvSpPr>
        <p:spPr>
          <a:xfrm>
            <a:off x="6400800" y="3493008"/>
            <a:ext cx="1463040" cy="603504"/>
          </a:xfrm>
          <a:prstGeom prst="rect">
            <a:avLst/>
          </a:prstGeom>
          <a:solidFill>
            <a:srgbClr val="FFFFFF">
              <a:alpha val="8000"/>
            </a:srgbClr>
          </a:solidFill>
          <a:ln w="6350">
            <a:solidFill>
              <a:srgbClr val="028090"/>
            </a:solidFill>
            <a:prstDash val="solid"/>
          </a:ln>
        </p:spPr>
        <p:txBody>
          <a:bodyPr/>
          <a:lstStyle/>
          <a:p>
            <a:endParaRPr lang="fr-FR"/>
          </a:p>
        </p:txBody>
      </p:sp>
      <p:sp>
        <p:nvSpPr>
          <p:cNvPr id="30" name="Text 27"/>
          <p:cNvSpPr/>
          <p:nvPr/>
        </p:nvSpPr>
        <p:spPr>
          <a:xfrm>
            <a:off x="6400800" y="3511296"/>
            <a:ext cx="1463040" cy="310896"/>
          </a:xfrm>
          <a:prstGeom prst="rect">
            <a:avLst/>
          </a:prstGeom>
          <a:noFill/>
          <a:ln/>
        </p:spPr>
        <p:txBody>
          <a:bodyPr wrap="square" lIns="0" tIns="0" rIns="0" bIns="0"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15</a:t>
            </a:r>
            <a:endParaRPr lang="en-US" sz="2200" dirty="0"/>
          </a:p>
        </p:txBody>
      </p:sp>
      <p:sp>
        <p:nvSpPr>
          <p:cNvPr id="31" name="Text 28"/>
          <p:cNvSpPr/>
          <p:nvPr/>
        </p:nvSpPr>
        <p:spPr>
          <a:xfrm>
            <a:off x="6400800" y="3803904"/>
            <a:ext cx="1463040" cy="219456"/>
          </a:xfrm>
          <a:prstGeom prst="rect">
            <a:avLst/>
          </a:prstGeom>
          <a:noFill/>
          <a:ln/>
        </p:spPr>
        <p:txBody>
          <a:bodyPr wrap="square" lIns="0" tIns="0" rIns="0" bIns="0" rtlCol="0" anchor="ctr"/>
          <a:lstStyle/>
          <a:p>
            <a:pPr marL="0" indent="0" algn="ctr">
              <a:buNone/>
            </a:pPr>
            <a:r>
              <a:rPr lang="en-US" sz="850" dirty="0">
                <a:solidFill>
                  <a:srgbClr val="A8CADC"/>
                </a:solidFill>
                <a:latin typeface="Calibri" pitchFamily="34" charset="0"/>
                <a:ea typeface="Calibri" pitchFamily="34" charset="-122"/>
                <a:cs typeface="Calibri" pitchFamily="34" charset="-120"/>
              </a:rPr>
              <a:t>Scénarios KB</a:t>
            </a:r>
            <a:endParaRPr lang="en-US" sz="850" dirty="0"/>
          </a:p>
        </p:txBody>
      </p:sp>
      <p:sp>
        <p:nvSpPr>
          <p:cNvPr id="32" name="Text 29"/>
          <p:cNvSpPr/>
          <p:nvPr/>
        </p:nvSpPr>
        <p:spPr>
          <a:xfrm>
            <a:off x="1371600" y="4828032"/>
            <a:ext cx="6400800" cy="219456"/>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Le Bret Yves · Le Mignon Aude · Addichane Sofia  —  MBA1 Epitech · Avril 2026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28600" y="201168"/>
            <a:ext cx="45720" cy="384048"/>
          </a:xfrm>
          <a:prstGeom prst="rect">
            <a:avLst/>
          </a:prstGeom>
          <a:solidFill>
            <a:srgbClr val="00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73736"/>
            <a:ext cx="6035040" cy="365760"/>
          </a:xfrm>
          <a:prstGeom prst="rect">
            <a:avLst/>
          </a:prstGeom>
          <a:noFill/>
        </p:spPr>
        <p:txBody>
          <a:bodyPr wrap="square">
            <a:normAutofit/>
          </a:bodyPr>
          <a:lstStyle/>
          <a:p>
            <a:pPr algn="l"/>
            <a:r>
              <a:rPr sz="1800" b="1">
                <a:solidFill>
                  <a:srgbClr val="16222E"/>
                </a:solidFill>
                <a:latin typeface="Aptos"/>
              </a:rPr>
              <a:t>Conformité au cahier des charges</a:t>
            </a:r>
          </a:p>
        </p:txBody>
      </p:sp>
      <p:sp>
        <p:nvSpPr>
          <p:cNvPr id="4" name="TextBox 3"/>
          <p:cNvSpPr txBox="1"/>
          <p:nvPr/>
        </p:nvSpPr>
        <p:spPr>
          <a:xfrm>
            <a:off x="7315200" y="201168"/>
            <a:ext cx="1554480" cy="219456"/>
          </a:xfrm>
          <a:prstGeom prst="rect">
            <a:avLst/>
          </a:prstGeom>
          <a:noFill/>
        </p:spPr>
        <p:txBody>
          <a:bodyPr wrap="square">
            <a:normAutofit/>
          </a:bodyPr>
          <a:lstStyle/>
          <a:p>
            <a:pPr algn="r"/>
            <a:r>
              <a:rPr sz="850" b="0">
                <a:solidFill>
                  <a:srgbClr val="556473"/>
                </a:solidFill>
                <a:latin typeface="Aptos"/>
              </a:rPr>
              <a:t>EHPAD Monitor · V2</a:t>
            </a:r>
          </a:p>
        </p:txBody>
      </p:sp>
      <p:sp>
        <p:nvSpPr>
          <p:cNvPr id="5" name="TextBox 4"/>
          <p:cNvSpPr txBox="1"/>
          <p:nvPr/>
        </p:nvSpPr>
        <p:spPr>
          <a:xfrm>
            <a:off x="6492240" y="109728"/>
            <a:ext cx="914400" cy="182880"/>
          </a:xfrm>
          <a:prstGeom prst="rect">
            <a:avLst/>
          </a:prstGeom>
          <a:noFill/>
        </p:spPr>
        <p:txBody>
          <a:bodyPr wrap="square">
            <a:normAutofit/>
          </a:bodyPr>
          <a:lstStyle/>
          <a:p>
            <a:pPr algn="r"/>
            <a:r>
              <a:rPr sz="800" b="0">
                <a:solidFill>
                  <a:srgbClr val="B4DAE1"/>
                </a:solidFill>
                <a:latin typeface="Aptos"/>
              </a:rPr>
              <a:t>─╱╲─╱╲────</a:t>
            </a:r>
          </a:p>
        </p:txBody>
      </p:sp>
      <p:sp>
        <p:nvSpPr>
          <p:cNvPr id="6" name="Rectangle 5"/>
          <p:cNvSpPr/>
          <p:nvPr/>
        </p:nvSpPr>
        <p:spPr>
          <a:xfrm>
            <a:off x="228600" y="640080"/>
            <a:ext cx="8686800" cy="10972"/>
          </a:xfrm>
          <a:prstGeom prst="rect">
            <a:avLst/>
          </a:prstGeom>
          <a:solidFill>
            <a:srgbClr val="D2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749808"/>
            <a:ext cx="8412480" cy="256032"/>
          </a:xfrm>
          <a:prstGeom prst="rect">
            <a:avLst/>
          </a:prstGeom>
          <a:noFill/>
        </p:spPr>
        <p:txBody>
          <a:bodyPr wrap="square">
            <a:normAutofit/>
          </a:bodyPr>
          <a:lstStyle/>
          <a:p>
            <a:pPr algn="l"/>
            <a:r>
              <a:rPr sz="1250" b="0">
                <a:solidFill>
                  <a:srgbClr val="556473"/>
                </a:solidFill>
                <a:latin typeface="Aptos"/>
              </a:rPr>
              <a:t>Ce slide transforme la présentation en grille de lecture jury : chaque exigence est reliée à un élément démontrable.</a:t>
            </a:r>
          </a:p>
        </p:txBody>
      </p:sp>
      <p:sp>
        <p:nvSpPr>
          <p:cNvPr id="8" name="Rounded Rectangle 7"/>
          <p:cNvSpPr/>
          <p:nvPr/>
        </p:nvSpPr>
        <p:spPr>
          <a:xfrm>
            <a:off x="320040" y="1097280"/>
            <a:ext cx="4160520" cy="3520440"/>
          </a:xfrm>
          <a:prstGeom prst="roundRect">
            <a:avLst/>
          </a:prstGeom>
          <a:solidFill>
            <a:srgbClr val="FFFFFF"/>
          </a:solidFill>
          <a:ln w="12700">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097280"/>
            <a:ext cx="4160520" cy="329184"/>
          </a:xfrm>
          <a:prstGeom prst="rect">
            <a:avLst/>
          </a:prstGeom>
          <a:solidFill>
            <a:srgbClr val="00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4632" y="1161288"/>
            <a:ext cx="3794760" cy="201168"/>
          </a:xfrm>
          <a:prstGeom prst="rect">
            <a:avLst/>
          </a:prstGeom>
          <a:noFill/>
        </p:spPr>
        <p:txBody>
          <a:bodyPr wrap="square">
            <a:normAutofit/>
          </a:bodyPr>
          <a:lstStyle/>
          <a:p>
            <a:pPr algn="l"/>
            <a:r>
              <a:rPr sz="1200" b="1">
                <a:solidFill>
                  <a:srgbClr val="FFFFFF"/>
                </a:solidFill>
                <a:latin typeface="Aptos"/>
              </a:rPr>
              <a:t>MUST HAVE — état du rendu</a:t>
            </a:r>
          </a:p>
        </p:txBody>
      </p:sp>
      <p:sp>
        <p:nvSpPr>
          <p:cNvPr id="11" name="TextBox 10"/>
          <p:cNvSpPr txBox="1"/>
          <p:nvPr/>
        </p:nvSpPr>
        <p:spPr>
          <a:xfrm>
            <a:off x="502920" y="1554480"/>
            <a:ext cx="320040" cy="201168"/>
          </a:xfrm>
          <a:prstGeom prst="rect">
            <a:avLst/>
          </a:prstGeom>
          <a:noFill/>
        </p:spPr>
        <p:txBody>
          <a:bodyPr wrap="square">
            <a:normAutofit/>
          </a:bodyPr>
          <a:lstStyle/>
          <a:p>
            <a:pPr algn="l"/>
            <a:r>
              <a:rPr sz="950" b="1">
                <a:solidFill>
                  <a:srgbClr val="009696"/>
                </a:solidFill>
                <a:latin typeface="Aptos"/>
              </a:rPr>
              <a:t>M1</a:t>
            </a:r>
          </a:p>
        </p:txBody>
      </p:sp>
      <p:sp>
        <p:nvSpPr>
          <p:cNvPr id="12" name="TextBox 11"/>
          <p:cNvSpPr txBox="1"/>
          <p:nvPr/>
        </p:nvSpPr>
        <p:spPr>
          <a:xfrm>
            <a:off x="868680" y="1554480"/>
            <a:ext cx="2788920" cy="201168"/>
          </a:xfrm>
          <a:prstGeom prst="rect">
            <a:avLst/>
          </a:prstGeom>
          <a:noFill/>
        </p:spPr>
        <p:txBody>
          <a:bodyPr wrap="square">
            <a:normAutofit/>
          </a:bodyPr>
          <a:lstStyle/>
          <a:p>
            <a:pPr algn="l"/>
            <a:r>
              <a:rPr sz="919" b="0">
                <a:solidFill>
                  <a:srgbClr val="16222E"/>
                </a:solidFill>
                <a:latin typeface="Aptos"/>
              </a:rPr>
              <a:t>25 résidents + profils pathologies/mobilité</a:t>
            </a:r>
          </a:p>
        </p:txBody>
      </p:sp>
      <p:sp>
        <p:nvSpPr>
          <p:cNvPr id="13" name="TextBox 12"/>
          <p:cNvSpPr txBox="1"/>
          <p:nvPr/>
        </p:nvSpPr>
        <p:spPr>
          <a:xfrm>
            <a:off x="3703320" y="1554480"/>
            <a:ext cx="566928" cy="201168"/>
          </a:xfrm>
          <a:prstGeom prst="rect">
            <a:avLst/>
          </a:prstGeom>
          <a:noFill/>
        </p:spPr>
        <p:txBody>
          <a:bodyPr wrap="square">
            <a:normAutofit/>
          </a:bodyPr>
          <a:lstStyle/>
          <a:p>
            <a:pPr algn="r"/>
            <a:r>
              <a:rPr sz="880" b="1">
                <a:solidFill>
                  <a:srgbClr val="0FA569"/>
                </a:solidFill>
                <a:latin typeface="Aptos"/>
              </a:rPr>
              <a:t>OK</a:t>
            </a:r>
          </a:p>
        </p:txBody>
      </p:sp>
      <p:sp>
        <p:nvSpPr>
          <p:cNvPr id="14" name="TextBox 13"/>
          <p:cNvSpPr txBox="1"/>
          <p:nvPr/>
        </p:nvSpPr>
        <p:spPr>
          <a:xfrm>
            <a:off x="502920" y="1947672"/>
            <a:ext cx="320040" cy="201168"/>
          </a:xfrm>
          <a:prstGeom prst="rect">
            <a:avLst/>
          </a:prstGeom>
          <a:noFill/>
        </p:spPr>
        <p:txBody>
          <a:bodyPr wrap="square">
            <a:normAutofit/>
          </a:bodyPr>
          <a:lstStyle/>
          <a:p>
            <a:pPr algn="l"/>
            <a:r>
              <a:rPr sz="950" b="1">
                <a:solidFill>
                  <a:srgbClr val="009696"/>
                </a:solidFill>
                <a:latin typeface="Aptos"/>
              </a:rPr>
              <a:t>M2</a:t>
            </a:r>
          </a:p>
        </p:txBody>
      </p:sp>
      <p:sp>
        <p:nvSpPr>
          <p:cNvPr id="15" name="TextBox 14"/>
          <p:cNvSpPr txBox="1"/>
          <p:nvPr/>
        </p:nvSpPr>
        <p:spPr>
          <a:xfrm>
            <a:off x="868680" y="1947672"/>
            <a:ext cx="2788920" cy="201168"/>
          </a:xfrm>
          <a:prstGeom prst="rect">
            <a:avLst/>
          </a:prstGeom>
          <a:noFill/>
        </p:spPr>
        <p:txBody>
          <a:bodyPr wrap="square">
            <a:normAutofit/>
          </a:bodyPr>
          <a:lstStyle/>
          <a:p>
            <a:pPr algn="l"/>
            <a:r>
              <a:rPr sz="919" b="0">
                <a:solidFill>
                  <a:srgbClr val="16222E"/>
                </a:solidFill>
                <a:latin typeface="Aptos"/>
              </a:rPr>
              <a:t>Capteurs vitaux + ambiants + portes/zones</a:t>
            </a:r>
          </a:p>
        </p:txBody>
      </p:sp>
      <p:sp>
        <p:nvSpPr>
          <p:cNvPr id="16" name="TextBox 15"/>
          <p:cNvSpPr txBox="1"/>
          <p:nvPr/>
        </p:nvSpPr>
        <p:spPr>
          <a:xfrm>
            <a:off x="3703320" y="1947672"/>
            <a:ext cx="566928" cy="201168"/>
          </a:xfrm>
          <a:prstGeom prst="rect">
            <a:avLst/>
          </a:prstGeom>
          <a:noFill/>
        </p:spPr>
        <p:txBody>
          <a:bodyPr wrap="square">
            <a:normAutofit/>
          </a:bodyPr>
          <a:lstStyle/>
          <a:p>
            <a:pPr algn="r"/>
            <a:r>
              <a:rPr sz="880" b="1">
                <a:solidFill>
                  <a:srgbClr val="0FA569"/>
                </a:solidFill>
                <a:latin typeface="Aptos"/>
              </a:rPr>
              <a:t>OK</a:t>
            </a:r>
          </a:p>
        </p:txBody>
      </p:sp>
      <p:sp>
        <p:nvSpPr>
          <p:cNvPr id="17" name="TextBox 16"/>
          <p:cNvSpPr txBox="1"/>
          <p:nvPr/>
        </p:nvSpPr>
        <p:spPr>
          <a:xfrm>
            <a:off x="502920" y="2340864"/>
            <a:ext cx="320040" cy="201168"/>
          </a:xfrm>
          <a:prstGeom prst="rect">
            <a:avLst/>
          </a:prstGeom>
          <a:noFill/>
        </p:spPr>
        <p:txBody>
          <a:bodyPr wrap="square">
            <a:normAutofit/>
          </a:bodyPr>
          <a:lstStyle/>
          <a:p>
            <a:pPr algn="l"/>
            <a:r>
              <a:rPr sz="950" b="1">
                <a:solidFill>
                  <a:srgbClr val="009696"/>
                </a:solidFill>
                <a:latin typeface="Aptos"/>
              </a:rPr>
              <a:t>M3</a:t>
            </a:r>
          </a:p>
        </p:txBody>
      </p:sp>
      <p:sp>
        <p:nvSpPr>
          <p:cNvPr id="18" name="TextBox 17"/>
          <p:cNvSpPr txBox="1"/>
          <p:nvPr/>
        </p:nvSpPr>
        <p:spPr>
          <a:xfrm>
            <a:off x="868680" y="2340864"/>
            <a:ext cx="2788920" cy="201168"/>
          </a:xfrm>
          <a:prstGeom prst="rect">
            <a:avLst/>
          </a:prstGeom>
          <a:noFill/>
        </p:spPr>
        <p:txBody>
          <a:bodyPr wrap="square">
            <a:normAutofit/>
          </a:bodyPr>
          <a:lstStyle/>
          <a:p>
            <a:pPr algn="l"/>
            <a:r>
              <a:rPr sz="919" b="0">
                <a:solidFill>
                  <a:srgbClr val="16222E"/>
                </a:solidFill>
                <a:latin typeface="Aptos"/>
              </a:rPr>
              <a:t>MQTT topics résidents/zones + QoS</a:t>
            </a:r>
          </a:p>
        </p:txBody>
      </p:sp>
      <p:sp>
        <p:nvSpPr>
          <p:cNvPr id="19" name="TextBox 18"/>
          <p:cNvSpPr txBox="1"/>
          <p:nvPr/>
        </p:nvSpPr>
        <p:spPr>
          <a:xfrm>
            <a:off x="3703320" y="2340864"/>
            <a:ext cx="566928" cy="201168"/>
          </a:xfrm>
          <a:prstGeom prst="rect">
            <a:avLst/>
          </a:prstGeom>
          <a:noFill/>
        </p:spPr>
        <p:txBody>
          <a:bodyPr wrap="square">
            <a:normAutofit/>
          </a:bodyPr>
          <a:lstStyle/>
          <a:p>
            <a:pPr algn="r"/>
            <a:r>
              <a:rPr sz="880" b="1">
                <a:solidFill>
                  <a:srgbClr val="0FA569"/>
                </a:solidFill>
                <a:latin typeface="Aptos"/>
              </a:rPr>
              <a:t>OK</a:t>
            </a:r>
          </a:p>
        </p:txBody>
      </p:sp>
      <p:sp>
        <p:nvSpPr>
          <p:cNvPr id="20" name="TextBox 19"/>
          <p:cNvSpPr txBox="1"/>
          <p:nvPr/>
        </p:nvSpPr>
        <p:spPr>
          <a:xfrm>
            <a:off x="502920" y="2734056"/>
            <a:ext cx="320040" cy="201168"/>
          </a:xfrm>
          <a:prstGeom prst="rect">
            <a:avLst/>
          </a:prstGeom>
          <a:noFill/>
        </p:spPr>
        <p:txBody>
          <a:bodyPr wrap="square">
            <a:normAutofit/>
          </a:bodyPr>
          <a:lstStyle/>
          <a:p>
            <a:pPr algn="l"/>
            <a:r>
              <a:rPr sz="950" b="1">
                <a:solidFill>
                  <a:srgbClr val="009696"/>
                </a:solidFill>
                <a:latin typeface="Aptos"/>
              </a:rPr>
              <a:t>M4</a:t>
            </a:r>
          </a:p>
        </p:txBody>
      </p:sp>
      <p:sp>
        <p:nvSpPr>
          <p:cNvPr id="21" name="TextBox 20"/>
          <p:cNvSpPr txBox="1"/>
          <p:nvPr/>
        </p:nvSpPr>
        <p:spPr>
          <a:xfrm>
            <a:off x="868680" y="2734056"/>
            <a:ext cx="2788920" cy="201168"/>
          </a:xfrm>
          <a:prstGeom prst="rect">
            <a:avLst/>
          </a:prstGeom>
          <a:noFill/>
        </p:spPr>
        <p:txBody>
          <a:bodyPr wrap="square">
            <a:normAutofit/>
          </a:bodyPr>
          <a:lstStyle/>
          <a:p>
            <a:pPr algn="l"/>
            <a:r>
              <a:rPr sz="919" b="0">
                <a:solidFill>
                  <a:srgbClr val="16222E"/>
                </a:solidFill>
                <a:latin typeface="Aptos"/>
              </a:rPr>
              <a:t>Dashboard global + drill-down résident</a:t>
            </a:r>
          </a:p>
        </p:txBody>
      </p:sp>
      <p:sp>
        <p:nvSpPr>
          <p:cNvPr id="22" name="TextBox 21"/>
          <p:cNvSpPr txBox="1"/>
          <p:nvPr/>
        </p:nvSpPr>
        <p:spPr>
          <a:xfrm>
            <a:off x="3703320" y="2734056"/>
            <a:ext cx="566928" cy="201168"/>
          </a:xfrm>
          <a:prstGeom prst="rect">
            <a:avLst/>
          </a:prstGeom>
          <a:noFill/>
        </p:spPr>
        <p:txBody>
          <a:bodyPr wrap="square">
            <a:normAutofit/>
          </a:bodyPr>
          <a:lstStyle/>
          <a:p>
            <a:pPr algn="r"/>
            <a:r>
              <a:rPr sz="880" b="1">
                <a:solidFill>
                  <a:srgbClr val="0FA569"/>
                </a:solidFill>
                <a:latin typeface="Aptos"/>
              </a:rPr>
              <a:t>OK</a:t>
            </a:r>
          </a:p>
        </p:txBody>
      </p:sp>
      <p:sp>
        <p:nvSpPr>
          <p:cNvPr id="23" name="TextBox 22"/>
          <p:cNvSpPr txBox="1"/>
          <p:nvPr/>
        </p:nvSpPr>
        <p:spPr>
          <a:xfrm>
            <a:off x="502920" y="3127248"/>
            <a:ext cx="320040" cy="201168"/>
          </a:xfrm>
          <a:prstGeom prst="rect">
            <a:avLst/>
          </a:prstGeom>
          <a:noFill/>
        </p:spPr>
        <p:txBody>
          <a:bodyPr wrap="square">
            <a:normAutofit/>
          </a:bodyPr>
          <a:lstStyle/>
          <a:p>
            <a:pPr algn="l"/>
            <a:r>
              <a:rPr sz="950" b="1">
                <a:solidFill>
                  <a:srgbClr val="009696"/>
                </a:solidFill>
                <a:latin typeface="Aptos"/>
              </a:rPr>
              <a:t>M5</a:t>
            </a:r>
          </a:p>
        </p:txBody>
      </p:sp>
      <p:sp>
        <p:nvSpPr>
          <p:cNvPr id="24" name="TextBox 23"/>
          <p:cNvSpPr txBox="1"/>
          <p:nvPr/>
        </p:nvSpPr>
        <p:spPr>
          <a:xfrm>
            <a:off x="868680" y="3127248"/>
            <a:ext cx="2788920" cy="201168"/>
          </a:xfrm>
          <a:prstGeom prst="rect">
            <a:avLst/>
          </a:prstGeom>
          <a:noFill/>
        </p:spPr>
        <p:txBody>
          <a:bodyPr wrap="square">
            <a:normAutofit/>
          </a:bodyPr>
          <a:lstStyle/>
          <a:p>
            <a:pPr algn="l"/>
            <a:r>
              <a:rPr sz="919" b="0">
                <a:solidFill>
                  <a:srgbClr val="16222E"/>
                </a:solidFill>
                <a:latin typeface="Aptos"/>
              </a:rPr>
              <a:t>Alertes 5 niveaux + acquittement/escalade</a:t>
            </a:r>
          </a:p>
        </p:txBody>
      </p:sp>
      <p:sp>
        <p:nvSpPr>
          <p:cNvPr id="25" name="TextBox 24"/>
          <p:cNvSpPr txBox="1"/>
          <p:nvPr/>
        </p:nvSpPr>
        <p:spPr>
          <a:xfrm>
            <a:off x="3703320" y="3127248"/>
            <a:ext cx="566928" cy="201168"/>
          </a:xfrm>
          <a:prstGeom prst="rect">
            <a:avLst/>
          </a:prstGeom>
          <a:noFill/>
        </p:spPr>
        <p:txBody>
          <a:bodyPr wrap="square">
            <a:normAutofit/>
          </a:bodyPr>
          <a:lstStyle/>
          <a:p>
            <a:pPr algn="r"/>
            <a:r>
              <a:rPr sz="880" b="1">
                <a:solidFill>
                  <a:srgbClr val="0FA569"/>
                </a:solidFill>
                <a:latin typeface="Aptos"/>
              </a:rPr>
              <a:t>OK démo</a:t>
            </a:r>
          </a:p>
        </p:txBody>
      </p:sp>
      <p:sp>
        <p:nvSpPr>
          <p:cNvPr id="26" name="TextBox 25"/>
          <p:cNvSpPr txBox="1"/>
          <p:nvPr/>
        </p:nvSpPr>
        <p:spPr>
          <a:xfrm>
            <a:off x="502920" y="3520440"/>
            <a:ext cx="320040" cy="201168"/>
          </a:xfrm>
          <a:prstGeom prst="rect">
            <a:avLst/>
          </a:prstGeom>
          <a:noFill/>
        </p:spPr>
        <p:txBody>
          <a:bodyPr wrap="square">
            <a:normAutofit/>
          </a:bodyPr>
          <a:lstStyle/>
          <a:p>
            <a:pPr algn="l"/>
            <a:r>
              <a:rPr sz="950" b="1">
                <a:solidFill>
                  <a:srgbClr val="009696"/>
                </a:solidFill>
                <a:latin typeface="Aptos"/>
              </a:rPr>
              <a:t>M6</a:t>
            </a:r>
          </a:p>
        </p:txBody>
      </p:sp>
      <p:sp>
        <p:nvSpPr>
          <p:cNvPr id="27" name="TextBox 26"/>
          <p:cNvSpPr txBox="1"/>
          <p:nvPr/>
        </p:nvSpPr>
        <p:spPr>
          <a:xfrm>
            <a:off x="868680" y="3520440"/>
            <a:ext cx="2788920" cy="201168"/>
          </a:xfrm>
          <a:prstGeom prst="rect">
            <a:avLst/>
          </a:prstGeom>
          <a:noFill/>
        </p:spPr>
        <p:txBody>
          <a:bodyPr wrap="square">
            <a:normAutofit/>
          </a:bodyPr>
          <a:lstStyle/>
          <a:p>
            <a:pPr algn="l"/>
            <a:r>
              <a:rPr sz="919" b="0">
                <a:solidFill>
                  <a:srgbClr val="16222E"/>
                </a:solidFill>
                <a:latin typeface="Aptos"/>
              </a:rPr>
              <a:t>Docker Compose fonctionnel</a:t>
            </a:r>
          </a:p>
        </p:txBody>
      </p:sp>
      <p:sp>
        <p:nvSpPr>
          <p:cNvPr id="28" name="TextBox 27"/>
          <p:cNvSpPr txBox="1"/>
          <p:nvPr/>
        </p:nvSpPr>
        <p:spPr>
          <a:xfrm>
            <a:off x="3703320" y="3520440"/>
            <a:ext cx="566928" cy="201168"/>
          </a:xfrm>
          <a:prstGeom prst="rect">
            <a:avLst/>
          </a:prstGeom>
          <a:noFill/>
        </p:spPr>
        <p:txBody>
          <a:bodyPr wrap="square">
            <a:normAutofit/>
          </a:bodyPr>
          <a:lstStyle/>
          <a:p>
            <a:pPr algn="r"/>
            <a:r>
              <a:rPr sz="880" b="1">
                <a:solidFill>
                  <a:srgbClr val="0FA569"/>
                </a:solidFill>
                <a:latin typeface="Aptos"/>
              </a:rPr>
              <a:t>OK</a:t>
            </a:r>
          </a:p>
        </p:txBody>
      </p:sp>
      <p:sp>
        <p:nvSpPr>
          <p:cNvPr id="29" name="TextBox 28"/>
          <p:cNvSpPr txBox="1"/>
          <p:nvPr/>
        </p:nvSpPr>
        <p:spPr>
          <a:xfrm>
            <a:off x="502920" y="3913632"/>
            <a:ext cx="320040" cy="201168"/>
          </a:xfrm>
          <a:prstGeom prst="rect">
            <a:avLst/>
          </a:prstGeom>
          <a:noFill/>
        </p:spPr>
        <p:txBody>
          <a:bodyPr wrap="square">
            <a:normAutofit/>
          </a:bodyPr>
          <a:lstStyle/>
          <a:p>
            <a:pPr algn="l"/>
            <a:r>
              <a:rPr sz="950" b="1">
                <a:solidFill>
                  <a:srgbClr val="009696"/>
                </a:solidFill>
                <a:latin typeface="Aptos"/>
              </a:rPr>
              <a:t>M7</a:t>
            </a:r>
          </a:p>
        </p:txBody>
      </p:sp>
      <p:sp>
        <p:nvSpPr>
          <p:cNvPr id="30" name="TextBox 29"/>
          <p:cNvSpPr txBox="1"/>
          <p:nvPr/>
        </p:nvSpPr>
        <p:spPr>
          <a:xfrm>
            <a:off x="868680" y="3913632"/>
            <a:ext cx="2788920" cy="201168"/>
          </a:xfrm>
          <a:prstGeom prst="rect">
            <a:avLst/>
          </a:prstGeom>
          <a:noFill/>
        </p:spPr>
        <p:txBody>
          <a:bodyPr wrap="square">
            <a:normAutofit/>
          </a:bodyPr>
          <a:lstStyle/>
          <a:p>
            <a:pPr algn="l"/>
            <a:r>
              <a:rPr sz="919" b="0">
                <a:solidFill>
                  <a:srgbClr val="16222E"/>
                </a:solidFill>
                <a:latin typeface="Aptos"/>
              </a:rPr>
              <a:t>README + docs architecture + sécurité</a:t>
            </a:r>
          </a:p>
        </p:txBody>
      </p:sp>
      <p:sp>
        <p:nvSpPr>
          <p:cNvPr id="31" name="TextBox 30"/>
          <p:cNvSpPr txBox="1"/>
          <p:nvPr/>
        </p:nvSpPr>
        <p:spPr>
          <a:xfrm>
            <a:off x="3703320" y="3913632"/>
            <a:ext cx="566928" cy="201168"/>
          </a:xfrm>
          <a:prstGeom prst="rect">
            <a:avLst/>
          </a:prstGeom>
          <a:noFill/>
        </p:spPr>
        <p:txBody>
          <a:bodyPr wrap="square">
            <a:normAutofit/>
          </a:bodyPr>
          <a:lstStyle/>
          <a:p>
            <a:pPr algn="r"/>
            <a:r>
              <a:rPr sz="880" b="1">
                <a:solidFill>
                  <a:srgbClr val="0FA569"/>
                </a:solidFill>
                <a:latin typeface="Aptos"/>
              </a:rPr>
              <a:t>OK</a:t>
            </a:r>
          </a:p>
        </p:txBody>
      </p:sp>
      <p:sp>
        <p:nvSpPr>
          <p:cNvPr id="32" name="Rounded Rectangle 31"/>
          <p:cNvSpPr/>
          <p:nvPr/>
        </p:nvSpPr>
        <p:spPr>
          <a:xfrm>
            <a:off x="4663440" y="1097280"/>
            <a:ext cx="4160520" cy="3520440"/>
          </a:xfrm>
          <a:prstGeom prst="roundRect">
            <a:avLst/>
          </a:prstGeom>
          <a:solidFill>
            <a:srgbClr val="FFFFFF"/>
          </a:solidFill>
          <a:ln w="12700">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663440" y="1097280"/>
            <a:ext cx="4160520" cy="329184"/>
          </a:xfrm>
          <a:prstGeom prst="rect">
            <a:avLst/>
          </a:prstGeom>
          <a:solidFill>
            <a:srgbClr val="E97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28032" y="1161288"/>
            <a:ext cx="3794760" cy="201168"/>
          </a:xfrm>
          <a:prstGeom prst="rect">
            <a:avLst/>
          </a:prstGeom>
          <a:noFill/>
        </p:spPr>
        <p:txBody>
          <a:bodyPr wrap="square">
            <a:normAutofit/>
          </a:bodyPr>
          <a:lstStyle/>
          <a:p>
            <a:pPr algn="l"/>
            <a:r>
              <a:rPr sz="1200" b="1">
                <a:solidFill>
                  <a:srgbClr val="FFFFFF"/>
                </a:solidFill>
                <a:latin typeface="Aptos"/>
              </a:rPr>
              <a:t>SHOULD / COULD — bonus valorisables</a:t>
            </a:r>
          </a:p>
        </p:txBody>
      </p:sp>
      <p:sp>
        <p:nvSpPr>
          <p:cNvPr id="35" name="TextBox 34"/>
          <p:cNvSpPr txBox="1"/>
          <p:nvPr/>
        </p:nvSpPr>
        <p:spPr>
          <a:xfrm>
            <a:off x="4864608" y="1554480"/>
            <a:ext cx="530352" cy="201168"/>
          </a:xfrm>
          <a:prstGeom prst="rect">
            <a:avLst/>
          </a:prstGeom>
          <a:noFill/>
        </p:spPr>
        <p:txBody>
          <a:bodyPr wrap="square">
            <a:normAutofit/>
          </a:bodyPr>
          <a:lstStyle/>
          <a:p>
            <a:pPr algn="l"/>
            <a:r>
              <a:rPr sz="950" b="1">
                <a:solidFill>
                  <a:srgbClr val="E97D37"/>
                </a:solidFill>
                <a:latin typeface="Aptos"/>
              </a:rPr>
              <a:t>S1</a:t>
            </a:r>
          </a:p>
        </p:txBody>
      </p:sp>
      <p:sp>
        <p:nvSpPr>
          <p:cNvPr id="36" name="TextBox 35"/>
          <p:cNvSpPr txBox="1"/>
          <p:nvPr/>
        </p:nvSpPr>
        <p:spPr>
          <a:xfrm>
            <a:off x="5440680" y="1554480"/>
            <a:ext cx="3063240" cy="201168"/>
          </a:xfrm>
          <a:prstGeom prst="rect">
            <a:avLst/>
          </a:prstGeom>
          <a:noFill/>
        </p:spPr>
        <p:txBody>
          <a:bodyPr wrap="square">
            <a:normAutofit/>
          </a:bodyPr>
          <a:lstStyle/>
          <a:p>
            <a:pPr algn="l"/>
            <a:r>
              <a:rPr sz="919" b="0">
                <a:solidFill>
                  <a:srgbClr val="16222E"/>
                </a:solidFill>
                <a:latin typeface="Aptos"/>
              </a:rPr>
              <a:t>Prédiction ML 30–60 min + risk_30/risk_60</a:t>
            </a:r>
          </a:p>
        </p:txBody>
      </p:sp>
      <p:sp>
        <p:nvSpPr>
          <p:cNvPr id="37" name="TextBox 36"/>
          <p:cNvSpPr txBox="1"/>
          <p:nvPr/>
        </p:nvSpPr>
        <p:spPr>
          <a:xfrm>
            <a:off x="8458200" y="1554480"/>
            <a:ext cx="182880" cy="201168"/>
          </a:xfrm>
          <a:prstGeom prst="rect">
            <a:avLst/>
          </a:prstGeom>
          <a:noFill/>
        </p:spPr>
        <p:txBody>
          <a:bodyPr wrap="square">
            <a:normAutofit/>
          </a:bodyPr>
          <a:lstStyle/>
          <a:p>
            <a:pPr algn="r"/>
            <a:r>
              <a:rPr sz="1000" b="1">
                <a:solidFill>
                  <a:srgbClr val="0FA569"/>
                </a:solidFill>
                <a:latin typeface="Aptos"/>
              </a:rPr>
              <a:t>✓</a:t>
            </a:r>
          </a:p>
        </p:txBody>
      </p:sp>
      <p:sp>
        <p:nvSpPr>
          <p:cNvPr id="38" name="TextBox 37"/>
          <p:cNvSpPr txBox="1"/>
          <p:nvPr/>
        </p:nvSpPr>
        <p:spPr>
          <a:xfrm>
            <a:off x="4864608" y="1947672"/>
            <a:ext cx="530352" cy="201168"/>
          </a:xfrm>
          <a:prstGeom prst="rect">
            <a:avLst/>
          </a:prstGeom>
          <a:noFill/>
        </p:spPr>
        <p:txBody>
          <a:bodyPr wrap="square">
            <a:normAutofit/>
          </a:bodyPr>
          <a:lstStyle/>
          <a:p>
            <a:pPr algn="l"/>
            <a:r>
              <a:rPr sz="950" b="1">
                <a:solidFill>
                  <a:srgbClr val="E97D37"/>
                </a:solidFill>
                <a:latin typeface="Aptos"/>
              </a:rPr>
              <a:t>S2</a:t>
            </a:r>
          </a:p>
        </p:txBody>
      </p:sp>
      <p:sp>
        <p:nvSpPr>
          <p:cNvPr id="39" name="TextBox 38"/>
          <p:cNvSpPr txBox="1"/>
          <p:nvPr/>
        </p:nvSpPr>
        <p:spPr>
          <a:xfrm>
            <a:off x="5440680" y="1947672"/>
            <a:ext cx="3063240" cy="201168"/>
          </a:xfrm>
          <a:prstGeom prst="rect">
            <a:avLst/>
          </a:prstGeom>
          <a:noFill/>
        </p:spPr>
        <p:txBody>
          <a:bodyPr wrap="square">
            <a:normAutofit/>
          </a:bodyPr>
          <a:lstStyle/>
          <a:p>
            <a:pPr algn="l"/>
            <a:r>
              <a:rPr sz="919" b="0">
                <a:solidFill>
                  <a:srgbClr val="16222E"/>
                </a:solidFill>
                <a:latin typeface="Aptos"/>
              </a:rPr>
              <a:t>Plan/position EHPAD via zones et localisation</a:t>
            </a:r>
          </a:p>
        </p:txBody>
      </p:sp>
      <p:sp>
        <p:nvSpPr>
          <p:cNvPr id="40" name="TextBox 39"/>
          <p:cNvSpPr txBox="1"/>
          <p:nvPr/>
        </p:nvSpPr>
        <p:spPr>
          <a:xfrm>
            <a:off x="8458200" y="1947672"/>
            <a:ext cx="182880" cy="201168"/>
          </a:xfrm>
          <a:prstGeom prst="rect">
            <a:avLst/>
          </a:prstGeom>
          <a:noFill/>
        </p:spPr>
        <p:txBody>
          <a:bodyPr wrap="square">
            <a:normAutofit/>
          </a:bodyPr>
          <a:lstStyle/>
          <a:p>
            <a:pPr algn="r"/>
            <a:r>
              <a:rPr sz="1000" b="1">
                <a:solidFill>
                  <a:srgbClr val="0FA569"/>
                </a:solidFill>
                <a:latin typeface="Aptos"/>
              </a:rPr>
              <a:t>✓</a:t>
            </a:r>
          </a:p>
        </p:txBody>
      </p:sp>
      <p:sp>
        <p:nvSpPr>
          <p:cNvPr id="41" name="TextBox 40"/>
          <p:cNvSpPr txBox="1"/>
          <p:nvPr/>
        </p:nvSpPr>
        <p:spPr>
          <a:xfrm>
            <a:off x="4864608" y="2340864"/>
            <a:ext cx="530352" cy="201168"/>
          </a:xfrm>
          <a:prstGeom prst="rect">
            <a:avLst/>
          </a:prstGeom>
          <a:noFill/>
        </p:spPr>
        <p:txBody>
          <a:bodyPr wrap="square">
            <a:normAutofit/>
          </a:bodyPr>
          <a:lstStyle/>
          <a:p>
            <a:pPr algn="l"/>
            <a:r>
              <a:rPr sz="950" b="1">
                <a:solidFill>
                  <a:srgbClr val="E97D37"/>
                </a:solidFill>
                <a:latin typeface="Aptos"/>
              </a:rPr>
              <a:t>S3</a:t>
            </a:r>
          </a:p>
        </p:txBody>
      </p:sp>
      <p:sp>
        <p:nvSpPr>
          <p:cNvPr id="42" name="TextBox 41"/>
          <p:cNvSpPr txBox="1"/>
          <p:nvPr/>
        </p:nvSpPr>
        <p:spPr>
          <a:xfrm>
            <a:off x="5440680" y="2340864"/>
            <a:ext cx="3063240" cy="201168"/>
          </a:xfrm>
          <a:prstGeom prst="rect">
            <a:avLst/>
          </a:prstGeom>
          <a:noFill/>
        </p:spPr>
        <p:txBody>
          <a:bodyPr wrap="square">
            <a:normAutofit/>
          </a:bodyPr>
          <a:lstStyle/>
          <a:p>
            <a:pPr algn="l"/>
            <a:r>
              <a:rPr sz="919" b="0">
                <a:solidFill>
                  <a:srgbClr val="16222E"/>
                </a:solidFill>
                <a:latin typeface="Aptos"/>
              </a:rPr>
              <a:t>Routine engine + historique comportemental</a:t>
            </a:r>
          </a:p>
        </p:txBody>
      </p:sp>
      <p:sp>
        <p:nvSpPr>
          <p:cNvPr id="43" name="TextBox 42"/>
          <p:cNvSpPr txBox="1"/>
          <p:nvPr/>
        </p:nvSpPr>
        <p:spPr>
          <a:xfrm>
            <a:off x="8458200" y="2340864"/>
            <a:ext cx="182880" cy="201168"/>
          </a:xfrm>
          <a:prstGeom prst="rect">
            <a:avLst/>
          </a:prstGeom>
          <a:noFill/>
        </p:spPr>
        <p:txBody>
          <a:bodyPr wrap="square">
            <a:normAutofit/>
          </a:bodyPr>
          <a:lstStyle/>
          <a:p>
            <a:pPr algn="r"/>
            <a:r>
              <a:rPr sz="1000" b="1">
                <a:solidFill>
                  <a:srgbClr val="0FA569"/>
                </a:solidFill>
                <a:latin typeface="Aptos"/>
              </a:rPr>
              <a:t>✓</a:t>
            </a:r>
          </a:p>
        </p:txBody>
      </p:sp>
      <p:sp>
        <p:nvSpPr>
          <p:cNvPr id="44" name="TextBox 43"/>
          <p:cNvSpPr txBox="1"/>
          <p:nvPr/>
        </p:nvSpPr>
        <p:spPr>
          <a:xfrm>
            <a:off x="4864608" y="2734056"/>
            <a:ext cx="530352" cy="201168"/>
          </a:xfrm>
          <a:prstGeom prst="rect">
            <a:avLst/>
          </a:prstGeom>
          <a:noFill/>
        </p:spPr>
        <p:txBody>
          <a:bodyPr wrap="square">
            <a:normAutofit/>
          </a:bodyPr>
          <a:lstStyle/>
          <a:p>
            <a:pPr algn="l"/>
            <a:r>
              <a:rPr sz="950" b="1">
                <a:solidFill>
                  <a:srgbClr val="E97D37"/>
                </a:solidFill>
                <a:latin typeface="Aptos"/>
              </a:rPr>
              <a:t>S4</a:t>
            </a:r>
          </a:p>
        </p:txBody>
      </p:sp>
      <p:sp>
        <p:nvSpPr>
          <p:cNvPr id="45" name="TextBox 44"/>
          <p:cNvSpPr txBox="1"/>
          <p:nvPr/>
        </p:nvSpPr>
        <p:spPr>
          <a:xfrm>
            <a:off x="5440680" y="2734056"/>
            <a:ext cx="3063240" cy="201168"/>
          </a:xfrm>
          <a:prstGeom prst="rect">
            <a:avLst/>
          </a:prstGeom>
          <a:noFill/>
        </p:spPr>
        <p:txBody>
          <a:bodyPr wrap="square">
            <a:normAutofit/>
          </a:bodyPr>
          <a:lstStyle/>
          <a:p>
            <a:pPr algn="l"/>
            <a:r>
              <a:rPr sz="919" b="0">
                <a:solidFill>
                  <a:srgbClr val="16222E"/>
                </a:solidFill>
                <a:latin typeface="Aptos"/>
              </a:rPr>
              <a:t>Escalade et traçabilité des alertes</a:t>
            </a:r>
          </a:p>
        </p:txBody>
      </p:sp>
      <p:sp>
        <p:nvSpPr>
          <p:cNvPr id="46" name="TextBox 45"/>
          <p:cNvSpPr txBox="1"/>
          <p:nvPr/>
        </p:nvSpPr>
        <p:spPr>
          <a:xfrm>
            <a:off x="8458200" y="2734056"/>
            <a:ext cx="182880" cy="201168"/>
          </a:xfrm>
          <a:prstGeom prst="rect">
            <a:avLst/>
          </a:prstGeom>
          <a:noFill/>
        </p:spPr>
        <p:txBody>
          <a:bodyPr wrap="square">
            <a:normAutofit/>
          </a:bodyPr>
          <a:lstStyle/>
          <a:p>
            <a:pPr algn="r"/>
            <a:r>
              <a:rPr sz="1000" b="1">
                <a:solidFill>
                  <a:srgbClr val="0FA569"/>
                </a:solidFill>
                <a:latin typeface="Aptos"/>
              </a:rPr>
              <a:t>✓</a:t>
            </a:r>
          </a:p>
        </p:txBody>
      </p:sp>
      <p:sp>
        <p:nvSpPr>
          <p:cNvPr id="47" name="TextBox 46"/>
          <p:cNvSpPr txBox="1"/>
          <p:nvPr/>
        </p:nvSpPr>
        <p:spPr>
          <a:xfrm>
            <a:off x="4864608" y="3127248"/>
            <a:ext cx="530352" cy="201168"/>
          </a:xfrm>
          <a:prstGeom prst="rect">
            <a:avLst/>
          </a:prstGeom>
          <a:noFill/>
        </p:spPr>
        <p:txBody>
          <a:bodyPr wrap="square">
            <a:normAutofit/>
          </a:bodyPr>
          <a:lstStyle/>
          <a:p>
            <a:pPr algn="l"/>
            <a:r>
              <a:rPr sz="950" b="1">
                <a:solidFill>
                  <a:srgbClr val="E97D37"/>
                </a:solidFill>
                <a:latin typeface="Aptos"/>
              </a:rPr>
              <a:t>S5</a:t>
            </a:r>
          </a:p>
        </p:txBody>
      </p:sp>
      <p:sp>
        <p:nvSpPr>
          <p:cNvPr id="48" name="TextBox 47"/>
          <p:cNvSpPr txBox="1"/>
          <p:nvPr/>
        </p:nvSpPr>
        <p:spPr>
          <a:xfrm>
            <a:off x="5440680" y="3127248"/>
            <a:ext cx="3063240" cy="201168"/>
          </a:xfrm>
          <a:prstGeom prst="rect">
            <a:avLst/>
          </a:prstGeom>
          <a:noFill/>
        </p:spPr>
        <p:txBody>
          <a:bodyPr wrap="square">
            <a:normAutofit/>
          </a:bodyPr>
          <a:lstStyle/>
          <a:p>
            <a:pPr algn="l"/>
            <a:r>
              <a:rPr sz="919" b="0">
                <a:solidFill>
                  <a:srgbClr val="16222E"/>
                </a:solidFill>
                <a:latin typeface="Aptos"/>
              </a:rPr>
              <a:t>Soignant assigné + notifications ciblées</a:t>
            </a:r>
          </a:p>
        </p:txBody>
      </p:sp>
      <p:sp>
        <p:nvSpPr>
          <p:cNvPr id="49" name="TextBox 48"/>
          <p:cNvSpPr txBox="1"/>
          <p:nvPr/>
        </p:nvSpPr>
        <p:spPr>
          <a:xfrm>
            <a:off x="8458200" y="3127248"/>
            <a:ext cx="182880" cy="201168"/>
          </a:xfrm>
          <a:prstGeom prst="rect">
            <a:avLst/>
          </a:prstGeom>
          <a:noFill/>
        </p:spPr>
        <p:txBody>
          <a:bodyPr wrap="square">
            <a:normAutofit/>
          </a:bodyPr>
          <a:lstStyle/>
          <a:p>
            <a:pPr algn="r"/>
            <a:r>
              <a:rPr sz="1000" b="1">
                <a:solidFill>
                  <a:srgbClr val="0FA569"/>
                </a:solidFill>
                <a:latin typeface="Aptos"/>
              </a:rPr>
              <a:t>✓</a:t>
            </a:r>
          </a:p>
        </p:txBody>
      </p:sp>
      <p:sp>
        <p:nvSpPr>
          <p:cNvPr id="50" name="TextBox 49"/>
          <p:cNvSpPr txBox="1"/>
          <p:nvPr/>
        </p:nvSpPr>
        <p:spPr>
          <a:xfrm>
            <a:off x="4864608" y="3520440"/>
            <a:ext cx="530352" cy="201168"/>
          </a:xfrm>
          <a:prstGeom prst="rect">
            <a:avLst/>
          </a:prstGeom>
          <a:noFill/>
        </p:spPr>
        <p:txBody>
          <a:bodyPr wrap="square">
            <a:normAutofit/>
          </a:bodyPr>
          <a:lstStyle/>
          <a:p>
            <a:pPr algn="l"/>
            <a:r>
              <a:rPr sz="950" b="1">
                <a:solidFill>
                  <a:srgbClr val="E97D37"/>
                </a:solidFill>
                <a:latin typeface="Aptos"/>
              </a:rPr>
              <a:t>C2/C3</a:t>
            </a:r>
          </a:p>
        </p:txBody>
      </p:sp>
      <p:sp>
        <p:nvSpPr>
          <p:cNvPr id="51" name="TextBox 50"/>
          <p:cNvSpPr txBox="1"/>
          <p:nvPr/>
        </p:nvSpPr>
        <p:spPr>
          <a:xfrm>
            <a:off x="5440680" y="3520440"/>
            <a:ext cx="3063240" cy="201168"/>
          </a:xfrm>
          <a:prstGeom prst="rect">
            <a:avLst/>
          </a:prstGeom>
          <a:noFill/>
        </p:spPr>
        <p:txBody>
          <a:bodyPr wrap="square">
            <a:normAutofit/>
          </a:bodyPr>
          <a:lstStyle/>
          <a:p>
            <a:pPr algn="l"/>
            <a:r>
              <a:rPr sz="919" b="0">
                <a:solidFill>
                  <a:srgbClr val="16222E"/>
                </a:solidFill>
                <a:latin typeface="Aptos"/>
              </a:rPr>
              <a:t>Rapport LLM quotidien + portail famille RGPD</a:t>
            </a:r>
          </a:p>
        </p:txBody>
      </p:sp>
      <p:sp>
        <p:nvSpPr>
          <p:cNvPr id="52" name="TextBox 51"/>
          <p:cNvSpPr txBox="1"/>
          <p:nvPr/>
        </p:nvSpPr>
        <p:spPr>
          <a:xfrm>
            <a:off x="8458200" y="3520440"/>
            <a:ext cx="182880" cy="201168"/>
          </a:xfrm>
          <a:prstGeom prst="rect">
            <a:avLst/>
          </a:prstGeom>
          <a:noFill/>
        </p:spPr>
        <p:txBody>
          <a:bodyPr wrap="square">
            <a:normAutofit/>
          </a:bodyPr>
          <a:lstStyle/>
          <a:p>
            <a:pPr algn="r"/>
            <a:r>
              <a:rPr sz="1000" b="1">
                <a:solidFill>
                  <a:srgbClr val="0FA569"/>
                </a:solidFill>
                <a:latin typeface="Aptos"/>
              </a:rPr>
              <a:t>✓</a:t>
            </a:r>
          </a:p>
        </p:txBody>
      </p:sp>
      <p:sp>
        <p:nvSpPr>
          <p:cNvPr id="53" name="TextBox 52"/>
          <p:cNvSpPr txBox="1"/>
          <p:nvPr/>
        </p:nvSpPr>
        <p:spPr>
          <a:xfrm>
            <a:off x="4864608" y="3913632"/>
            <a:ext cx="530352" cy="201168"/>
          </a:xfrm>
          <a:prstGeom prst="rect">
            <a:avLst/>
          </a:prstGeom>
          <a:noFill/>
        </p:spPr>
        <p:txBody>
          <a:bodyPr wrap="square">
            <a:normAutofit/>
          </a:bodyPr>
          <a:lstStyle/>
          <a:p>
            <a:pPr algn="l"/>
            <a:r>
              <a:rPr sz="950" b="1">
                <a:solidFill>
                  <a:srgbClr val="E97D37"/>
                </a:solidFill>
                <a:latin typeface="Aptos"/>
              </a:rPr>
              <a:t>C1/C4/C5</a:t>
            </a:r>
          </a:p>
        </p:txBody>
      </p:sp>
      <p:sp>
        <p:nvSpPr>
          <p:cNvPr id="54" name="TextBox 53"/>
          <p:cNvSpPr txBox="1"/>
          <p:nvPr/>
        </p:nvSpPr>
        <p:spPr>
          <a:xfrm>
            <a:off x="5440680" y="3913632"/>
            <a:ext cx="3063240" cy="201168"/>
          </a:xfrm>
          <a:prstGeom prst="rect">
            <a:avLst/>
          </a:prstGeom>
          <a:noFill/>
        </p:spPr>
        <p:txBody>
          <a:bodyPr wrap="square">
            <a:normAutofit/>
          </a:bodyPr>
          <a:lstStyle/>
          <a:p>
            <a:pPr algn="l"/>
            <a:r>
              <a:rPr sz="919" b="0">
                <a:solidFill>
                  <a:srgbClr val="16222E"/>
                </a:solidFill>
                <a:latin typeface="Aptos"/>
              </a:rPr>
              <a:t>Fugue, routine, tests automatisés</a:t>
            </a:r>
          </a:p>
        </p:txBody>
      </p:sp>
      <p:sp>
        <p:nvSpPr>
          <p:cNvPr id="55" name="TextBox 54"/>
          <p:cNvSpPr txBox="1"/>
          <p:nvPr/>
        </p:nvSpPr>
        <p:spPr>
          <a:xfrm>
            <a:off x="8458200" y="3913632"/>
            <a:ext cx="182880" cy="201168"/>
          </a:xfrm>
          <a:prstGeom prst="rect">
            <a:avLst/>
          </a:prstGeom>
          <a:noFill/>
        </p:spPr>
        <p:txBody>
          <a:bodyPr wrap="square">
            <a:normAutofit/>
          </a:bodyPr>
          <a:lstStyle/>
          <a:p>
            <a:pPr algn="r"/>
            <a:r>
              <a:rPr sz="1000" b="1">
                <a:solidFill>
                  <a:srgbClr val="0FA569"/>
                </a:solidFill>
                <a:latin typeface="Aptos"/>
              </a:rPr>
              <a:t>✓</a:t>
            </a:r>
          </a:p>
        </p:txBody>
      </p:sp>
      <p:sp>
        <p:nvSpPr>
          <p:cNvPr id="56" name="Rectangle 55"/>
          <p:cNvSpPr/>
          <p:nvPr/>
        </p:nvSpPr>
        <p:spPr>
          <a:xfrm>
            <a:off x="320040" y="4736592"/>
            <a:ext cx="8503920" cy="228600"/>
          </a:xfrm>
          <a:prstGeom prst="rect">
            <a:avLst/>
          </a:prstGeom>
          <a:solidFill>
            <a:srgbClr val="EB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75488" y="4773168"/>
            <a:ext cx="8183879" cy="155448"/>
          </a:xfrm>
          <a:prstGeom prst="rect">
            <a:avLst/>
          </a:prstGeom>
          <a:noFill/>
        </p:spPr>
        <p:txBody>
          <a:bodyPr wrap="square">
            <a:normAutofit/>
          </a:bodyPr>
          <a:lstStyle/>
          <a:p>
            <a:pPr algn="l"/>
            <a:r>
              <a:rPr sz="869" b="0">
                <a:solidFill>
                  <a:srgbClr val="00747E"/>
                </a:solidFill>
                <a:latin typeface="Aptos"/>
              </a:rPr>
              <a:t>Point d’attention à dire à l’oral : démo locale sécurisée par comptes/ACL ; TLS MQTT 8883 est une évolution production, pas activée dans le Compose actuel.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3005</Words>
  <Application>Microsoft Office PowerPoint</Application>
  <PresentationFormat>Affichage à l'écran (16:9)</PresentationFormat>
  <Paragraphs>413</Paragraphs>
  <Slides>15</Slides>
  <Notes>14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EHPAD Monitor — Solution IA &amp; IoT</dc:title>
  <dc:subject>PptxGenJS Presentation</dc:subject>
  <dc:creator>Le Bret Yves · Le Mignon Aude · Addichane Sofia</dc:creator>
  <cp:lastModifiedBy>yv le bret</cp:lastModifiedBy>
  <cp:revision>3</cp:revision>
  <dcterms:created xsi:type="dcterms:W3CDTF">2026-04-29T14:34:30Z</dcterms:created>
  <dcterms:modified xsi:type="dcterms:W3CDTF">2026-04-30T13:42:52Z</dcterms:modified>
</cp:coreProperties>
</file>